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28"/>
  </p:notesMasterIdLst>
  <p:sldIdLst>
    <p:sldId id="281" r:id="rId2"/>
    <p:sldId id="286" r:id="rId3"/>
    <p:sldId id="292" r:id="rId4"/>
    <p:sldId id="294" r:id="rId5"/>
    <p:sldId id="295" r:id="rId6"/>
    <p:sldId id="310" r:id="rId7"/>
    <p:sldId id="311" r:id="rId8"/>
    <p:sldId id="297" r:id="rId9"/>
    <p:sldId id="258" r:id="rId10"/>
    <p:sldId id="300" r:id="rId11"/>
    <p:sldId id="298" r:id="rId12"/>
    <p:sldId id="304" r:id="rId13"/>
    <p:sldId id="303" r:id="rId14"/>
    <p:sldId id="302" r:id="rId15"/>
    <p:sldId id="305" r:id="rId16"/>
    <p:sldId id="279" r:id="rId17"/>
    <p:sldId id="306" r:id="rId18"/>
    <p:sldId id="259" r:id="rId19"/>
    <p:sldId id="267" r:id="rId20"/>
    <p:sldId id="266" r:id="rId21"/>
    <p:sldId id="280" r:id="rId22"/>
    <p:sldId id="291" r:id="rId23"/>
    <p:sldId id="309" r:id="rId24"/>
    <p:sldId id="307" r:id="rId25"/>
    <p:sldId id="262" r:id="rId26"/>
    <p:sldId id="263"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5943"/>
    <a:srgbClr val="F553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495DA9-75C6-A9AE-B95F-431D72549870}" v="235" dt="2026-05-02T21:17:26.56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113A9D2-9D6B-4929-AA2D-F23B5EE8CBE7}" styleName="Style à thème 2 - Accentuation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Style léger 2 - Accentuatio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27F97BB-C833-4FB7-BDE5-3F7075034690}" styleName="Style à thème 2 - Accentuation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269D01E-BC32-4049-B463-5C60D7B0CCD2}" styleName="Style à thème 2 - Accentuation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4T19:20:47.786"/>
    </inkml:context>
    <inkml:brush xml:id="br0">
      <inkml:brushProperty name="width" value="0.1" units="cm"/>
      <inkml:brushProperty name="height" value="0.1" units="cm"/>
    </inkml:brush>
  </inkml:definitions>
  <inkml:trace contextRef="#ctx0" brushRef="#br0">4507 5380 16383 0 0,'0'0'0'0'0,"8"0"0"0"0,12 0 0 0 0,3 0 0 0 0,5 0 0 0 0,2 0 0 0 0,6 0 0 0 0,4 0 0 0 0,-5 0 0 0 0,-3 0 0 0 0,1 0 0 0 0,4 0 0 0 0,-5 0 0 0 0,1 0 0 0 0,-1 0 0 0 0,3 0 0 0 0,3 0 0 0 0,1 0 0 0 0,1 0 0 0 0,3 0 0 0 0,-2 0 0 0 0,1 0 0 0 0,2 0 0 0 0,-7 0 0 0 0,-1 0 0 0 0,-2 0 0 0 0,2 0 0 0 0,2 0 0 0 0,1 0 0 0 0,1 0 0 0 0,2 0 0 0 0,3 0 0 0 0,-1 0 0 0 0,-1 0 0 0 0,2 0 0 0 0,-3 0 0 0 0,0 0 0 0 0,1 0 0 0 0,-2 0 0 0 0,1 0 0 0 0,1 0 0 0 0,2 0 0 0 0,-2 0 0 0 0,0 0 0 0 0,2 0 0 0 0,-4 0 0 0 0,1 0 0 0 0,2 0 0 0 0,1 0 0 0 0,-2 0 0 0 0,0 0 0 0 0,1 0 0 0 0,-2 0 0 0 0,0 0 0 0 0,1 0 0 0 0,-2 0 0 0 0,1 0 0 0 0,1 0 0 0 0,2 0 0 0 0,-2 0 0 0 0,0 0 0 0 0,1 0 0 0 0,-2 0 0 0 0,0 0 0 0 0,1 0 0 0 0,3 0 0 0 0,-3 0 0 0 0,0 0 0 0 0,1 0 0 0 0,-2 0 0 0 0,-1 0 0 0 0,3 0 0 0 0,1 0 0 0 0,-2 0 0 0 0,9 0 0 0 0,3 0 0 0 0,6 0 0 0 0,10 0 0 0 0,9 0 0 0 0,9 0 0 0 0,6 0 0 0 0,0 0 0 0 0,1 0 0 0 0,-8 0 0 0 0,-1 0 0 0 0,-11 0 0 0 0,-10 0 0 0 0,-8 0 0 0 0,-9 0 0 0 0,-5 0 0 0 0,-1 0 0 0 0,-3 0 0 0 0,8 0 0 0 0,13 0 0 0 0,5 0 0 0 0,-4 0 0 0 0,-5 0 0 0 0,-3 0 0 0 0,-6 0 0 0 0,-3 0 0 0 0,-1 0 0 0 0,1 0 0 0 0,-3 0 0 0 0,9 0 0 0 0,4 0 0 0 0,5 0 0 0 0,10 0 0 0 0,2 0 0 0 0,-3 0 0 0 0,-9 0 0 0 0,-6 0 0 0 0,-4 0 0 0 0,-6 0 0 0 0,-2 0 0 0 0,1 0 0 0 0,1 0 0 0 0,-2 0 0 0 0,0 0 0 0 0,1 0 0 0 0,-2 0 0 0 0,1 0 0 0 0,1 0 0 0 0,2 0 0 0 0,-2 0 0 0 0,0 0 0 0 0,2 0 0 0 0,-4 0 0 0 0,1 0 0 0 0,2 0 0 0 0,-3 0 0 0 0,0 0 0 0 0,3 0 0 0 0,1 0 0 0 0,-2 0 0 0 0,0 0 0 0 0,1 0 0 0 0,-2 0 0 0 0,0 0 0 0 0,1 0 0 0 0,2 0 0 0 0,-2 0 0 0 0,0 0 0 0 0,2 0 0 0 0,-4 0 0 0 0,1 0 0 0 0,2 0 0 0 0,1 0 0 0 0,-2 0 0 0 0,0 0 0 0 0,-8 0 0 0 0,0 0 0 0 0,-3 0 0 0 0,3 0 0 0 0,3 0 0 0 0,0 0 0 0 0,1 0 0 0 0,4 0 0 0 0,2 0 0 0 0,-2 0 0 0 0,1 0 0 0 0,1 0 0 0 0,-3 0 0 0 0,0 0 0 0 0,-7 0 0 0 0,-10 0 0 0 0,0 0 0 0 0,4 0 0 0 0,-3 0 0 0 0,-1 0 0 0 0,3 0 0 0 0,-3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4T19:20:47.787"/>
    </inkml:context>
    <inkml:brush xml:id="br0">
      <inkml:brushProperty name="width" value="0.1" units="cm"/>
      <inkml:brushProperty name="height" value="0.1" units="cm"/>
    </inkml:brush>
  </inkml:definitions>
  <inkml:trace contextRef="#ctx0" brushRef="#br0">11245 5380 16383 0 0,'8'0'0'0'0,"12"0"0"0"0,7 0 0 0 0,7 0 0 0 0,6 0 0 0 0,1 0 0 0 0,2 0 0 0 0,2 0 0 0 0,-2 0 0 0 0,0 0 0 0 0,2 0 0 0 0,1 0 0 0 0,-3 0 0 0 0,0 0 0 0 0,-7 0 0 0 0,-2 0 0 0 0,-1 0 0 0 0,1 0 0 0 0,4 0 0 0 0,4 0 0 0 0,-1 0 0 0 0,2 0 0 0 0,1 0 0 0 0,6 0 0 0 0,4 0 0 0 0,9 0 0 0 0,7 0 0 0 0,9 0 0 0 0,8 0 0 0 0,6 0 0 0 0,5 0 0 0 0,-6 0 0 0 0,-6 0 0 0 0,4 0 0 0 0,-9 0 0 0 0,-9 0 0 0 0,-9 0 0 0 0,-11 0 0 0 0,-14 0 0 0 0,-5 0 0 0 0,0 0 0 0 0,0 0 0 0 0,2 0 0 0 0,3 0 0 0 0,5 0 0 0 0,-1 0 0 0 0,0 0 0 0 0,3 0 0 0 0,-3 0 0 0 0,0 0 0 0 0,-11 0 0 0 0,-11 0 0 0 0,-5 0 0 0 0,4 0 0 0 0,8 0 0 0 0,2 0 0 0 0,6 0 0 0 0,-3 0 0 0 0,1 0 0 0 0,-1 0 0 0 0,12 0 0 0 0,7 0 0 0 0,-1 0 0 0 0,-1 0 0 0 0,0 0 0 0 0,1 0 0 0 0,-5 0 0 0 0,-1 0 0 0 0,1 0 0 0 0,-3 0 0 0 0,-1 0 0 0 0,2 0 0 0 0,-2 0 0 0 0,0 0 0 0 0,3 0 0 0 0,1 0 0 0 0,-2 0 0 0 0,0 0 0 0 0,1 0 0 0 0,-2 0 0 0 0,-1 0 0 0 0,3 0 0 0 0,1 0 0 0 0,-2 0 0 0 0,0 0 0 0 0,1 0 0 0 0,-2 0 0 0 0,0 0 0 0 0,1 0 0 0 0,-2 0 0 0 0,9 0 0 0 0,5 0 0 0 0,1 0 0 0 0,-4 0 0 0 0,-3 0 0 0 0,8 0 0 0 0,-2 0 0 0 0,-1 0 0 0 0,6 0 0 0 0,12 0 0 0 0,9 0 0 0 0,5 0 0 0 0,4 0 0 0 0,4 0 0 0 0,-5 0 0 0 0,8 0 0 0 0,0 0 0 0 0,1 0 0 0 0,1 0 0 0 0,0 0 0 0 0,-7 0 0 0 0,-7 0 0 0 0,-9 0 0 0 0,-10 0 0 0 0,-6 0 0 0 0,-10 0 0 0 0,-5 0 0 0 0,-1 0 0 0 0,-4 0 0 0 0,0 0 0 0 0,2 0 0 0 0,1 0 0 0 0,-1 0 0 0 0,1 0 0 0 0,1 0 0 0 0,-3 0 0 0 0,1 0 0 0 0,1 0 0 0 0,-1 0 0 0 0,-9 0 0 0 0,-10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4T19:20:47.811"/>
    </inkml:context>
    <inkml:brush xml:id="br0">
      <inkml:brushProperty name="width" value="0.1" units="cm"/>
      <inkml:brushProperty name="height" value="0.1" units="cm"/>
    </inkml:brush>
  </inkml:definitions>
  <inkml:trace contextRef="#ctx0" brushRef="#br0">2955 3131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97365AB-EC2D-4FEE-879C-880A5BFE08A3}" type="datetimeFigureOut">
              <a:t>02/05/2026</a:t>
            </a:fld>
            <a:endParaRPr lang="fr-FR"/>
          </a:p>
        </p:txBody>
      </p:sp>
      <p:sp>
        <p:nvSpPr>
          <p:cNvPr id="4" name="Espace réservé de l'image des diapositives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549AA54F-2646-434D-9921-1FB2431902DD}" type="slidenum">
              <a:t>‹N°›</a:t>
            </a:fld>
            <a:endParaRPr lang="fr-FR"/>
          </a:p>
        </p:txBody>
      </p:sp>
    </p:spTree>
    <p:extLst>
      <p:ext uri="{BB962C8B-B14F-4D97-AF65-F5344CB8AC3E}">
        <p14:creationId xmlns:p14="http://schemas.microsoft.com/office/powerpoint/2010/main" val="1237311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SCRIPT ORAL — Slide 4 : E-commerce WooCommerce (2 min 30)
Le premier grand cas d'usage en entreprise, c'est l'e-commerce avec WooCommerce.
29% des boutiques en ligne mondiales tournent sous WooCommerce. C'est le plugin e-commerce le plus utilisé au monde, et il est gratuit.
Techniquement, WooCommerce est un plugin qui s'accroche au système de hooks de WordPress. Il crée de nouveaux Custom Post Types dans la base de données : "product" pour les produits, "shop_order" pour les commandes, "shop_coupon" pour les coupons. Il ajoute aussi ses propres tables MySQL pour les stocks et les statistiques.
Quand un client passe une commande, le flux est le suivant : il visite la boutique, ajoute au panier — stocké en session PHP — va au checkout, paye via Stripe ou PayPal, la commande est créée dans wp_posts avec post_type="shop_order", un email de confirmation est envoyé automatiquement, et l'admin peut la traiter depuis le tableau de bord.
Les avantages : gratuit, SEO natif, multilingue avec WPML, extensible à l'infini.
Les limites : avec un grand catalogue, les performances se dégradent car PHP+MySQL est sollicité à chaque requête. La solution est la mise en cache. Pour les très grandes boutiques, Shopify ou une architecture sur mesure sera préférable.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8B53E-B179-391C-FFED-325FDA9D0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E67E1-27B6-4506-B973-CDD57CC36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4A3CE-DB90-B97D-E401-570F77D47CF9}"/>
              </a:ext>
            </a:extLst>
          </p:cNvPr>
          <p:cNvSpPr>
            <a:spLocks noGrp="1"/>
          </p:cNvSpPr>
          <p:nvPr>
            <p:ph type="body" idx="1"/>
          </p:nvPr>
        </p:nvSpPr>
        <p:spPr/>
        <p:txBody>
          <a:bodyPr/>
          <a:lstStyle/>
          <a:p>
            <a:r>
              <a:rPr lang="en-US"/>
              <a:t>SCRIPT ORAL — Slide 4 : E-commerce WooCommerce (2 min 30)
Le premier grand cas d'usage en entreprise, c'est l'e-commerce avec WooCommerce.
29% des boutiques en ligne mondiales tournent sous WooCommerce. C'est le plugin e-commerce le plus utilisé au monde, et il est gratuit.
Techniquement, WooCommerce est un plugin qui s'accroche au système de hooks de WordPress. Il crée de nouveaux Custom Post Types dans la base de données : "product" pour les produits, "shop_order" pour les commandes, "shop_coupon" pour les coupons. Il ajoute aussi ses propres tables MySQL pour les stocks et les statistiques.
Quand un client passe une commande, le flux est le suivant : il visite la boutique, ajoute au panier — stocké en session PHP — va au checkout, paye via Stripe ou PayPal, la commande est créée dans wp_posts avec post_type="shop_order", un email de confirmation est envoyé automatiquement, et l'admin peut la traiter depuis le tableau de bord.
Les avantages : gratuit, SEO natif, multilingue avec WPML, extensible à l'infini.
Les limites : avec un grand catalogue, les performances se dégradent car PHP+MySQL est sollicité à chaque requête. La solution est la mise en cache. Pour les très grandes boutiques, Shopify ou une architecture sur mesure sera préférable.</a:t>
            </a:r>
          </a:p>
        </p:txBody>
      </p:sp>
      <p:sp>
        <p:nvSpPr>
          <p:cNvPr id="4" name="Slide Number Placeholder 3">
            <a:extLst>
              <a:ext uri="{FF2B5EF4-FFF2-40B4-BE49-F238E27FC236}">
                <a16:creationId xmlns:a16="http://schemas.microsoft.com/office/drawing/2014/main" id="{22E7CE32-ADCC-997E-EAED-E51E13E0861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41893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C55C-420C-66AB-EEBD-C0B3BB176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BFB52-0F72-DE40-F601-1C0CE8A3F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797F6-706E-3EE9-FE7A-C679A64C0366}"/>
              </a:ext>
            </a:extLst>
          </p:cNvPr>
          <p:cNvSpPr>
            <a:spLocks noGrp="1"/>
          </p:cNvSpPr>
          <p:nvPr>
            <p:ph type="body" idx="1"/>
          </p:nvPr>
        </p:nvSpPr>
        <p:spPr/>
        <p:txBody>
          <a:bodyPr/>
          <a:lstStyle/>
          <a:p>
            <a:r>
              <a:rPr lang="en-US"/>
              <a:t>SCRIPT ORAL — Slide 4 : E-commerce WooCommerce (2 min 30)
Le premier grand cas d'usage en entreprise, c'est l'e-commerce avec WooCommerce.
29% des boutiques en ligne mondiales tournent sous WooCommerce. C'est le plugin e-commerce le plus utilisé au monde, et il est gratuit.
Techniquement, WooCommerce est un plugin qui s'accroche au système de hooks de WordPress. Il crée de nouveaux Custom Post Types dans la base de données : "product" pour les produits, "shop_order" pour les commandes, "shop_coupon" pour les coupons. Il ajoute aussi ses propres tables MySQL pour les stocks et les statistiques.
Quand un client passe une commande, le flux est le suivant : il visite la boutique, ajoute au panier — stocké en session PHP — va au checkout, paye via Stripe ou PayPal, la commande est créée dans wp_posts avec post_type="shop_order", un email de confirmation est envoyé automatiquement, et l'admin peut la traiter depuis le tableau de bord.
Les avantages : gratuit, SEO natif, multilingue avec WPML, extensible à l'infini.
Les limites : avec un grand catalogue, les performances se dégradent car PHP+MySQL est sollicité à chaque requête. La solution est la mise en cache. Pour les très grandes boutiques, Shopify ou une architecture sur mesure sera préférable.</a:t>
            </a:r>
          </a:p>
        </p:txBody>
      </p:sp>
      <p:sp>
        <p:nvSpPr>
          <p:cNvPr id="4" name="Slide Number Placeholder 3">
            <a:extLst>
              <a:ext uri="{FF2B5EF4-FFF2-40B4-BE49-F238E27FC236}">
                <a16:creationId xmlns:a16="http://schemas.microsoft.com/office/drawing/2014/main" id="{76B68D1C-A5D1-7716-7464-69F6E512BCD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8391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SCRIPT ORAL — Slide 7 : Intégration IA (2 min)
La deuxième grande tendance est l'intégration de l'intelligence artificielle dans WordPress.
Il y a quatre domaines principaux.
Premier domaine : la génération de contenu. Des plugins comme AI Power intègrent directement GPT-4 dans l'éditeur WordPress Gutenberg. Sans quitter le tableau de bord, un rédacteur peut générer un article complet, ses méta-descriptions SEO, son titre optimisé, sa traduction — en quelques secondes.
Deuxième domaine : le SEO automatisé. Yoast SEO, le plugin le plus installé au monde avec 5 millions d'installations, utilise maintenant l'IA pour analyser la sémantique du contenu, suggérer des mots-clés liés, et générer automatiquement les balises méta selon les standards actuels de Google.
Troisième domaine : les chatbots intelligents. Des plugins connectent GPT directement au contenu du site. Le chatbot apprend du contenu WordPress existant pour répondre avec précision aux questions des visiteurs — 24 heures sur 24, sans intervention humaine.
Quatrième domaine : la personnalisation. L'IA analyse le comportement de chaque visiteur et adapte le contenu en temps réel. C'est exactement le principe que Netflix et Amazon utilisent — appliqué à WordPress.
Et le point le plus important à retenir : l'IA ne remplace pas WordPress. Elle s'y intègre via le même système de plugins, en suivant exactement la même architecture de hooks qu'un plugin classique. WordPress a 20 ans et absorbe cette révolution sans changer d'architecture.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SCRIPT ORAL — Slide 8 : Conclusion (1 min 30)
Permettez-moi de résumer les quatre points essentiels de cette présentation.
Premier point : WordPress n'est pas un simple outil de blogging. Avec 43% du web mondial, il est une plateforme complète qui couvre l'e-commerce, l'intranet, la formation en ligne et la gestion documentaire. Sa stack PHP+MySQL et son système de hooks en font une solution robuste à l'échelle industrielle.
Deuxième point : sa force réside dans la séparation du contenu et de la présentation. Le contenu vit en base de données, la présentation dans le thème. C'est un principe proche du MVC que vous connaissez — et c'est ce qui explique sa longévité.
Troisième point : le CMS Headless est la tendance dominante. WordPress évolue vers un back-end pur via son API REST, couplé à des frameworks JavaScript modernes comme Next.js. Cette architecture offre des performances et une flexibilité que le WordPress traditionnel ne peut pas atteindre.
Quatrième point : l'IA ne remplace pas WordPress, elle s'y intègre sans rupture architecturale, via le même système de plugins existant depuis 20 ans.
Pour conclure avec cette phrase : WordPress prouve qu'une architecture technique solide — basée sur la séparation des responsabilités et l'extensibilité — peut traverser 20 ans d'évolution technologique en restant pertinente. Du simple blog à l'intelligence artificielle, WordPress s'est adapté sans jamais trahir ses principes fondateurs.
Je suis maintenant disponible pour vos questions. Merci.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10667"/>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4267"/>
            </a:lvl1pPr>
            <a:lvl2pPr marL="812810" indent="0" algn="ctr">
              <a:buNone/>
              <a:defRPr sz="3556"/>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3269830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2929786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10667"/>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4267">
                <a:solidFill>
                  <a:schemeClr val="tx1">
                    <a:tint val="75000"/>
                  </a:schemeClr>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238757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3530779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4267" b="1"/>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4267" b="1"/>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761204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17544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4194686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5689"/>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5689"/>
            </a:lvl1pPr>
            <a:lvl2pPr>
              <a:defRPr sz="4978"/>
            </a:lvl2pPr>
            <a:lvl3pPr>
              <a:defRPr sz="4267"/>
            </a:lvl3pPr>
            <a:lvl4pPr>
              <a:defRPr sz="3556"/>
            </a:lvl4pPr>
            <a:lvl5pPr>
              <a:defRPr sz="3556"/>
            </a:lvl5pPr>
            <a:lvl6pPr>
              <a:defRPr sz="3556"/>
            </a:lvl6pPr>
            <a:lvl7pPr>
              <a:defRPr sz="3556"/>
            </a:lvl7pPr>
            <a:lvl8pPr>
              <a:defRPr sz="3556"/>
            </a:lvl8pPr>
            <a:lvl9pPr>
              <a:defRPr sz="35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53043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5689"/>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700018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4100835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376744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8646737" y="205157"/>
            <a:ext cx="346436" cy="2757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
        <p:nvSpPr>
          <p:cNvPr id="5" name="Rectangle 4"/>
          <p:cNvSpPr/>
          <p:nvPr userDrawn="1"/>
        </p:nvSpPr>
        <p:spPr>
          <a:xfrm>
            <a:off x="8646737" y="480892"/>
            <a:ext cx="346436" cy="342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
        <p:nvSpPr>
          <p:cNvPr id="7" name="TextBox 6"/>
          <p:cNvSpPr txBox="1"/>
          <p:nvPr userDrawn="1"/>
        </p:nvSpPr>
        <p:spPr>
          <a:xfrm>
            <a:off x="8670154" y="228849"/>
            <a:ext cx="299601" cy="577081"/>
          </a:xfrm>
          <a:prstGeom prst="rect">
            <a:avLst/>
          </a:prstGeom>
          <a:noFill/>
        </p:spPr>
        <p:txBody>
          <a:bodyPr wrap="square" rtlCol="0">
            <a:spAutoFit/>
          </a:bodyPr>
          <a:lstStyle/>
          <a:p>
            <a:pPr algn="ctr"/>
            <a:fld id="{260E2A6B-A809-4840-BF14-8648BC0BDF87}" type="slidenum">
              <a:rPr lang="id-ID" sz="1050" b="1" smtClean="0">
                <a:solidFill>
                  <a:schemeClr val="bg1"/>
                </a:solidFill>
              </a:rPr>
              <a:pPr algn="ctr"/>
              <a:t>‹N°›</a:t>
            </a:fld>
            <a:endParaRPr lang="id-ID" sz="1050">
              <a:solidFill>
                <a:schemeClr val="bg1"/>
              </a:solidFill>
            </a:endParaRPr>
          </a:p>
        </p:txBody>
      </p:sp>
      <p:grpSp>
        <p:nvGrpSpPr>
          <p:cNvPr id="6" name="Group 5"/>
          <p:cNvGrpSpPr/>
          <p:nvPr userDrawn="1"/>
        </p:nvGrpSpPr>
        <p:grpSpPr>
          <a:xfrm>
            <a:off x="260564" y="4806993"/>
            <a:ext cx="168062" cy="165867"/>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sz="1350"/>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sz="1350"/>
            </a:p>
          </p:txBody>
        </p:sp>
      </p:grpSp>
      <p:grpSp>
        <p:nvGrpSpPr>
          <p:cNvPr id="10" name="Group 9"/>
          <p:cNvGrpSpPr/>
          <p:nvPr userDrawn="1"/>
        </p:nvGrpSpPr>
        <p:grpSpPr>
          <a:xfrm flipH="1">
            <a:off x="700282" y="4806993"/>
            <a:ext cx="168062" cy="165867"/>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sz="1350"/>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sz="1350"/>
            </a:p>
          </p:txBody>
        </p:sp>
      </p:grpSp>
      <p:cxnSp>
        <p:nvCxnSpPr>
          <p:cNvPr id="4" name="Straight Connector 3"/>
          <p:cNvCxnSpPr/>
          <p:nvPr userDrawn="1"/>
        </p:nvCxnSpPr>
        <p:spPr>
          <a:xfrm>
            <a:off x="414532" y="4892013"/>
            <a:ext cx="28575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2389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598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2133">
                <a:solidFill>
                  <a:schemeClr val="tx1">
                    <a:tint val="75000"/>
                  </a:schemeClr>
                </a:solidFill>
              </a:defRPr>
            </a:lvl1pPr>
          </a:lstStyle>
          <a:p>
            <a:fld id="{C764DE79-268F-4C1A-8933-263129D2AF90}" type="datetimeFigureOut">
              <a:rPr lang="en-US" dirty="0"/>
              <a:t>5/2/2026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213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2133">
                <a:solidFill>
                  <a:schemeClr val="tx1">
                    <a:tint val="75000"/>
                  </a:schemeClr>
                </a:solidFill>
              </a:defRPr>
            </a:lvl1pPr>
          </a:lstStyle>
          <a:p>
            <a:fld id="{48F63A3B-78C7-47BE-AE5E-E10140E04643}" type="slidenum">
              <a:rPr lang="en-US" dirty="0"/>
              <a:t>‹N°›</a:t>
            </a:fld>
            <a:endParaRPr lang="en-US"/>
          </a:p>
        </p:txBody>
      </p:sp>
    </p:spTree>
    <p:extLst>
      <p:ext uri="{BB962C8B-B14F-4D97-AF65-F5344CB8AC3E}">
        <p14:creationId xmlns:p14="http://schemas.microsoft.com/office/powerpoint/2010/main" val="18540726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19.jpe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D3865701-3C3F-A5AD-5975-EAC68C6E5D61}"/>
              </a:ext>
            </a:extLst>
          </p:cNvPr>
          <p:cNvSpPr/>
          <p:nvPr/>
        </p:nvSpPr>
        <p:spPr>
          <a:xfrm>
            <a:off x="274320" y="1235215"/>
            <a:ext cx="2926080" cy="100584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0" b="1">
                <a:solidFill>
                  <a:srgbClr val="00B0F0"/>
                </a:solidFill>
                <a:latin typeface="Batang"/>
                <a:ea typeface="Batang"/>
                <a:cs typeface="Calibri"/>
              </a:rPr>
              <a:t>CMS</a:t>
            </a:r>
            <a:endParaRPr lang="en-US" sz="8000">
              <a:solidFill>
                <a:srgbClr val="00B0F0"/>
              </a:solidFill>
              <a:latin typeface="Batang"/>
              <a:ea typeface="Batang"/>
              <a:cs typeface="Calibri"/>
            </a:endParaRPr>
          </a:p>
        </p:txBody>
      </p:sp>
      <p:sp>
        <p:nvSpPr>
          <p:cNvPr id="3" name="Text 3">
            <a:extLst>
              <a:ext uri="{FF2B5EF4-FFF2-40B4-BE49-F238E27FC236}">
                <a16:creationId xmlns:a16="http://schemas.microsoft.com/office/drawing/2014/main" id="{80029E6A-6E9C-4592-6FFD-02E1154C7996}"/>
              </a:ext>
            </a:extLst>
          </p:cNvPr>
          <p:cNvSpPr/>
          <p:nvPr/>
        </p:nvSpPr>
        <p:spPr>
          <a:xfrm>
            <a:off x="274320" y="2311572"/>
            <a:ext cx="2926080" cy="7315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i="1">
                <a:solidFill>
                  <a:schemeClr val="tx1">
                    <a:lumMod val="65000"/>
                    <a:lumOff val="35000"/>
                  </a:schemeClr>
                </a:solidFill>
                <a:latin typeface="Calibri"/>
                <a:ea typeface="Calibri"/>
                <a:cs typeface="Calibri"/>
              </a:rPr>
              <a:t>Content Management</a:t>
            </a:r>
            <a:endParaRPr lang="en-US" sz="1300">
              <a:solidFill>
                <a:schemeClr val="tx1">
                  <a:lumMod val="65000"/>
                  <a:lumOff val="35000"/>
                </a:schemeClr>
              </a:solidFill>
              <a:latin typeface="Calibri"/>
              <a:ea typeface="Calibri"/>
              <a:cs typeface="Calibri"/>
            </a:endParaRPr>
          </a:p>
          <a:p>
            <a:pPr marL="0" indent="0" algn="ctr">
              <a:buNone/>
            </a:pPr>
            <a:r>
              <a:rPr lang="en-US" sz="1300" i="1">
                <a:solidFill>
                  <a:schemeClr val="tx1">
                    <a:lumMod val="65000"/>
                    <a:lumOff val="35000"/>
                  </a:schemeClr>
                </a:solidFill>
                <a:latin typeface="Calibri"/>
                <a:ea typeface="Calibri"/>
                <a:cs typeface="Calibri"/>
              </a:rPr>
              <a:t>System</a:t>
            </a:r>
            <a:endParaRPr lang="en-US" sz="1300">
              <a:solidFill>
                <a:schemeClr val="tx1">
                  <a:lumMod val="65000"/>
                  <a:lumOff val="35000"/>
                </a:schemeClr>
              </a:solidFill>
              <a:latin typeface="Calibri"/>
              <a:ea typeface="Calibri"/>
              <a:cs typeface="Calibri"/>
            </a:endParaRPr>
          </a:p>
        </p:txBody>
      </p:sp>
      <p:sp>
        <p:nvSpPr>
          <p:cNvPr id="4" name="Text 5">
            <a:extLst>
              <a:ext uri="{FF2B5EF4-FFF2-40B4-BE49-F238E27FC236}">
                <a16:creationId xmlns:a16="http://schemas.microsoft.com/office/drawing/2014/main" id="{7F7898F6-7916-AB97-D64C-D49FD1A0FBEB}"/>
              </a:ext>
            </a:extLst>
          </p:cNvPr>
          <p:cNvSpPr/>
          <p:nvPr/>
        </p:nvSpPr>
        <p:spPr>
          <a:xfrm>
            <a:off x="-640299" y="3069298"/>
            <a:ext cx="2926080" cy="32004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rgbClr val="8899AA"/>
                </a:solidFill>
                <a:latin typeface="Calibri"/>
                <a:ea typeface="Calibri"/>
                <a:cs typeface="Calibri"/>
              </a:rPr>
              <a:t> </a:t>
            </a:r>
            <a:r>
              <a:rPr lang="en-US" sz="1100">
                <a:solidFill>
                  <a:schemeClr val="tx1">
                    <a:lumMod val="65000"/>
                    <a:lumOff val="35000"/>
                  </a:schemeClr>
                </a:solidFill>
                <a:latin typeface="Calibri"/>
                <a:ea typeface="Calibri"/>
                <a:cs typeface="Calibri"/>
              </a:rPr>
              <a:t>Groupe </a:t>
            </a:r>
            <a:r>
              <a:rPr lang="en-US" sz="1100">
                <a:solidFill>
                  <a:srgbClr val="8899AA"/>
                </a:solidFill>
                <a:latin typeface="Calibri"/>
                <a:ea typeface="Calibri"/>
                <a:cs typeface="Calibri"/>
              </a:rPr>
              <a:t>:</a:t>
            </a:r>
            <a:endParaRPr lang="en-US" sz="1100">
              <a:latin typeface="Calibri"/>
              <a:ea typeface="Calibri"/>
              <a:cs typeface="Calibri"/>
            </a:endParaRPr>
          </a:p>
        </p:txBody>
      </p:sp>
      <p:sp>
        <p:nvSpPr>
          <p:cNvPr id="5" name="Text 6">
            <a:extLst>
              <a:ext uri="{FF2B5EF4-FFF2-40B4-BE49-F238E27FC236}">
                <a16:creationId xmlns:a16="http://schemas.microsoft.com/office/drawing/2014/main" id="{33A63BA2-0BFC-9337-A2F4-C2EDB1E1F662}"/>
              </a:ext>
            </a:extLst>
          </p:cNvPr>
          <p:cNvSpPr/>
          <p:nvPr/>
        </p:nvSpPr>
        <p:spPr>
          <a:xfrm>
            <a:off x="668735" y="3103245"/>
            <a:ext cx="2926080" cy="1183908"/>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solidFill>
                  <a:schemeClr val="tx1">
                    <a:lumMod val="65000"/>
                    <a:lumOff val="35000"/>
                  </a:schemeClr>
                </a:solidFill>
                <a:ea typeface="Calibri"/>
                <a:cs typeface="Calibri"/>
              </a:rPr>
              <a:t>RIABI BOUCHRA</a:t>
            </a:r>
          </a:p>
          <a:p>
            <a:r>
              <a:rPr lang="en-US" sz="1100">
                <a:solidFill>
                  <a:schemeClr val="tx1">
                    <a:lumMod val="65000"/>
                    <a:lumOff val="35000"/>
                  </a:schemeClr>
                </a:solidFill>
                <a:ea typeface="Calibri"/>
                <a:cs typeface="Calibri"/>
              </a:rPr>
              <a:t>ASSAGHIR CHAYMAE </a:t>
            </a:r>
          </a:p>
          <a:p>
            <a:r>
              <a:rPr lang="en-US" sz="1100">
                <a:solidFill>
                  <a:schemeClr val="tx1">
                    <a:lumMod val="65000"/>
                    <a:lumOff val="35000"/>
                  </a:schemeClr>
                </a:solidFill>
                <a:ea typeface="Calibri"/>
                <a:cs typeface="Calibri"/>
              </a:rPr>
              <a:t>MESSAOUDI ISRAE</a:t>
            </a:r>
          </a:p>
          <a:p>
            <a:r>
              <a:rPr lang="en-US" sz="1100">
                <a:solidFill>
                  <a:schemeClr val="tx1">
                    <a:lumMod val="65000"/>
                    <a:lumOff val="35000"/>
                  </a:schemeClr>
                </a:solidFill>
                <a:ea typeface="Calibri"/>
                <a:cs typeface="Calibri"/>
              </a:rPr>
              <a:t>AZDOUD DOUAA</a:t>
            </a:r>
          </a:p>
        </p:txBody>
      </p:sp>
      <p:sp>
        <p:nvSpPr>
          <p:cNvPr id="6" name="Text 7">
            <a:extLst>
              <a:ext uri="{FF2B5EF4-FFF2-40B4-BE49-F238E27FC236}">
                <a16:creationId xmlns:a16="http://schemas.microsoft.com/office/drawing/2014/main" id="{81854E78-D23C-7883-D118-6E5C765E56F4}"/>
              </a:ext>
            </a:extLst>
          </p:cNvPr>
          <p:cNvSpPr/>
          <p:nvPr/>
        </p:nvSpPr>
        <p:spPr>
          <a:xfrm>
            <a:off x="1446516" y="4281423"/>
            <a:ext cx="2926080" cy="32004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a:solidFill>
                  <a:schemeClr val="tx1">
                    <a:lumMod val="65000"/>
                    <a:lumOff val="35000"/>
                  </a:schemeClr>
                </a:solidFill>
                <a:latin typeface="Calibri"/>
                <a:ea typeface="Calibri"/>
                <a:cs typeface="Calibri"/>
              </a:rPr>
              <a:t>2025 / 2026</a:t>
            </a:r>
          </a:p>
        </p:txBody>
      </p:sp>
      <p:sp>
        <p:nvSpPr>
          <p:cNvPr id="8" name="Text 9">
            <a:extLst>
              <a:ext uri="{FF2B5EF4-FFF2-40B4-BE49-F238E27FC236}">
                <a16:creationId xmlns:a16="http://schemas.microsoft.com/office/drawing/2014/main" id="{EFA57BAF-71AC-570F-645A-2F189ED047FD}"/>
              </a:ext>
            </a:extLst>
          </p:cNvPr>
          <p:cNvSpPr/>
          <p:nvPr/>
        </p:nvSpPr>
        <p:spPr>
          <a:xfrm>
            <a:off x="3749040" y="2310982"/>
            <a:ext cx="5120640" cy="872545"/>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b="1">
                <a:solidFill>
                  <a:schemeClr val="accent5">
                    <a:lumMod val="76000"/>
                  </a:schemeClr>
                </a:solidFill>
                <a:latin typeface="Calibri"/>
                <a:ea typeface="Calibri"/>
                <a:cs typeface="Calibri"/>
              </a:rPr>
              <a:t>Systèmes de</a:t>
            </a:r>
            <a:r>
              <a:rPr lang="en-US" sz="1500">
                <a:solidFill>
                  <a:schemeClr val="accent5">
                    <a:lumMod val="76000"/>
                  </a:schemeClr>
                </a:solidFill>
                <a:latin typeface="Calibri"/>
                <a:ea typeface="Calibri"/>
                <a:cs typeface="Calibri"/>
              </a:rPr>
              <a:t> </a:t>
            </a:r>
            <a:r>
              <a:rPr lang="en-US" sz="1500" b="1">
                <a:solidFill>
                  <a:schemeClr val="accent5">
                    <a:lumMod val="76000"/>
                  </a:schemeClr>
                </a:solidFill>
                <a:latin typeface="Calibri"/>
                <a:ea typeface="Calibri"/>
                <a:cs typeface="Calibri"/>
              </a:rPr>
              <a:t>Gestion de</a:t>
            </a:r>
            <a:endParaRPr lang="en-US" sz="1500">
              <a:solidFill>
                <a:schemeClr val="accent5">
                  <a:lumMod val="76000"/>
                </a:schemeClr>
              </a:solidFill>
              <a:latin typeface="Calibri"/>
              <a:ea typeface="Calibri"/>
              <a:cs typeface="Calibri"/>
            </a:endParaRPr>
          </a:p>
          <a:p>
            <a:pPr marL="0" indent="0">
              <a:buNone/>
            </a:pPr>
            <a:r>
              <a:rPr lang="en-US" sz="1500" b="1" err="1">
                <a:solidFill>
                  <a:schemeClr val="accent5">
                    <a:lumMod val="76000"/>
                  </a:schemeClr>
                </a:solidFill>
                <a:latin typeface="Calibri"/>
                <a:ea typeface="Calibri"/>
                <a:cs typeface="Calibri"/>
              </a:rPr>
              <a:t>Contenu</a:t>
            </a:r>
            <a:endParaRPr lang="en-US" sz="1500" err="1">
              <a:solidFill>
                <a:schemeClr val="accent5">
                  <a:lumMod val="76000"/>
                </a:schemeClr>
              </a:solidFill>
              <a:latin typeface="Calibri"/>
              <a:ea typeface="Calibri"/>
              <a:cs typeface="Calibri"/>
            </a:endParaRPr>
          </a:p>
        </p:txBody>
      </p:sp>
      <p:sp>
        <p:nvSpPr>
          <p:cNvPr id="9" name="Text 11">
            <a:extLst>
              <a:ext uri="{FF2B5EF4-FFF2-40B4-BE49-F238E27FC236}">
                <a16:creationId xmlns:a16="http://schemas.microsoft.com/office/drawing/2014/main" id="{D92BF209-BF0F-D318-8739-3CBA314B3DB7}"/>
              </a:ext>
            </a:extLst>
          </p:cNvPr>
          <p:cNvSpPr/>
          <p:nvPr/>
        </p:nvSpPr>
        <p:spPr>
          <a:xfrm>
            <a:off x="3539758" y="1554802"/>
            <a:ext cx="512064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b="1">
                <a:latin typeface="Calibri"/>
                <a:ea typeface="Calibri"/>
                <a:cs typeface="Calibri"/>
              </a:rPr>
              <a:t> </a:t>
            </a:r>
            <a:r>
              <a:rPr lang="en-US" sz="4400" b="1" i="1">
                <a:latin typeface="Bookman Old Style"/>
                <a:ea typeface="Calibri"/>
                <a:cs typeface="Calibri"/>
              </a:rPr>
              <a:t>WordPress</a:t>
            </a:r>
          </a:p>
        </p:txBody>
      </p:sp>
      <p:sp>
        <p:nvSpPr>
          <p:cNvPr id="10" name="Text 12">
            <a:extLst>
              <a:ext uri="{FF2B5EF4-FFF2-40B4-BE49-F238E27FC236}">
                <a16:creationId xmlns:a16="http://schemas.microsoft.com/office/drawing/2014/main" id="{CC5A108F-BFAA-9797-8F03-082DE04C57CA}"/>
              </a:ext>
            </a:extLst>
          </p:cNvPr>
          <p:cNvSpPr/>
          <p:nvPr/>
        </p:nvSpPr>
        <p:spPr>
          <a:xfrm>
            <a:off x="3749040" y="3232919"/>
            <a:ext cx="5120640" cy="32004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err="1">
                <a:solidFill>
                  <a:schemeClr val="tx1">
                    <a:lumMod val="65000"/>
                    <a:lumOff val="35000"/>
                  </a:schemeClr>
                </a:solidFill>
                <a:latin typeface="Calibri"/>
                <a:ea typeface="Calibri"/>
                <a:cs typeface="Calibri"/>
              </a:rPr>
              <a:t>Définition</a:t>
            </a:r>
            <a:r>
              <a:rPr lang="en-US" sz="1100" i="1">
                <a:solidFill>
                  <a:schemeClr val="tx1">
                    <a:lumMod val="65000"/>
                    <a:lumOff val="35000"/>
                  </a:schemeClr>
                </a:solidFill>
                <a:latin typeface="Calibri"/>
                <a:ea typeface="Calibri"/>
                <a:cs typeface="Calibri"/>
              </a:rPr>
              <a:t>  ·  </a:t>
            </a:r>
            <a:r>
              <a:rPr lang="en-US" sz="1100" i="1" err="1">
                <a:solidFill>
                  <a:schemeClr val="tx1">
                    <a:lumMod val="65000"/>
                    <a:lumOff val="35000"/>
                  </a:schemeClr>
                </a:solidFill>
                <a:latin typeface="Calibri"/>
                <a:ea typeface="Calibri"/>
                <a:cs typeface="Calibri"/>
              </a:rPr>
              <a:t>Historique</a:t>
            </a:r>
            <a:r>
              <a:rPr lang="en-US" sz="1100" i="1">
                <a:solidFill>
                  <a:schemeClr val="tx1">
                    <a:lumMod val="65000"/>
                    <a:lumOff val="35000"/>
                  </a:schemeClr>
                </a:solidFill>
                <a:latin typeface="Calibri"/>
                <a:ea typeface="Calibri"/>
                <a:cs typeface="Calibri"/>
              </a:rPr>
              <a:t>  ·  Architecture  ·  </a:t>
            </a:r>
            <a:r>
              <a:rPr lang="en-US" sz="1100" i="1" err="1">
                <a:solidFill>
                  <a:schemeClr val="tx1">
                    <a:lumMod val="65000"/>
                    <a:lumOff val="35000"/>
                  </a:schemeClr>
                </a:solidFill>
                <a:latin typeface="Calibri"/>
                <a:ea typeface="Calibri"/>
                <a:cs typeface="Calibri"/>
              </a:rPr>
              <a:t>Comparaison</a:t>
            </a:r>
            <a:endParaRPr lang="en-US" sz="1100" err="1">
              <a:solidFill>
                <a:schemeClr val="tx1">
                  <a:lumMod val="65000"/>
                  <a:lumOff val="35000"/>
                </a:schemeClr>
              </a:solidFill>
              <a:latin typeface="Calibri"/>
              <a:ea typeface="Calibri"/>
              <a:cs typeface="Calibri"/>
            </a:endParaRPr>
          </a:p>
        </p:txBody>
      </p:sp>
      <p:sp>
        <p:nvSpPr>
          <p:cNvPr id="12" name="Shape 6">
            <a:extLst>
              <a:ext uri="{FF2B5EF4-FFF2-40B4-BE49-F238E27FC236}">
                <a16:creationId xmlns:a16="http://schemas.microsoft.com/office/drawing/2014/main" id="{A07B3078-7691-6F7A-FFC7-52B34C384086}"/>
              </a:ext>
            </a:extLst>
          </p:cNvPr>
          <p:cNvSpPr/>
          <p:nvPr/>
        </p:nvSpPr>
        <p:spPr>
          <a:xfrm>
            <a:off x="3424607" y="5801"/>
            <a:ext cx="180173" cy="5139920"/>
          </a:xfrm>
          <a:prstGeom prst="rect">
            <a:avLst/>
          </a:prstGeom>
          <a:solidFill>
            <a:srgbClr val="21A0D2"/>
          </a:solidFill>
          <a:ln w="12700">
            <a:solidFill>
              <a:srgbClr val="21A0D2"/>
            </a:solidFill>
            <a:prstDash val="solid"/>
          </a:ln>
        </p:spPr>
      </p:sp>
      <mc:AlternateContent xmlns:mc="http://schemas.openxmlformats.org/markup-compatibility/2006" xmlns:p14="http://schemas.microsoft.com/office/powerpoint/2010/main">
        <mc:Choice Requires="p14">
          <p:contentPart p14:bwMode="auto" r:id="rId2">
            <p14:nvContentPartPr>
              <p14:cNvPr id="11" name="Encre 10">
                <a:extLst>
                  <a:ext uri="{FF2B5EF4-FFF2-40B4-BE49-F238E27FC236}">
                    <a16:creationId xmlns:a16="http://schemas.microsoft.com/office/drawing/2014/main" id="{5E9041CF-FBE4-81A8-E347-980734415092}"/>
                  </a:ext>
                </a:extLst>
              </p14:cNvPr>
              <p14:cNvContentPartPr/>
              <p14:nvPr/>
            </p14:nvContentPartPr>
            <p14:xfrm>
              <a:off x="317500" y="2317893"/>
              <a:ext cx="2743309" cy="13607"/>
            </p14:xfrm>
          </p:contentPart>
        </mc:Choice>
        <mc:Fallback xmlns="">
          <p:pic>
            <p:nvPicPr>
              <p:cNvPr id="11" name="Encre 10">
                <a:extLst>
                  <a:ext uri="{FF2B5EF4-FFF2-40B4-BE49-F238E27FC236}">
                    <a16:creationId xmlns:a16="http://schemas.microsoft.com/office/drawing/2014/main" id="{5E9041CF-FBE4-81A8-E347-980734415092}"/>
                  </a:ext>
                </a:extLst>
              </p:cNvPr>
              <p:cNvPicPr/>
              <p:nvPr/>
            </p:nvPicPr>
            <p:blipFill>
              <a:blip r:embed="rId3"/>
              <a:stretch>
                <a:fillRect/>
              </a:stretch>
            </p:blipFill>
            <p:spPr>
              <a:xfrm>
                <a:off x="299502" y="1637543"/>
                <a:ext cx="2778946" cy="13607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Encre 12">
                <a:extLst>
                  <a:ext uri="{FF2B5EF4-FFF2-40B4-BE49-F238E27FC236}">
                    <a16:creationId xmlns:a16="http://schemas.microsoft.com/office/drawing/2014/main" id="{D78B82B6-C971-3A11-D41B-9BEE510A7C9D}"/>
                  </a:ext>
                </a:extLst>
              </p14:cNvPr>
              <p14:cNvContentPartPr/>
              <p14:nvPr/>
            </p14:nvContentPartPr>
            <p14:xfrm>
              <a:off x="3782785" y="2317893"/>
              <a:ext cx="2370668" cy="13607"/>
            </p14:xfrm>
          </p:contentPart>
        </mc:Choice>
        <mc:Fallback xmlns="">
          <p:pic>
            <p:nvPicPr>
              <p:cNvPr id="13" name="Encre 12">
                <a:extLst>
                  <a:ext uri="{FF2B5EF4-FFF2-40B4-BE49-F238E27FC236}">
                    <a16:creationId xmlns:a16="http://schemas.microsoft.com/office/drawing/2014/main" id="{D78B82B6-C971-3A11-D41B-9BEE510A7C9D}"/>
                  </a:ext>
                </a:extLst>
              </p:cNvPr>
              <p:cNvPicPr/>
              <p:nvPr/>
            </p:nvPicPr>
            <p:blipFill>
              <a:blip r:embed="rId5"/>
              <a:stretch>
                <a:fillRect/>
              </a:stretch>
            </p:blipFill>
            <p:spPr>
              <a:xfrm>
                <a:off x="3764787" y="1637543"/>
                <a:ext cx="2406304" cy="1360700"/>
              </a:xfrm>
              <a:prstGeom prst="rect">
                <a:avLst/>
              </a:prstGeom>
            </p:spPr>
          </p:pic>
        </mc:Fallback>
      </mc:AlternateContent>
    </p:spTree>
    <p:extLst>
      <p:ext uri="{BB962C8B-B14F-4D97-AF65-F5344CB8AC3E}">
        <p14:creationId xmlns:p14="http://schemas.microsoft.com/office/powerpoint/2010/main" val="2195376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C452D8C-31DA-B366-C0E0-D3B8721D51AC}"/>
              </a:ext>
            </a:extLst>
          </p:cNvPr>
          <p:cNvSpPr/>
          <p:nvPr/>
        </p:nvSpPr>
        <p:spPr>
          <a:xfrm>
            <a:off x="457200" y="274320"/>
            <a:ext cx="822960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a:solidFill>
                  <a:srgbClr val="4BC8E8"/>
                </a:solidFill>
                <a:latin typeface="Calibri" pitchFamily="34" charset="0"/>
                <a:ea typeface="Calibri" pitchFamily="34" charset="-122"/>
                <a:cs typeface="Calibri" pitchFamily="34" charset="-120"/>
              </a:rPr>
              <a:t>Plan</a:t>
            </a:r>
            <a:r>
              <a:rPr lang="en-US" sz="2600" b="1">
                <a:solidFill>
                  <a:srgbClr val="FFFFFF"/>
                </a:solidFill>
                <a:latin typeface="Calibri" pitchFamily="34" charset="0"/>
                <a:ea typeface="Calibri" pitchFamily="34" charset="-122"/>
                <a:cs typeface="Calibri" pitchFamily="34" charset="-120"/>
              </a:rPr>
              <a:t> de présentation</a:t>
            </a:r>
            <a:endParaRPr lang="en-US" sz="2600"/>
          </a:p>
        </p:txBody>
      </p:sp>
      <p:sp>
        <p:nvSpPr>
          <p:cNvPr id="3" name="Text 4">
            <a:extLst>
              <a:ext uri="{FF2B5EF4-FFF2-40B4-BE49-F238E27FC236}">
                <a16:creationId xmlns:a16="http://schemas.microsoft.com/office/drawing/2014/main" id="{4D738F9C-51C6-E7D0-5BED-E662C76AA50A}"/>
              </a:ext>
            </a:extLst>
          </p:cNvPr>
          <p:cNvSpPr/>
          <p:nvPr/>
        </p:nvSpPr>
        <p:spPr>
          <a:xfrm>
            <a:off x="566928" y="1207008"/>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4BC8E8"/>
                </a:solidFill>
                <a:latin typeface="Calibri" pitchFamily="34" charset="0"/>
                <a:ea typeface="Calibri" pitchFamily="34" charset="-122"/>
                <a:cs typeface="Calibri" pitchFamily="34" charset="-120"/>
              </a:rPr>
              <a:t>01</a:t>
            </a:r>
            <a:endParaRPr lang="en-US" sz="1100"/>
          </a:p>
        </p:txBody>
      </p:sp>
      <p:sp>
        <p:nvSpPr>
          <p:cNvPr id="4" name="Text 5">
            <a:extLst>
              <a:ext uri="{FF2B5EF4-FFF2-40B4-BE49-F238E27FC236}">
                <a16:creationId xmlns:a16="http://schemas.microsoft.com/office/drawing/2014/main" id="{A4388EBB-DF14-D7D0-E86C-E0317FC44629}"/>
              </a:ext>
            </a:extLst>
          </p:cNvPr>
          <p:cNvSpPr/>
          <p:nvPr/>
        </p:nvSpPr>
        <p:spPr>
          <a:xfrm>
            <a:off x="1115568" y="1170432"/>
            <a:ext cx="53035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1E2433"/>
                </a:solidFill>
                <a:latin typeface="Calibri" pitchFamily="34" charset="0"/>
                <a:ea typeface="Calibri" pitchFamily="34" charset="-122"/>
                <a:cs typeface="Calibri" pitchFamily="34" charset="-120"/>
              </a:rPr>
              <a:t>Introduction</a:t>
            </a:r>
            <a:endParaRPr lang="en-US" sz="1400"/>
          </a:p>
        </p:txBody>
      </p:sp>
      <p:sp>
        <p:nvSpPr>
          <p:cNvPr id="5" name="Text 6">
            <a:extLst>
              <a:ext uri="{FF2B5EF4-FFF2-40B4-BE49-F238E27FC236}">
                <a16:creationId xmlns:a16="http://schemas.microsoft.com/office/drawing/2014/main" id="{643260F8-2C79-81DA-38D0-85D9D4E34400}"/>
              </a:ext>
            </a:extLst>
          </p:cNvPr>
          <p:cNvSpPr/>
          <p:nvPr/>
        </p:nvSpPr>
        <p:spPr>
          <a:xfrm>
            <a:off x="1115568" y="1444752"/>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253040"/>
                </a:solidFill>
                <a:latin typeface="Calibri" pitchFamily="34" charset="0"/>
                <a:ea typeface="Calibri" pitchFamily="34" charset="-122"/>
                <a:cs typeface="Calibri" pitchFamily="34" charset="-120"/>
              </a:rPr>
              <a:t>Définition · Historique · Avantages</a:t>
            </a:r>
            <a:endParaRPr lang="en-US" sz="1100"/>
          </a:p>
        </p:txBody>
      </p:sp>
      <p:sp>
        <p:nvSpPr>
          <p:cNvPr id="6" name="Text 7">
            <a:extLst>
              <a:ext uri="{FF2B5EF4-FFF2-40B4-BE49-F238E27FC236}">
                <a16:creationId xmlns:a16="http://schemas.microsoft.com/office/drawing/2014/main" id="{953CD284-594E-1699-7F6A-D3403751C613}"/>
              </a:ext>
            </a:extLst>
          </p:cNvPr>
          <p:cNvSpPr/>
          <p:nvPr/>
        </p:nvSpPr>
        <p:spPr>
          <a:xfrm>
            <a:off x="8229600" y="1252728"/>
            <a:ext cx="347472" cy="31089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300">
              <a:solidFill>
                <a:srgbClr val="1E2433"/>
              </a:solidFill>
              <a:ea typeface="Calibri"/>
              <a:cs typeface="Calibri"/>
            </a:endParaRPr>
          </a:p>
        </p:txBody>
      </p:sp>
      <p:sp>
        <p:nvSpPr>
          <p:cNvPr id="7" name="Text 10">
            <a:extLst>
              <a:ext uri="{FF2B5EF4-FFF2-40B4-BE49-F238E27FC236}">
                <a16:creationId xmlns:a16="http://schemas.microsoft.com/office/drawing/2014/main" id="{4727A263-952A-B89D-35B9-2CB0DA811F01}"/>
              </a:ext>
            </a:extLst>
          </p:cNvPr>
          <p:cNvSpPr/>
          <p:nvPr/>
        </p:nvSpPr>
        <p:spPr>
          <a:xfrm>
            <a:off x="566928" y="1956816"/>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02</a:t>
            </a:r>
            <a:endParaRPr lang="en-US" sz="1100"/>
          </a:p>
        </p:txBody>
      </p:sp>
      <p:sp>
        <p:nvSpPr>
          <p:cNvPr id="8" name="Text 11">
            <a:extLst>
              <a:ext uri="{FF2B5EF4-FFF2-40B4-BE49-F238E27FC236}">
                <a16:creationId xmlns:a16="http://schemas.microsoft.com/office/drawing/2014/main" id="{1ECB3C82-F31B-4470-964D-8053B137DEA9}"/>
              </a:ext>
            </a:extLst>
          </p:cNvPr>
          <p:cNvSpPr/>
          <p:nvPr/>
        </p:nvSpPr>
        <p:spPr>
          <a:xfrm>
            <a:off x="1115568" y="1920240"/>
            <a:ext cx="53035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FFFFFF"/>
                </a:solidFill>
                <a:latin typeface="Calibri" pitchFamily="34" charset="0"/>
                <a:ea typeface="Calibri" pitchFamily="34" charset="-122"/>
                <a:cs typeface="Calibri" pitchFamily="34" charset="-120"/>
              </a:rPr>
              <a:t>Architecture &amp; Fonctionnement</a:t>
            </a:r>
            <a:endParaRPr lang="en-US" sz="1400"/>
          </a:p>
        </p:txBody>
      </p:sp>
      <p:sp>
        <p:nvSpPr>
          <p:cNvPr id="9" name="Text 12">
            <a:extLst>
              <a:ext uri="{FF2B5EF4-FFF2-40B4-BE49-F238E27FC236}">
                <a16:creationId xmlns:a16="http://schemas.microsoft.com/office/drawing/2014/main" id="{40C7EDE0-E0B3-D076-70BD-C2CD33EFE8CD}"/>
              </a:ext>
            </a:extLst>
          </p:cNvPr>
          <p:cNvSpPr/>
          <p:nvPr/>
        </p:nvSpPr>
        <p:spPr>
          <a:xfrm>
            <a:off x="1115568" y="2194560"/>
            <a:ext cx="6583680" cy="21945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a:solidFill>
                  <a:srgbClr val="8899AA"/>
                </a:solidFill>
                <a:latin typeface="Calibri"/>
                <a:ea typeface="Calibri"/>
                <a:cs typeface="Calibri"/>
              </a:rPr>
              <a:t>Structure ·   Roles et </a:t>
            </a:r>
            <a:r>
              <a:rPr lang="en-US" sz="1100" i="1" err="1">
                <a:solidFill>
                  <a:srgbClr val="8899AA"/>
                </a:solidFill>
                <a:latin typeface="Calibri"/>
                <a:ea typeface="Calibri"/>
                <a:cs typeface="Calibri"/>
              </a:rPr>
              <a:t>Utilisateurs</a:t>
            </a:r>
            <a:r>
              <a:rPr lang="en-US" sz="1100" i="1">
                <a:solidFill>
                  <a:srgbClr val="8899AA"/>
                </a:solidFill>
                <a:latin typeface="Calibri"/>
                <a:ea typeface="Calibri"/>
                <a:cs typeface="Calibri"/>
              </a:rPr>
              <a:t>   </a:t>
            </a:r>
          </a:p>
        </p:txBody>
      </p:sp>
      <p:sp>
        <p:nvSpPr>
          <p:cNvPr id="10" name="Text 15">
            <a:extLst>
              <a:ext uri="{FF2B5EF4-FFF2-40B4-BE49-F238E27FC236}">
                <a16:creationId xmlns:a16="http://schemas.microsoft.com/office/drawing/2014/main" id="{A190FC43-C33B-5337-6657-89CBB7C118C8}"/>
              </a:ext>
            </a:extLst>
          </p:cNvPr>
          <p:cNvSpPr/>
          <p:nvPr/>
        </p:nvSpPr>
        <p:spPr>
          <a:xfrm>
            <a:off x="566928" y="2706624"/>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03</a:t>
            </a:r>
            <a:endParaRPr lang="en-US" sz="1100"/>
          </a:p>
        </p:txBody>
      </p:sp>
      <p:sp>
        <p:nvSpPr>
          <p:cNvPr id="11" name="Text 16">
            <a:extLst>
              <a:ext uri="{FF2B5EF4-FFF2-40B4-BE49-F238E27FC236}">
                <a16:creationId xmlns:a16="http://schemas.microsoft.com/office/drawing/2014/main" id="{115B7938-242B-4FF3-8557-016941239107}"/>
              </a:ext>
            </a:extLst>
          </p:cNvPr>
          <p:cNvSpPr/>
          <p:nvPr/>
        </p:nvSpPr>
        <p:spPr>
          <a:xfrm>
            <a:off x="1115568" y="2670048"/>
            <a:ext cx="53035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FFFFFF"/>
                </a:solidFill>
                <a:latin typeface="Calibri" pitchFamily="34" charset="0"/>
                <a:ea typeface="Calibri" pitchFamily="34" charset="-122"/>
                <a:cs typeface="Calibri" pitchFamily="34" charset="-120"/>
              </a:rPr>
              <a:t>Comparaison des CMS populaires</a:t>
            </a:r>
            <a:endParaRPr lang="en-US" sz="1400"/>
          </a:p>
        </p:txBody>
      </p:sp>
      <p:sp>
        <p:nvSpPr>
          <p:cNvPr id="12" name="Text 17">
            <a:extLst>
              <a:ext uri="{FF2B5EF4-FFF2-40B4-BE49-F238E27FC236}">
                <a16:creationId xmlns:a16="http://schemas.microsoft.com/office/drawing/2014/main" id="{EEA4F7D5-F27A-A1E5-E65B-E183E77C78B8}"/>
              </a:ext>
            </a:extLst>
          </p:cNvPr>
          <p:cNvSpPr/>
          <p:nvPr/>
        </p:nvSpPr>
        <p:spPr>
          <a:xfrm>
            <a:off x="1115568" y="2944368"/>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899AA"/>
                </a:solidFill>
                <a:latin typeface="Calibri" pitchFamily="34" charset="0"/>
                <a:ea typeface="Calibri" pitchFamily="34" charset="-122"/>
                <a:cs typeface="Calibri" pitchFamily="34" charset="-120"/>
              </a:rPr>
              <a:t>WordPress · Drupal · Joomla · Headless</a:t>
            </a:r>
            <a:endParaRPr lang="en-US" sz="1100"/>
          </a:p>
        </p:txBody>
      </p:sp>
      <p:sp>
        <p:nvSpPr>
          <p:cNvPr id="13" name="Text 20">
            <a:extLst>
              <a:ext uri="{FF2B5EF4-FFF2-40B4-BE49-F238E27FC236}">
                <a16:creationId xmlns:a16="http://schemas.microsoft.com/office/drawing/2014/main" id="{E93278B3-4A58-3553-96C4-DB6B57BE9846}"/>
              </a:ext>
            </a:extLst>
          </p:cNvPr>
          <p:cNvSpPr/>
          <p:nvPr/>
        </p:nvSpPr>
        <p:spPr>
          <a:xfrm>
            <a:off x="566928" y="3456432"/>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04</a:t>
            </a:r>
            <a:endParaRPr lang="en-US" sz="1100"/>
          </a:p>
        </p:txBody>
      </p:sp>
      <p:sp>
        <p:nvSpPr>
          <p:cNvPr id="14" name="Text 21">
            <a:extLst>
              <a:ext uri="{FF2B5EF4-FFF2-40B4-BE49-F238E27FC236}">
                <a16:creationId xmlns:a16="http://schemas.microsoft.com/office/drawing/2014/main" id="{BEC829C0-1749-3D7E-2371-6914DF3AB069}"/>
              </a:ext>
            </a:extLst>
          </p:cNvPr>
          <p:cNvSpPr/>
          <p:nvPr/>
        </p:nvSpPr>
        <p:spPr>
          <a:xfrm>
            <a:off x="1115568" y="3419856"/>
            <a:ext cx="53035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FFFFFF"/>
                </a:solidFill>
                <a:latin typeface="Calibri" pitchFamily="34" charset="0"/>
                <a:ea typeface="Calibri" pitchFamily="34" charset="-122"/>
                <a:cs typeface="Calibri" pitchFamily="34" charset="-120"/>
              </a:rPr>
              <a:t>Applications pratiques &amp; Démonstration</a:t>
            </a:r>
            <a:endParaRPr lang="en-US" sz="1400"/>
          </a:p>
        </p:txBody>
      </p:sp>
      <p:sp>
        <p:nvSpPr>
          <p:cNvPr id="15" name="Text 22">
            <a:extLst>
              <a:ext uri="{FF2B5EF4-FFF2-40B4-BE49-F238E27FC236}">
                <a16:creationId xmlns:a16="http://schemas.microsoft.com/office/drawing/2014/main" id="{325AA00A-B29E-2896-8381-3BA324D375CB}"/>
              </a:ext>
            </a:extLst>
          </p:cNvPr>
          <p:cNvSpPr/>
          <p:nvPr/>
        </p:nvSpPr>
        <p:spPr>
          <a:xfrm>
            <a:off x="1115568" y="3694176"/>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899AA"/>
                </a:solidFill>
                <a:latin typeface="Calibri" pitchFamily="34" charset="0"/>
                <a:ea typeface="Calibri" pitchFamily="34" charset="-122"/>
                <a:cs typeface="Calibri" pitchFamily="34" charset="-120"/>
              </a:rPr>
              <a:t>WordPress live · E-commerce · Intranet</a:t>
            </a:r>
            <a:endParaRPr lang="en-US" sz="1100"/>
          </a:p>
        </p:txBody>
      </p:sp>
      <p:sp>
        <p:nvSpPr>
          <p:cNvPr id="16" name="Text 25">
            <a:extLst>
              <a:ext uri="{FF2B5EF4-FFF2-40B4-BE49-F238E27FC236}">
                <a16:creationId xmlns:a16="http://schemas.microsoft.com/office/drawing/2014/main" id="{F0365ADB-CC35-872C-3C8D-8127057E8C0D}"/>
              </a:ext>
            </a:extLst>
          </p:cNvPr>
          <p:cNvSpPr/>
          <p:nvPr/>
        </p:nvSpPr>
        <p:spPr>
          <a:xfrm>
            <a:off x="566928" y="4206240"/>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05</a:t>
            </a:r>
            <a:endParaRPr lang="en-US" sz="1100"/>
          </a:p>
        </p:txBody>
      </p:sp>
      <p:sp>
        <p:nvSpPr>
          <p:cNvPr id="17" name="Text 26">
            <a:extLst>
              <a:ext uri="{FF2B5EF4-FFF2-40B4-BE49-F238E27FC236}">
                <a16:creationId xmlns:a16="http://schemas.microsoft.com/office/drawing/2014/main" id="{F24FED21-596D-F120-06E5-5B29FFE11556}"/>
              </a:ext>
            </a:extLst>
          </p:cNvPr>
          <p:cNvSpPr/>
          <p:nvPr/>
        </p:nvSpPr>
        <p:spPr>
          <a:xfrm>
            <a:off x="1115568" y="4169664"/>
            <a:ext cx="53035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FFFFFF"/>
                </a:solidFill>
                <a:latin typeface="Calibri" pitchFamily="34" charset="0"/>
                <a:ea typeface="Calibri" pitchFamily="34" charset="-122"/>
                <a:cs typeface="Calibri" pitchFamily="34" charset="-120"/>
              </a:rPr>
              <a:t>Conclusion</a:t>
            </a:r>
            <a:endParaRPr lang="en-US" sz="1400"/>
          </a:p>
        </p:txBody>
      </p:sp>
      <p:sp>
        <p:nvSpPr>
          <p:cNvPr id="18" name="Text 27">
            <a:extLst>
              <a:ext uri="{FF2B5EF4-FFF2-40B4-BE49-F238E27FC236}">
                <a16:creationId xmlns:a16="http://schemas.microsoft.com/office/drawing/2014/main" id="{6AFCE23B-B450-4915-0703-B9E449FFC053}"/>
              </a:ext>
            </a:extLst>
          </p:cNvPr>
          <p:cNvSpPr/>
          <p:nvPr/>
        </p:nvSpPr>
        <p:spPr>
          <a:xfrm>
            <a:off x="1115568" y="4443984"/>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899AA"/>
                </a:solidFill>
                <a:latin typeface="Calibri" pitchFamily="34" charset="0"/>
                <a:ea typeface="Calibri" pitchFamily="34" charset="-122"/>
                <a:cs typeface="Calibri" pitchFamily="34" charset="-120"/>
              </a:rPr>
              <a:t>Résumé · Tendances · CMS headless &amp; IA</a:t>
            </a:r>
            <a:endParaRPr lang="en-US" sz="1100"/>
          </a:p>
        </p:txBody>
      </p:sp>
      <p:sp>
        <p:nvSpPr>
          <p:cNvPr id="19" name="Text 0">
            <a:extLst>
              <a:ext uri="{FF2B5EF4-FFF2-40B4-BE49-F238E27FC236}">
                <a16:creationId xmlns:a16="http://schemas.microsoft.com/office/drawing/2014/main" id="{98FA5AC9-9A95-B63C-BDB6-1CD8E6B114CE}"/>
              </a:ext>
            </a:extLst>
          </p:cNvPr>
          <p:cNvSpPr/>
          <p:nvPr/>
        </p:nvSpPr>
        <p:spPr>
          <a:xfrm>
            <a:off x="457200" y="274320"/>
            <a:ext cx="8229600" cy="54864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a:solidFill>
                  <a:srgbClr val="4BC8E8"/>
                </a:solidFill>
                <a:latin typeface="Calibri"/>
                <a:ea typeface="Calibri"/>
                <a:cs typeface="Calibri"/>
              </a:rPr>
              <a:t>Plan</a:t>
            </a:r>
            <a:r>
              <a:rPr lang="en-US" sz="2600" b="1">
                <a:solidFill>
                  <a:srgbClr val="FFFFFF"/>
                </a:solidFill>
                <a:latin typeface="Calibri"/>
                <a:ea typeface="Calibri"/>
                <a:cs typeface="Calibri"/>
              </a:rPr>
              <a:t> </a:t>
            </a:r>
            <a:r>
              <a:rPr lang="en-US" sz="2600" b="1">
                <a:latin typeface="Calibri"/>
                <a:ea typeface="Calibri"/>
                <a:cs typeface="Calibri"/>
              </a:rPr>
              <a:t>de </a:t>
            </a:r>
            <a:r>
              <a:rPr lang="en-US" sz="2600" b="1" err="1">
                <a:latin typeface="Calibri"/>
                <a:ea typeface="Calibri"/>
                <a:cs typeface="Calibri"/>
              </a:rPr>
              <a:t>présentation</a:t>
            </a:r>
            <a:endParaRPr lang="en-US" sz="2600" err="1">
              <a:latin typeface="Calibri"/>
              <a:ea typeface="Calibri"/>
              <a:cs typeface="Calibri"/>
            </a:endParaRPr>
          </a:p>
        </p:txBody>
      </p:sp>
      <p:sp>
        <p:nvSpPr>
          <p:cNvPr id="20" name="Text 4">
            <a:extLst>
              <a:ext uri="{FF2B5EF4-FFF2-40B4-BE49-F238E27FC236}">
                <a16:creationId xmlns:a16="http://schemas.microsoft.com/office/drawing/2014/main" id="{53967FB4-EECD-AC42-6F92-31E304E68759}"/>
              </a:ext>
            </a:extLst>
          </p:cNvPr>
          <p:cNvSpPr/>
          <p:nvPr/>
        </p:nvSpPr>
        <p:spPr>
          <a:xfrm>
            <a:off x="566928" y="1207008"/>
            <a:ext cx="402336" cy="40233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latin typeface="Calibri"/>
                <a:ea typeface="Calibri"/>
                <a:cs typeface="Calibri"/>
              </a:rPr>
              <a:t>01</a:t>
            </a:r>
            <a:endParaRPr lang="en-US" sz="1100">
              <a:latin typeface="Calibri"/>
              <a:ea typeface="Calibri"/>
              <a:cs typeface="Calibri"/>
            </a:endParaRPr>
          </a:p>
        </p:txBody>
      </p:sp>
      <p:sp>
        <p:nvSpPr>
          <p:cNvPr id="21" name="Text 5">
            <a:extLst>
              <a:ext uri="{FF2B5EF4-FFF2-40B4-BE49-F238E27FC236}">
                <a16:creationId xmlns:a16="http://schemas.microsoft.com/office/drawing/2014/main" id="{6A218FBB-D658-9B3C-A554-35DFE1A86C6C}"/>
              </a:ext>
            </a:extLst>
          </p:cNvPr>
          <p:cNvSpPr/>
          <p:nvPr/>
        </p:nvSpPr>
        <p:spPr>
          <a:xfrm>
            <a:off x="1115568" y="1170432"/>
            <a:ext cx="53035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1E2433"/>
                </a:solidFill>
                <a:latin typeface="Calibri" pitchFamily="34" charset="0"/>
                <a:ea typeface="Calibri" pitchFamily="34" charset="-122"/>
                <a:cs typeface="Calibri" pitchFamily="34" charset="-120"/>
              </a:rPr>
              <a:t>Introduction</a:t>
            </a:r>
            <a:endParaRPr lang="en-US" sz="1400"/>
          </a:p>
        </p:txBody>
      </p:sp>
      <p:sp>
        <p:nvSpPr>
          <p:cNvPr id="22" name="Text 6">
            <a:extLst>
              <a:ext uri="{FF2B5EF4-FFF2-40B4-BE49-F238E27FC236}">
                <a16:creationId xmlns:a16="http://schemas.microsoft.com/office/drawing/2014/main" id="{E3F13F47-99DE-3683-BADB-3D49D56AD6E1}"/>
              </a:ext>
            </a:extLst>
          </p:cNvPr>
          <p:cNvSpPr/>
          <p:nvPr/>
        </p:nvSpPr>
        <p:spPr>
          <a:xfrm>
            <a:off x="1115568" y="1444752"/>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253040"/>
                </a:solidFill>
                <a:latin typeface="Calibri" pitchFamily="34" charset="0"/>
                <a:ea typeface="Calibri" pitchFamily="34" charset="-122"/>
                <a:cs typeface="Calibri" pitchFamily="34" charset="-120"/>
              </a:rPr>
              <a:t>Définition · Historique · Avantages</a:t>
            </a:r>
            <a:endParaRPr lang="en-US" sz="1100"/>
          </a:p>
        </p:txBody>
      </p:sp>
      <p:sp>
        <p:nvSpPr>
          <p:cNvPr id="24" name="Text 10">
            <a:extLst>
              <a:ext uri="{FF2B5EF4-FFF2-40B4-BE49-F238E27FC236}">
                <a16:creationId xmlns:a16="http://schemas.microsoft.com/office/drawing/2014/main" id="{65F961C5-1CCD-1DC9-E7AA-08E568406021}"/>
              </a:ext>
            </a:extLst>
          </p:cNvPr>
          <p:cNvSpPr/>
          <p:nvPr/>
        </p:nvSpPr>
        <p:spPr>
          <a:xfrm>
            <a:off x="566928" y="1956816"/>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02</a:t>
            </a:r>
            <a:endParaRPr lang="en-US" sz="1100"/>
          </a:p>
        </p:txBody>
      </p:sp>
      <p:sp>
        <p:nvSpPr>
          <p:cNvPr id="25" name="Text 11">
            <a:extLst>
              <a:ext uri="{FF2B5EF4-FFF2-40B4-BE49-F238E27FC236}">
                <a16:creationId xmlns:a16="http://schemas.microsoft.com/office/drawing/2014/main" id="{668C5F20-87AE-95FB-C21A-D9274BE69803}"/>
              </a:ext>
            </a:extLst>
          </p:cNvPr>
          <p:cNvSpPr/>
          <p:nvPr/>
        </p:nvSpPr>
        <p:spPr>
          <a:xfrm>
            <a:off x="1115568" y="1920240"/>
            <a:ext cx="530352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latin typeface="Calibri"/>
                <a:ea typeface="Calibri"/>
                <a:cs typeface="Calibri"/>
              </a:rPr>
              <a:t>Architecture &amp; Fonctionnement</a:t>
            </a:r>
            <a:endParaRPr lang="en-US" sz="1400">
              <a:latin typeface="Calibri"/>
              <a:ea typeface="Calibri"/>
              <a:cs typeface="Calibri"/>
            </a:endParaRPr>
          </a:p>
        </p:txBody>
      </p:sp>
      <p:sp>
        <p:nvSpPr>
          <p:cNvPr id="26" name="Text 12">
            <a:extLst>
              <a:ext uri="{FF2B5EF4-FFF2-40B4-BE49-F238E27FC236}">
                <a16:creationId xmlns:a16="http://schemas.microsoft.com/office/drawing/2014/main" id="{6B41F454-C417-606E-2033-ED0048432727}"/>
              </a:ext>
            </a:extLst>
          </p:cNvPr>
          <p:cNvSpPr/>
          <p:nvPr/>
        </p:nvSpPr>
        <p:spPr>
          <a:xfrm>
            <a:off x="1115568" y="2194560"/>
            <a:ext cx="6583680" cy="21945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a:solidFill>
                  <a:srgbClr val="8899AA"/>
                </a:solidFill>
                <a:latin typeface="Calibri"/>
                <a:ea typeface="Calibri"/>
                <a:cs typeface="Calibri"/>
              </a:rPr>
              <a:t>Structure · </a:t>
            </a:r>
          </a:p>
        </p:txBody>
      </p:sp>
      <p:sp>
        <p:nvSpPr>
          <p:cNvPr id="27" name="Text 15">
            <a:extLst>
              <a:ext uri="{FF2B5EF4-FFF2-40B4-BE49-F238E27FC236}">
                <a16:creationId xmlns:a16="http://schemas.microsoft.com/office/drawing/2014/main" id="{37FD56E2-D77E-F8E0-46E7-8AE04A49A71E}"/>
              </a:ext>
            </a:extLst>
          </p:cNvPr>
          <p:cNvSpPr/>
          <p:nvPr/>
        </p:nvSpPr>
        <p:spPr>
          <a:xfrm>
            <a:off x="566928" y="2706624"/>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03</a:t>
            </a:r>
            <a:endParaRPr lang="en-US" sz="1100"/>
          </a:p>
        </p:txBody>
      </p:sp>
      <p:sp>
        <p:nvSpPr>
          <p:cNvPr id="28" name="Text 16">
            <a:extLst>
              <a:ext uri="{FF2B5EF4-FFF2-40B4-BE49-F238E27FC236}">
                <a16:creationId xmlns:a16="http://schemas.microsoft.com/office/drawing/2014/main" id="{55103F70-2601-322C-A13C-020A41EB1F84}"/>
              </a:ext>
            </a:extLst>
          </p:cNvPr>
          <p:cNvSpPr/>
          <p:nvPr/>
        </p:nvSpPr>
        <p:spPr>
          <a:xfrm>
            <a:off x="1115568" y="2670048"/>
            <a:ext cx="530352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err="1">
                <a:latin typeface="Calibri"/>
                <a:ea typeface="Calibri"/>
                <a:cs typeface="Calibri"/>
              </a:rPr>
              <a:t>Comparaison</a:t>
            </a:r>
            <a:r>
              <a:rPr lang="en-US" sz="1400" b="1">
                <a:latin typeface="Calibri"/>
                <a:ea typeface="Calibri"/>
                <a:cs typeface="Calibri"/>
              </a:rPr>
              <a:t> des CMS </a:t>
            </a:r>
            <a:r>
              <a:rPr lang="en-US" sz="1400" b="1" err="1">
                <a:latin typeface="Calibri"/>
                <a:ea typeface="Calibri"/>
                <a:cs typeface="Calibri"/>
              </a:rPr>
              <a:t>populaires</a:t>
            </a:r>
            <a:endParaRPr lang="en-US" sz="1400" err="1">
              <a:latin typeface="Calibri"/>
              <a:ea typeface="Calibri"/>
              <a:cs typeface="Calibri"/>
            </a:endParaRPr>
          </a:p>
        </p:txBody>
      </p:sp>
      <p:sp>
        <p:nvSpPr>
          <p:cNvPr id="29" name="Text 17">
            <a:extLst>
              <a:ext uri="{FF2B5EF4-FFF2-40B4-BE49-F238E27FC236}">
                <a16:creationId xmlns:a16="http://schemas.microsoft.com/office/drawing/2014/main" id="{024E1B6F-99A7-3739-22D8-0A0724947CC2}"/>
              </a:ext>
            </a:extLst>
          </p:cNvPr>
          <p:cNvSpPr/>
          <p:nvPr/>
        </p:nvSpPr>
        <p:spPr>
          <a:xfrm>
            <a:off x="1115568" y="2944368"/>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899AA"/>
                </a:solidFill>
                <a:latin typeface="Calibri" pitchFamily="34" charset="0"/>
                <a:ea typeface="Calibri" pitchFamily="34" charset="-122"/>
                <a:cs typeface="Calibri" pitchFamily="34" charset="-120"/>
              </a:rPr>
              <a:t>WordPress · Drupal · Joomla · Headless</a:t>
            </a:r>
            <a:endParaRPr lang="en-US" sz="1100"/>
          </a:p>
        </p:txBody>
      </p:sp>
      <p:sp>
        <p:nvSpPr>
          <p:cNvPr id="30" name="Text 20">
            <a:extLst>
              <a:ext uri="{FF2B5EF4-FFF2-40B4-BE49-F238E27FC236}">
                <a16:creationId xmlns:a16="http://schemas.microsoft.com/office/drawing/2014/main" id="{5DCE6D95-7786-28D6-4414-0EF7B1E04551}"/>
              </a:ext>
            </a:extLst>
          </p:cNvPr>
          <p:cNvSpPr/>
          <p:nvPr/>
        </p:nvSpPr>
        <p:spPr>
          <a:xfrm>
            <a:off x="566928" y="3456432"/>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04</a:t>
            </a:r>
            <a:endParaRPr lang="en-US" sz="1100"/>
          </a:p>
        </p:txBody>
      </p:sp>
      <p:sp>
        <p:nvSpPr>
          <p:cNvPr id="31" name="Text 21">
            <a:extLst>
              <a:ext uri="{FF2B5EF4-FFF2-40B4-BE49-F238E27FC236}">
                <a16:creationId xmlns:a16="http://schemas.microsoft.com/office/drawing/2014/main" id="{A8805949-D73E-E037-606E-4B7BB05AF8CB}"/>
              </a:ext>
            </a:extLst>
          </p:cNvPr>
          <p:cNvSpPr/>
          <p:nvPr/>
        </p:nvSpPr>
        <p:spPr>
          <a:xfrm>
            <a:off x="1115568" y="3419856"/>
            <a:ext cx="530352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latin typeface="Calibri"/>
                <a:ea typeface="Calibri"/>
                <a:cs typeface="Calibri"/>
              </a:rPr>
              <a:t>Applications pratiques &amp; </a:t>
            </a:r>
            <a:r>
              <a:rPr lang="en-US" sz="1400" b="1" err="1">
                <a:latin typeface="Calibri"/>
                <a:ea typeface="Calibri"/>
                <a:cs typeface="Calibri"/>
              </a:rPr>
              <a:t>Démonstration</a:t>
            </a:r>
            <a:endParaRPr lang="en-US" sz="1400" err="1">
              <a:latin typeface="Calibri"/>
              <a:ea typeface="Calibri"/>
              <a:cs typeface="Calibri"/>
            </a:endParaRPr>
          </a:p>
        </p:txBody>
      </p:sp>
      <p:sp>
        <p:nvSpPr>
          <p:cNvPr id="32" name="Text 22">
            <a:extLst>
              <a:ext uri="{FF2B5EF4-FFF2-40B4-BE49-F238E27FC236}">
                <a16:creationId xmlns:a16="http://schemas.microsoft.com/office/drawing/2014/main" id="{4E4FE339-715A-8AD0-1307-33303C3CF615}"/>
              </a:ext>
            </a:extLst>
          </p:cNvPr>
          <p:cNvSpPr/>
          <p:nvPr/>
        </p:nvSpPr>
        <p:spPr>
          <a:xfrm>
            <a:off x="1115568" y="3694176"/>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899AA"/>
                </a:solidFill>
                <a:latin typeface="Calibri" pitchFamily="34" charset="0"/>
                <a:ea typeface="Calibri" pitchFamily="34" charset="-122"/>
                <a:cs typeface="Calibri" pitchFamily="34" charset="-120"/>
              </a:rPr>
              <a:t>WordPress live · E-commerce · Intranet</a:t>
            </a:r>
            <a:endParaRPr lang="en-US" sz="1100"/>
          </a:p>
        </p:txBody>
      </p:sp>
      <p:sp>
        <p:nvSpPr>
          <p:cNvPr id="33" name="Text 25">
            <a:extLst>
              <a:ext uri="{FF2B5EF4-FFF2-40B4-BE49-F238E27FC236}">
                <a16:creationId xmlns:a16="http://schemas.microsoft.com/office/drawing/2014/main" id="{D3296D6F-BF28-98D4-F54F-6B1E504CBA31}"/>
              </a:ext>
            </a:extLst>
          </p:cNvPr>
          <p:cNvSpPr/>
          <p:nvPr/>
        </p:nvSpPr>
        <p:spPr>
          <a:xfrm>
            <a:off x="566928" y="4206240"/>
            <a:ext cx="402336" cy="40233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1E2433"/>
                </a:solidFill>
                <a:latin typeface="Calibri" pitchFamily="34" charset="0"/>
                <a:ea typeface="Calibri" pitchFamily="34" charset="-122"/>
                <a:cs typeface="Calibri" pitchFamily="34" charset="-120"/>
              </a:rPr>
              <a:t>05</a:t>
            </a:r>
            <a:endParaRPr lang="en-US" sz="1100"/>
          </a:p>
        </p:txBody>
      </p:sp>
      <p:sp>
        <p:nvSpPr>
          <p:cNvPr id="34" name="Text 26">
            <a:extLst>
              <a:ext uri="{FF2B5EF4-FFF2-40B4-BE49-F238E27FC236}">
                <a16:creationId xmlns:a16="http://schemas.microsoft.com/office/drawing/2014/main" id="{BE7544D1-2E2D-E0FF-6420-A00A65C0C6E8}"/>
              </a:ext>
            </a:extLst>
          </p:cNvPr>
          <p:cNvSpPr/>
          <p:nvPr/>
        </p:nvSpPr>
        <p:spPr>
          <a:xfrm>
            <a:off x="1115568" y="4169664"/>
            <a:ext cx="530352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latin typeface="Calibri"/>
                <a:ea typeface="Calibri"/>
                <a:cs typeface="Calibri"/>
              </a:rPr>
              <a:t>Conclusion</a:t>
            </a:r>
            <a:endParaRPr lang="en-US" sz="1400">
              <a:latin typeface="Calibri"/>
              <a:ea typeface="Calibri"/>
              <a:cs typeface="Calibri"/>
            </a:endParaRPr>
          </a:p>
        </p:txBody>
      </p:sp>
      <p:sp>
        <p:nvSpPr>
          <p:cNvPr id="35" name="Text 27">
            <a:extLst>
              <a:ext uri="{FF2B5EF4-FFF2-40B4-BE49-F238E27FC236}">
                <a16:creationId xmlns:a16="http://schemas.microsoft.com/office/drawing/2014/main" id="{C196E51F-C40B-BAA6-858F-EF60BA6D3B48}"/>
              </a:ext>
            </a:extLst>
          </p:cNvPr>
          <p:cNvSpPr/>
          <p:nvPr/>
        </p:nvSpPr>
        <p:spPr>
          <a:xfrm>
            <a:off x="1115568" y="4443984"/>
            <a:ext cx="6583680" cy="21945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899AA"/>
                </a:solidFill>
                <a:latin typeface="Calibri" pitchFamily="34" charset="0"/>
                <a:ea typeface="Calibri" pitchFamily="34" charset="-122"/>
                <a:cs typeface="Calibri" pitchFamily="34" charset="-120"/>
              </a:rPr>
              <a:t>Résumé · Tendances · CMS headless &amp; IA</a:t>
            </a:r>
            <a:endParaRPr lang="en-US" sz="1100"/>
          </a:p>
        </p:txBody>
      </p:sp>
      <p:sp>
        <p:nvSpPr>
          <p:cNvPr id="40" name="Shape 3">
            <a:extLst>
              <a:ext uri="{FF2B5EF4-FFF2-40B4-BE49-F238E27FC236}">
                <a16:creationId xmlns:a16="http://schemas.microsoft.com/office/drawing/2014/main" id="{1D00BC0E-8336-269F-3ED5-DCC76EAFF7A2}"/>
              </a:ext>
            </a:extLst>
          </p:cNvPr>
          <p:cNvSpPr/>
          <p:nvPr/>
        </p:nvSpPr>
        <p:spPr>
          <a:xfrm>
            <a:off x="457200" y="868680"/>
            <a:ext cx="3657600" cy="0"/>
          </a:xfrm>
          <a:prstGeom prst="line">
            <a:avLst/>
          </a:prstGeom>
          <a:noFill/>
          <a:ln w="31750">
            <a:solidFill>
              <a:srgbClr val="21A0D2"/>
            </a:solidFill>
            <a:prstDash val="solid"/>
          </a:ln>
        </p:spPr>
        <p:txBody>
          <a:bodyPr/>
          <a:lstStyle/>
          <a:p>
            <a:endParaRPr lang="fr-FR"/>
          </a:p>
        </p:txBody>
      </p:sp>
    </p:spTree>
    <p:extLst>
      <p:ext uri="{BB962C8B-B14F-4D97-AF65-F5344CB8AC3E}">
        <p14:creationId xmlns:p14="http://schemas.microsoft.com/office/powerpoint/2010/main" val="1912175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86DC350-83A7-8218-D2DD-09E984D7B660}"/>
              </a:ext>
            </a:extLst>
          </p:cNvPr>
          <p:cNvSpPr/>
          <p:nvPr/>
        </p:nvSpPr>
        <p:spPr>
          <a:xfrm>
            <a:off x="-45357" y="467360"/>
            <a:ext cx="9144000" cy="8229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600" b="1">
                <a:solidFill>
                  <a:schemeClr val="bg2">
                    <a:lumMod val="49000"/>
                  </a:schemeClr>
                </a:solidFill>
                <a:latin typeface="Calibri"/>
                <a:ea typeface="Calibri"/>
                <a:cs typeface="Calibri"/>
              </a:rPr>
              <a:t>Introduction aux CMS</a:t>
            </a:r>
            <a:endParaRPr lang="en-US" sz="3600">
              <a:solidFill>
                <a:schemeClr val="bg2">
                  <a:lumMod val="49000"/>
                </a:schemeClr>
              </a:solidFill>
              <a:latin typeface="Calibri"/>
              <a:ea typeface="Calibri"/>
              <a:cs typeface="Calibri"/>
            </a:endParaRPr>
          </a:p>
        </p:txBody>
      </p:sp>
      <p:cxnSp>
        <p:nvCxnSpPr>
          <p:cNvPr id="5" name="Straight Connector 30">
            <a:extLst>
              <a:ext uri="{FF2B5EF4-FFF2-40B4-BE49-F238E27FC236}">
                <a16:creationId xmlns:a16="http://schemas.microsoft.com/office/drawing/2014/main" id="{3D9B38BB-9997-3476-EB52-844A2DB6E583}"/>
              </a:ext>
            </a:extLst>
          </p:cNvPr>
          <p:cNvCxnSpPr>
            <a:cxnSpLocks/>
          </p:cNvCxnSpPr>
          <p:nvPr/>
        </p:nvCxnSpPr>
        <p:spPr>
          <a:xfrm>
            <a:off x="4529579" y="1"/>
            <a:ext cx="0" cy="569204"/>
          </a:xfrm>
          <a:prstGeom prst="line">
            <a:avLst/>
          </a:prstGeom>
          <a:ln w="25400">
            <a:solidFill>
              <a:schemeClr val="bg1">
                <a:lumMod val="85000"/>
              </a:schemeClr>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7" name="Straight Connector 10">
            <a:extLst>
              <a:ext uri="{FF2B5EF4-FFF2-40B4-BE49-F238E27FC236}">
                <a16:creationId xmlns:a16="http://schemas.microsoft.com/office/drawing/2014/main" id="{AD47E868-8246-6AF7-698A-824B27AA8CE9}"/>
              </a:ext>
            </a:extLst>
          </p:cNvPr>
          <p:cNvCxnSpPr>
            <a:cxnSpLocks/>
          </p:cNvCxnSpPr>
          <p:nvPr/>
        </p:nvCxnSpPr>
        <p:spPr>
          <a:xfrm>
            <a:off x="4529579" y="1526299"/>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9" name="Isosceles Triangle 1">
            <a:extLst>
              <a:ext uri="{FF2B5EF4-FFF2-40B4-BE49-F238E27FC236}">
                <a16:creationId xmlns:a16="http://schemas.microsoft.com/office/drawing/2014/main" id="{856F03E1-6CFD-46E1-0E1B-726A964E82D2}"/>
              </a:ext>
            </a:extLst>
          </p:cNvPr>
          <p:cNvSpPr/>
          <p:nvPr/>
        </p:nvSpPr>
        <p:spPr>
          <a:xfrm rot="10800000">
            <a:off x="4430598" y="1420701"/>
            <a:ext cx="197963" cy="116857"/>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1" name="Oval 3">
            <a:extLst>
              <a:ext uri="{FF2B5EF4-FFF2-40B4-BE49-F238E27FC236}">
                <a16:creationId xmlns:a16="http://schemas.microsoft.com/office/drawing/2014/main" id="{D756BB17-B8F7-6369-0270-ABB07F4124F4}"/>
              </a:ext>
            </a:extLst>
          </p:cNvPr>
          <p:cNvSpPr/>
          <p:nvPr/>
        </p:nvSpPr>
        <p:spPr>
          <a:xfrm>
            <a:off x="4487158" y="2048507"/>
            <a:ext cx="84842" cy="84842"/>
          </a:xfrm>
          <a:prstGeom prst="ellipse">
            <a:avLst/>
          </a:prstGeom>
          <a:solidFill>
            <a:schemeClr val="accent2"/>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13" name="Straight Connector 9">
            <a:extLst>
              <a:ext uri="{FF2B5EF4-FFF2-40B4-BE49-F238E27FC236}">
                <a16:creationId xmlns:a16="http://schemas.microsoft.com/office/drawing/2014/main" id="{2DD639FE-D8AF-7B27-3070-09030887986C}"/>
              </a:ext>
            </a:extLst>
          </p:cNvPr>
          <p:cNvCxnSpPr>
            <a:cxnSpLocks/>
          </p:cNvCxnSpPr>
          <p:nvPr/>
        </p:nvCxnSpPr>
        <p:spPr>
          <a:xfrm>
            <a:off x="4084518" y="2086926"/>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26">
            <a:extLst>
              <a:ext uri="{FF2B5EF4-FFF2-40B4-BE49-F238E27FC236}">
                <a16:creationId xmlns:a16="http://schemas.microsoft.com/office/drawing/2014/main" id="{2BFCD7E9-206D-6E9F-6BB5-7C857082EF07}"/>
              </a:ext>
            </a:extLst>
          </p:cNvPr>
          <p:cNvCxnSpPr>
            <a:cxnSpLocks/>
          </p:cNvCxnSpPr>
          <p:nvPr/>
        </p:nvCxnSpPr>
        <p:spPr>
          <a:xfrm>
            <a:off x="4529579" y="2566267"/>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17" name="Oval 27">
            <a:extLst>
              <a:ext uri="{FF2B5EF4-FFF2-40B4-BE49-F238E27FC236}">
                <a16:creationId xmlns:a16="http://schemas.microsoft.com/office/drawing/2014/main" id="{A1AE1D1D-99F4-2B95-AB8D-56C6830B19C1}"/>
              </a:ext>
            </a:extLst>
          </p:cNvPr>
          <p:cNvSpPr/>
          <p:nvPr/>
        </p:nvSpPr>
        <p:spPr>
          <a:xfrm>
            <a:off x="4487158" y="2707476"/>
            <a:ext cx="84842" cy="84842"/>
          </a:xfrm>
          <a:prstGeom prst="ellipse">
            <a:avLst/>
          </a:prstGeom>
          <a:solidFill>
            <a:schemeClr val="accent3"/>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19" name="Straight Connector 28">
            <a:extLst>
              <a:ext uri="{FF2B5EF4-FFF2-40B4-BE49-F238E27FC236}">
                <a16:creationId xmlns:a16="http://schemas.microsoft.com/office/drawing/2014/main" id="{ED8D5218-924D-312E-7033-00EF7B0EDD7E}"/>
              </a:ext>
            </a:extLst>
          </p:cNvPr>
          <p:cNvCxnSpPr>
            <a:cxnSpLocks/>
          </p:cNvCxnSpPr>
          <p:nvPr/>
        </p:nvCxnSpPr>
        <p:spPr>
          <a:xfrm>
            <a:off x="4526643" y="2754966"/>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31">
            <a:extLst>
              <a:ext uri="{FF2B5EF4-FFF2-40B4-BE49-F238E27FC236}">
                <a16:creationId xmlns:a16="http://schemas.microsoft.com/office/drawing/2014/main" id="{2B91F67A-FD57-2341-A653-E4AC4D2B0D62}"/>
              </a:ext>
            </a:extLst>
          </p:cNvPr>
          <p:cNvCxnSpPr>
            <a:cxnSpLocks/>
          </p:cNvCxnSpPr>
          <p:nvPr/>
        </p:nvCxnSpPr>
        <p:spPr>
          <a:xfrm>
            <a:off x="4529579" y="3599674"/>
            <a:ext cx="0" cy="1543826"/>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23" name="Encre 22">
                <a:extLst>
                  <a:ext uri="{FF2B5EF4-FFF2-40B4-BE49-F238E27FC236}">
                    <a16:creationId xmlns:a16="http://schemas.microsoft.com/office/drawing/2014/main" id="{A05D284C-357A-0DC0-7E06-977644D88129}"/>
                  </a:ext>
                </a:extLst>
              </p14:cNvPr>
              <p14:cNvContentPartPr/>
              <p14:nvPr/>
            </p14:nvContentPartPr>
            <p14:xfrm>
              <a:off x="-480785" y="1161142"/>
              <a:ext cx="13607" cy="13607"/>
            </p14:xfrm>
          </p:contentPart>
        </mc:Choice>
        <mc:Fallback xmlns="">
          <p:pic>
            <p:nvPicPr>
              <p:cNvPr id="23" name="Encre 22">
                <a:extLst>
                  <a:ext uri="{FF2B5EF4-FFF2-40B4-BE49-F238E27FC236}">
                    <a16:creationId xmlns:a16="http://schemas.microsoft.com/office/drawing/2014/main" id="{A05D284C-357A-0DC0-7E06-977644D88129}"/>
                  </a:ext>
                </a:extLst>
              </p:cNvPr>
              <p:cNvPicPr/>
              <p:nvPr/>
            </p:nvPicPr>
            <p:blipFill>
              <a:blip r:embed="rId3"/>
              <a:stretch>
                <a:fillRect/>
              </a:stretch>
            </p:blipFill>
            <p:spPr>
              <a:xfrm>
                <a:off x="-1161135" y="480792"/>
                <a:ext cx="1360700" cy="1360700"/>
              </a:xfrm>
              <a:prstGeom prst="rect">
                <a:avLst/>
              </a:prstGeom>
            </p:spPr>
          </p:pic>
        </mc:Fallback>
      </mc:AlternateContent>
      <p:sp>
        <p:nvSpPr>
          <p:cNvPr id="30" name="Oval 3">
            <a:extLst>
              <a:ext uri="{FF2B5EF4-FFF2-40B4-BE49-F238E27FC236}">
                <a16:creationId xmlns:a16="http://schemas.microsoft.com/office/drawing/2014/main" id="{3A0A77CF-D4C9-D598-8E7D-16F5B144E51F}"/>
              </a:ext>
            </a:extLst>
          </p:cNvPr>
          <p:cNvSpPr/>
          <p:nvPr/>
        </p:nvSpPr>
        <p:spPr>
          <a:xfrm>
            <a:off x="4494416" y="3525336"/>
            <a:ext cx="84842" cy="84842"/>
          </a:xfrm>
          <a:prstGeom prst="ellipse">
            <a:avLst/>
          </a:prstGeom>
          <a:solidFill>
            <a:schemeClr val="accent2"/>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32" name="Straight Connector 9">
            <a:extLst>
              <a:ext uri="{FF2B5EF4-FFF2-40B4-BE49-F238E27FC236}">
                <a16:creationId xmlns:a16="http://schemas.microsoft.com/office/drawing/2014/main" id="{78EC548C-2F30-1D06-EE44-1162579A5B73}"/>
              </a:ext>
            </a:extLst>
          </p:cNvPr>
          <p:cNvCxnSpPr>
            <a:cxnSpLocks/>
          </p:cNvCxnSpPr>
          <p:nvPr/>
        </p:nvCxnSpPr>
        <p:spPr>
          <a:xfrm>
            <a:off x="4146204" y="3581897"/>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7DB92103-C245-3A35-1383-9B575DED0960}"/>
              </a:ext>
            </a:extLst>
          </p:cNvPr>
          <p:cNvSpPr txBox="1"/>
          <p:nvPr/>
        </p:nvSpPr>
        <p:spPr>
          <a:xfrm>
            <a:off x="1859643" y="3306536"/>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dirty="0">
                <a:solidFill>
                  <a:srgbClr val="736F6F"/>
                </a:solidFill>
                <a:latin typeface="Calibri"/>
              </a:rPr>
              <a:t> </a:t>
            </a:r>
            <a:r>
              <a:rPr lang="en-US" sz="2400" b="1" dirty="0">
                <a:solidFill>
                  <a:schemeClr val="bg2">
                    <a:lumMod val="49000"/>
                  </a:schemeClr>
                </a:solidFill>
                <a:latin typeface="Calibri"/>
                <a:ea typeface="Calibri"/>
                <a:cs typeface="Calibri"/>
              </a:rPr>
              <a:t> </a:t>
            </a:r>
            <a:endParaRPr lang="en-US" sz="1500" b="1" dirty="0">
              <a:solidFill>
                <a:schemeClr val="bg2">
                  <a:lumMod val="49000"/>
                </a:schemeClr>
              </a:solidFill>
              <a:ea typeface="Calibri"/>
              <a:cs typeface="Calibri"/>
            </a:endParaRPr>
          </a:p>
          <a:p>
            <a:pPr algn="ctr"/>
            <a:endParaRPr lang="fr-FR"/>
          </a:p>
        </p:txBody>
      </p:sp>
      <p:sp>
        <p:nvSpPr>
          <p:cNvPr id="42" name="ZoneTexte 41">
            <a:extLst>
              <a:ext uri="{FF2B5EF4-FFF2-40B4-BE49-F238E27FC236}">
                <a16:creationId xmlns:a16="http://schemas.microsoft.com/office/drawing/2014/main" id="{D7D70307-60D4-7723-4666-000DBBE86110}"/>
              </a:ext>
            </a:extLst>
          </p:cNvPr>
          <p:cNvSpPr txBox="1"/>
          <p:nvPr/>
        </p:nvSpPr>
        <p:spPr>
          <a:xfrm>
            <a:off x="5724072" y="2390322"/>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a:solidFill>
                  <a:srgbClr val="736F6F"/>
                </a:solidFill>
                <a:latin typeface="Calibri"/>
              </a:rPr>
              <a:t> </a:t>
            </a:r>
            <a:r>
              <a:rPr lang="en-US" sz="2400" b="1" baseline="0" err="1">
                <a:solidFill>
                  <a:srgbClr val="736F6F"/>
                </a:solidFill>
                <a:latin typeface="Calibri"/>
              </a:rPr>
              <a:t>Historique</a:t>
            </a:r>
            <a:r>
              <a:rPr lang="en-US" sz="2400" b="1" baseline="0">
                <a:solidFill>
                  <a:srgbClr val="736F6F"/>
                </a:solidFill>
                <a:latin typeface="Calibri"/>
              </a:rPr>
              <a:t> </a:t>
            </a:r>
            <a:endParaRPr lang="fr-FR" sz="2400" b="1">
              <a:ea typeface="Calibri" panose="020F0502020204030204"/>
              <a:cs typeface="Calibri" panose="020F0502020204030204"/>
            </a:endParaRPr>
          </a:p>
          <a:p>
            <a:pPr algn="ctr"/>
            <a:endParaRPr lang="fr-FR"/>
          </a:p>
        </p:txBody>
      </p:sp>
      <p:sp>
        <p:nvSpPr>
          <p:cNvPr id="43" name="ZoneTexte 42">
            <a:extLst>
              <a:ext uri="{FF2B5EF4-FFF2-40B4-BE49-F238E27FC236}">
                <a16:creationId xmlns:a16="http://schemas.microsoft.com/office/drawing/2014/main" id="{6626B5EE-A32B-3CFF-080B-29F739AD84DF}"/>
              </a:ext>
            </a:extLst>
          </p:cNvPr>
          <p:cNvSpPr txBox="1"/>
          <p:nvPr/>
        </p:nvSpPr>
        <p:spPr>
          <a:xfrm>
            <a:off x="1859643" y="1728107"/>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err="1">
                <a:solidFill>
                  <a:srgbClr val="736F6F"/>
                </a:solidFill>
                <a:latin typeface="Calibri"/>
              </a:rPr>
              <a:t>Définition</a:t>
            </a:r>
            <a:r>
              <a:rPr lang="en-US" sz="2400" b="1" baseline="0">
                <a:solidFill>
                  <a:srgbClr val="736F6F"/>
                </a:solidFill>
                <a:latin typeface="Calibri"/>
              </a:rPr>
              <a:t> </a:t>
            </a:r>
            <a:r>
              <a:rPr sz="2400" b="1">
                <a:latin typeface="Calibri"/>
                <a:ea typeface="Calibri"/>
                <a:cs typeface="Calibri"/>
              </a:rPr>
              <a:t>​</a:t>
            </a:r>
            <a:endParaRPr lang="fr-FR" sz="2400" b="1"/>
          </a:p>
          <a:p>
            <a:pPr algn="ctr"/>
            <a:endParaRPr lang="fr-FR"/>
          </a:p>
        </p:txBody>
      </p:sp>
      <p:sp>
        <p:nvSpPr>
          <p:cNvPr id="44" name="ZoneTexte 43">
            <a:extLst>
              <a:ext uri="{FF2B5EF4-FFF2-40B4-BE49-F238E27FC236}">
                <a16:creationId xmlns:a16="http://schemas.microsoft.com/office/drawing/2014/main" id="{561533B7-F774-DE0A-D3A1-CF9132DB3426}"/>
              </a:ext>
            </a:extLst>
          </p:cNvPr>
          <p:cNvSpPr txBox="1"/>
          <p:nvPr/>
        </p:nvSpPr>
        <p:spPr>
          <a:xfrm>
            <a:off x="4916714" y="984250"/>
            <a:ext cx="4572000"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baseline="0">
                <a:solidFill>
                  <a:srgbClr val="4BC8E8"/>
                </a:solidFill>
                <a:latin typeface="Calibri"/>
              </a:rPr>
              <a:t>WordPress</a:t>
            </a:r>
            <a:r>
              <a:rPr lang="en-US" sz="1500" baseline="0">
                <a:solidFill>
                  <a:srgbClr val="8899AA"/>
                </a:solidFill>
                <a:latin typeface="Calibri"/>
              </a:rPr>
              <a:t> —</a:t>
            </a:r>
            <a:r>
              <a:rPr lang="en-US" sz="1500" baseline="0">
                <a:solidFill>
                  <a:srgbClr val="736F6F"/>
                </a:solidFill>
                <a:latin typeface="Calibri"/>
              </a:rPr>
              <a:t> </a:t>
            </a:r>
            <a:endParaRPr lang="fr-FR"/>
          </a:p>
          <a:p>
            <a:pPr algn="ctr"/>
            <a:endParaRPr lang="fr-FR"/>
          </a:p>
        </p:txBody>
      </p:sp>
      <p:sp>
        <p:nvSpPr>
          <p:cNvPr id="46" name="Rectangle 45">
            <a:extLst>
              <a:ext uri="{FF2B5EF4-FFF2-40B4-BE49-F238E27FC236}">
                <a16:creationId xmlns:a16="http://schemas.microsoft.com/office/drawing/2014/main" id="{FBDBF022-44E1-062D-A111-0B93EBA339DF}"/>
              </a:ext>
            </a:extLst>
          </p:cNvPr>
          <p:cNvSpPr/>
          <p:nvPr/>
        </p:nvSpPr>
        <p:spPr>
          <a:xfrm>
            <a:off x="3348358" y="1691539"/>
            <a:ext cx="790773" cy="790773"/>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grpSp>
        <p:nvGrpSpPr>
          <p:cNvPr id="52" name="Group 25">
            <a:extLst>
              <a:ext uri="{FF2B5EF4-FFF2-40B4-BE49-F238E27FC236}">
                <a16:creationId xmlns:a16="http://schemas.microsoft.com/office/drawing/2014/main" id="{3C953288-F9E3-6CD7-0E26-5B22FD70A706}"/>
              </a:ext>
            </a:extLst>
          </p:cNvPr>
          <p:cNvGrpSpPr/>
          <p:nvPr/>
        </p:nvGrpSpPr>
        <p:grpSpPr>
          <a:xfrm>
            <a:off x="3577100" y="1923145"/>
            <a:ext cx="333289" cy="327561"/>
            <a:chOff x="-20638" y="1588"/>
            <a:chExt cx="2955925" cy="2905125"/>
          </a:xfrm>
          <a:solidFill>
            <a:schemeClr val="bg1"/>
          </a:solidFill>
        </p:grpSpPr>
        <p:sp>
          <p:nvSpPr>
            <p:cNvPr id="48" name="Freeform 5">
              <a:extLst>
                <a:ext uri="{FF2B5EF4-FFF2-40B4-BE49-F238E27FC236}">
                  <a16:creationId xmlns:a16="http://schemas.microsoft.com/office/drawing/2014/main" id="{66F70B21-A695-8F71-379D-7BDF8C013984}"/>
                </a:ext>
              </a:extLst>
            </p:cNvPr>
            <p:cNvSpPr>
              <a:spLocks/>
            </p:cNvSpPr>
            <p:nvPr/>
          </p:nvSpPr>
          <p:spPr bwMode="auto">
            <a:xfrm>
              <a:off x="1595438" y="363538"/>
              <a:ext cx="955675" cy="955675"/>
            </a:xfrm>
            <a:custGeom>
              <a:avLst/>
              <a:gdLst>
                <a:gd name="T0" fmla="*/ 229 w 254"/>
                <a:gd name="T1" fmla="*/ 242 h 254"/>
                <a:gd name="T2" fmla="*/ 229 w 254"/>
                <a:gd name="T3" fmla="*/ 242 h 254"/>
                <a:gd name="T4" fmla="*/ 241 w 254"/>
                <a:gd name="T5" fmla="*/ 254 h 254"/>
                <a:gd name="T6" fmla="*/ 254 w 254"/>
                <a:gd name="T7" fmla="*/ 242 h 254"/>
                <a:gd name="T8" fmla="*/ 253 w 254"/>
                <a:gd name="T9" fmla="*/ 242 h 254"/>
                <a:gd name="T10" fmla="*/ 13 w 254"/>
                <a:gd name="T11" fmla="*/ 1 h 254"/>
                <a:gd name="T12" fmla="*/ 12 w 254"/>
                <a:gd name="T13" fmla="*/ 0 h 254"/>
                <a:gd name="T14" fmla="*/ 0 w 254"/>
                <a:gd name="T15" fmla="*/ 13 h 254"/>
                <a:gd name="T16" fmla="*/ 12 w 254"/>
                <a:gd name="T17" fmla="*/ 25 h 254"/>
                <a:gd name="T18" fmla="*/ 12 w 254"/>
                <a:gd name="T19" fmla="*/ 25 h 254"/>
                <a:gd name="T20" fmla="*/ 229 w 254"/>
                <a:gd name="T21" fmla="*/ 24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nvGrpSpPr>
            <p:cNvPr id="49" name="Group 24">
              <a:extLst>
                <a:ext uri="{FF2B5EF4-FFF2-40B4-BE49-F238E27FC236}">
                  <a16:creationId xmlns:a16="http://schemas.microsoft.com/office/drawing/2014/main" id="{5672DB2E-9457-6DF6-4A70-CB05BC1F0A4A}"/>
                </a:ext>
              </a:extLst>
            </p:cNvPr>
            <p:cNvGrpSpPr/>
            <p:nvPr/>
          </p:nvGrpSpPr>
          <p:grpSpPr>
            <a:xfrm>
              <a:off x="-20638" y="1588"/>
              <a:ext cx="2955925" cy="2905125"/>
              <a:chOff x="-20638" y="1588"/>
              <a:chExt cx="2955925" cy="2905125"/>
            </a:xfrm>
            <a:grpFill/>
          </p:grpSpPr>
          <p:sp>
            <p:nvSpPr>
              <p:cNvPr id="50" name="Freeform 6">
                <a:extLst>
                  <a:ext uri="{FF2B5EF4-FFF2-40B4-BE49-F238E27FC236}">
                    <a16:creationId xmlns:a16="http://schemas.microsoft.com/office/drawing/2014/main" id="{2E7CD4B3-1219-8E26-0CAF-B0FBFED3F34C}"/>
                  </a:ext>
                </a:extLst>
              </p:cNvPr>
              <p:cNvSpPr>
                <a:spLocks noEditPoints="1"/>
              </p:cNvSpPr>
              <p:nvPr/>
            </p:nvSpPr>
            <p:spPr bwMode="auto">
              <a:xfrm>
                <a:off x="-20638" y="1588"/>
                <a:ext cx="2955925" cy="2905125"/>
              </a:xfrm>
              <a:custGeom>
                <a:avLst/>
                <a:gdLst>
                  <a:gd name="T0" fmla="*/ 227 w 785"/>
                  <a:gd name="T1" fmla="*/ 21 h 772"/>
                  <a:gd name="T2" fmla="*/ 176 w 785"/>
                  <a:gd name="T3" fmla="*/ 0 h 772"/>
                  <a:gd name="T4" fmla="*/ 148 w 785"/>
                  <a:gd name="T5" fmla="*/ 6 h 772"/>
                  <a:gd name="T6" fmla="*/ 103 w 785"/>
                  <a:gd name="T7" fmla="*/ 72 h 772"/>
                  <a:gd name="T8" fmla="*/ 103 w 785"/>
                  <a:gd name="T9" fmla="*/ 404 h 772"/>
                  <a:gd name="T10" fmla="*/ 28 w 785"/>
                  <a:gd name="T11" fmla="*/ 480 h 772"/>
                  <a:gd name="T12" fmla="*/ 28 w 785"/>
                  <a:gd name="T13" fmla="*/ 582 h 772"/>
                  <a:gd name="T14" fmla="*/ 197 w 785"/>
                  <a:gd name="T15" fmla="*/ 751 h 772"/>
                  <a:gd name="T16" fmla="*/ 248 w 785"/>
                  <a:gd name="T17" fmla="*/ 772 h 772"/>
                  <a:gd name="T18" fmla="*/ 299 w 785"/>
                  <a:gd name="T19" fmla="*/ 751 h 772"/>
                  <a:gd name="T20" fmla="*/ 375 w 785"/>
                  <a:gd name="T21" fmla="*/ 675 h 772"/>
                  <a:gd name="T22" fmla="*/ 707 w 785"/>
                  <a:gd name="T23" fmla="*/ 675 h 772"/>
                  <a:gd name="T24" fmla="*/ 773 w 785"/>
                  <a:gd name="T25" fmla="*/ 631 h 772"/>
                  <a:gd name="T26" fmla="*/ 758 w 785"/>
                  <a:gd name="T27" fmla="*/ 552 h 772"/>
                  <a:gd name="T28" fmla="*/ 227 w 785"/>
                  <a:gd name="T29" fmla="*/ 21 h 772"/>
                  <a:gd name="T30" fmla="*/ 341 w 785"/>
                  <a:gd name="T31" fmla="*/ 641 h 772"/>
                  <a:gd name="T32" fmla="*/ 265 w 785"/>
                  <a:gd name="T33" fmla="*/ 717 h 772"/>
                  <a:gd name="T34" fmla="*/ 248 w 785"/>
                  <a:gd name="T35" fmla="*/ 724 h 772"/>
                  <a:gd name="T36" fmla="*/ 231 w 785"/>
                  <a:gd name="T37" fmla="*/ 717 h 772"/>
                  <a:gd name="T38" fmla="*/ 62 w 785"/>
                  <a:gd name="T39" fmla="*/ 548 h 772"/>
                  <a:gd name="T40" fmla="*/ 55 w 785"/>
                  <a:gd name="T41" fmla="*/ 531 h 772"/>
                  <a:gd name="T42" fmla="*/ 62 w 785"/>
                  <a:gd name="T43" fmla="*/ 514 h 772"/>
                  <a:gd name="T44" fmla="*/ 138 w 785"/>
                  <a:gd name="T45" fmla="*/ 438 h 772"/>
                  <a:gd name="T46" fmla="*/ 138 w 785"/>
                  <a:gd name="T47" fmla="*/ 438 h 772"/>
                  <a:gd name="T48" fmla="*/ 341 w 785"/>
                  <a:gd name="T49" fmla="*/ 641 h 772"/>
                  <a:gd name="T50" fmla="*/ 341 w 785"/>
                  <a:gd name="T51" fmla="*/ 641 h 772"/>
                  <a:gd name="T52" fmla="*/ 375 w 785"/>
                  <a:gd name="T53" fmla="*/ 627 h 772"/>
                  <a:gd name="T54" fmla="*/ 364 w 785"/>
                  <a:gd name="T55" fmla="*/ 629 h 772"/>
                  <a:gd name="T56" fmla="*/ 150 w 785"/>
                  <a:gd name="T57" fmla="*/ 415 h 772"/>
                  <a:gd name="T58" fmla="*/ 152 w 785"/>
                  <a:gd name="T59" fmla="*/ 404 h 772"/>
                  <a:gd name="T60" fmla="*/ 152 w 785"/>
                  <a:gd name="T61" fmla="*/ 114 h 772"/>
                  <a:gd name="T62" fmla="*/ 665 w 785"/>
                  <a:gd name="T63" fmla="*/ 627 h 772"/>
                  <a:gd name="T64" fmla="*/ 375 w 785"/>
                  <a:gd name="T65" fmla="*/ 627 h 772"/>
                  <a:gd name="T66" fmla="*/ 729 w 785"/>
                  <a:gd name="T67" fmla="*/ 612 h 772"/>
                  <a:gd name="T68" fmla="*/ 707 w 785"/>
                  <a:gd name="T69" fmla="*/ 627 h 772"/>
                  <a:gd name="T70" fmla="*/ 699 w 785"/>
                  <a:gd name="T71" fmla="*/ 627 h 772"/>
                  <a:gd name="T72" fmla="*/ 152 w 785"/>
                  <a:gd name="T73" fmla="*/ 80 h 772"/>
                  <a:gd name="T74" fmla="*/ 152 w 785"/>
                  <a:gd name="T75" fmla="*/ 72 h 772"/>
                  <a:gd name="T76" fmla="*/ 167 w 785"/>
                  <a:gd name="T77" fmla="*/ 50 h 772"/>
                  <a:gd name="T78" fmla="*/ 176 w 785"/>
                  <a:gd name="T79" fmla="*/ 48 h 772"/>
                  <a:gd name="T80" fmla="*/ 193 w 785"/>
                  <a:gd name="T81" fmla="*/ 55 h 772"/>
                  <a:gd name="T82" fmla="*/ 724 w 785"/>
                  <a:gd name="T83" fmla="*/ 586 h 772"/>
                  <a:gd name="T84" fmla="*/ 729 w 785"/>
                  <a:gd name="T85" fmla="*/ 61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51" name="Freeform 7">
                <a:extLst>
                  <a:ext uri="{FF2B5EF4-FFF2-40B4-BE49-F238E27FC236}">
                    <a16:creationId xmlns:a16="http://schemas.microsoft.com/office/drawing/2014/main" id="{3027CDC9-2AA9-5762-99A4-F586A09361D1}"/>
                  </a:ext>
                </a:extLst>
              </p:cNvPr>
              <p:cNvSpPr>
                <a:spLocks/>
              </p:cNvSpPr>
              <p:nvPr/>
            </p:nvSpPr>
            <p:spPr bwMode="auto">
              <a:xfrm>
                <a:off x="1549400" y="1588"/>
                <a:ext cx="1362075" cy="1362075"/>
              </a:xfrm>
              <a:custGeom>
                <a:avLst/>
                <a:gdLst>
                  <a:gd name="T0" fmla="*/ 24 w 362"/>
                  <a:gd name="T1" fmla="*/ 48 h 362"/>
                  <a:gd name="T2" fmla="*/ 24 w 362"/>
                  <a:gd name="T3" fmla="*/ 48 h 362"/>
                  <a:gd name="T4" fmla="*/ 314 w 362"/>
                  <a:gd name="T5" fmla="*/ 338 h 362"/>
                  <a:gd name="T6" fmla="*/ 314 w 362"/>
                  <a:gd name="T7" fmla="*/ 338 h 362"/>
                  <a:gd name="T8" fmla="*/ 338 w 362"/>
                  <a:gd name="T9" fmla="*/ 362 h 362"/>
                  <a:gd name="T10" fmla="*/ 362 w 362"/>
                  <a:gd name="T11" fmla="*/ 338 h 362"/>
                  <a:gd name="T12" fmla="*/ 362 w 362"/>
                  <a:gd name="T13" fmla="*/ 338 h 362"/>
                  <a:gd name="T14" fmla="*/ 25 w 362"/>
                  <a:gd name="T15" fmla="*/ 0 h 362"/>
                  <a:gd name="T16" fmla="*/ 24 w 362"/>
                  <a:gd name="T17" fmla="*/ 0 h 362"/>
                  <a:gd name="T18" fmla="*/ 0 w 362"/>
                  <a:gd name="T19" fmla="*/ 24 h 362"/>
                  <a:gd name="T20" fmla="*/ 24 w 362"/>
                  <a:gd name="T21" fmla="*/ 4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grpSp>
      <p:sp>
        <p:nvSpPr>
          <p:cNvPr id="54" name="Rectangle 53">
            <a:extLst>
              <a:ext uri="{FF2B5EF4-FFF2-40B4-BE49-F238E27FC236}">
                <a16:creationId xmlns:a16="http://schemas.microsoft.com/office/drawing/2014/main" id="{5BADBA52-C36F-05EF-9D0C-EDDA0DB5325E}"/>
              </a:ext>
            </a:extLst>
          </p:cNvPr>
          <p:cNvSpPr/>
          <p:nvPr/>
        </p:nvSpPr>
        <p:spPr>
          <a:xfrm>
            <a:off x="3348358" y="2471588"/>
            <a:ext cx="790773" cy="6515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56" name="Rectangle 55">
            <a:extLst>
              <a:ext uri="{FF2B5EF4-FFF2-40B4-BE49-F238E27FC236}">
                <a16:creationId xmlns:a16="http://schemas.microsoft.com/office/drawing/2014/main" id="{3E6832BE-7545-9150-F620-1B43A4D507E8}"/>
              </a:ext>
            </a:extLst>
          </p:cNvPr>
          <p:cNvSpPr/>
          <p:nvPr/>
        </p:nvSpPr>
        <p:spPr>
          <a:xfrm>
            <a:off x="3391900" y="3186510"/>
            <a:ext cx="790773" cy="790773"/>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grpSp>
        <p:nvGrpSpPr>
          <p:cNvPr id="62" name="Group 25">
            <a:extLst>
              <a:ext uri="{FF2B5EF4-FFF2-40B4-BE49-F238E27FC236}">
                <a16:creationId xmlns:a16="http://schemas.microsoft.com/office/drawing/2014/main" id="{C7731103-7857-1A15-7873-9792C3BAF9E1}"/>
              </a:ext>
            </a:extLst>
          </p:cNvPr>
          <p:cNvGrpSpPr/>
          <p:nvPr/>
        </p:nvGrpSpPr>
        <p:grpSpPr>
          <a:xfrm>
            <a:off x="3620642" y="3445331"/>
            <a:ext cx="333289" cy="327561"/>
            <a:chOff x="-20638" y="1588"/>
            <a:chExt cx="2955925" cy="2905125"/>
          </a:xfrm>
          <a:solidFill>
            <a:schemeClr val="bg1"/>
          </a:solidFill>
        </p:grpSpPr>
        <p:sp>
          <p:nvSpPr>
            <p:cNvPr id="58" name="Freeform 5">
              <a:extLst>
                <a:ext uri="{FF2B5EF4-FFF2-40B4-BE49-F238E27FC236}">
                  <a16:creationId xmlns:a16="http://schemas.microsoft.com/office/drawing/2014/main" id="{AE533591-9D0C-2577-6DB0-0B0EEFFDE7FF}"/>
                </a:ext>
              </a:extLst>
            </p:cNvPr>
            <p:cNvSpPr>
              <a:spLocks/>
            </p:cNvSpPr>
            <p:nvPr/>
          </p:nvSpPr>
          <p:spPr bwMode="auto">
            <a:xfrm>
              <a:off x="1595438" y="363538"/>
              <a:ext cx="955675" cy="955675"/>
            </a:xfrm>
            <a:custGeom>
              <a:avLst/>
              <a:gdLst>
                <a:gd name="T0" fmla="*/ 229 w 254"/>
                <a:gd name="T1" fmla="*/ 242 h 254"/>
                <a:gd name="T2" fmla="*/ 229 w 254"/>
                <a:gd name="T3" fmla="*/ 242 h 254"/>
                <a:gd name="T4" fmla="*/ 241 w 254"/>
                <a:gd name="T5" fmla="*/ 254 h 254"/>
                <a:gd name="T6" fmla="*/ 254 w 254"/>
                <a:gd name="T7" fmla="*/ 242 h 254"/>
                <a:gd name="T8" fmla="*/ 253 w 254"/>
                <a:gd name="T9" fmla="*/ 242 h 254"/>
                <a:gd name="T10" fmla="*/ 13 w 254"/>
                <a:gd name="T11" fmla="*/ 1 h 254"/>
                <a:gd name="T12" fmla="*/ 12 w 254"/>
                <a:gd name="T13" fmla="*/ 0 h 254"/>
                <a:gd name="T14" fmla="*/ 0 w 254"/>
                <a:gd name="T15" fmla="*/ 13 h 254"/>
                <a:gd name="T16" fmla="*/ 12 w 254"/>
                <a:gd name="T17" fmla="*/ 25 h 254"/>
                <a:gd name="T18" fmla="*/ 12 w 254"/>
                <a:gd name="T19" fmla="*/ 25 h 254"/>
                <a:gd name="T20" fmla="*/ 229 w 254"/>
                <a:gd name="T21" fmla="*/ 24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nvGrpSpPr>
            <p:cNvPr id="59" name="Group 24">
              <a:extLst>
                <a:ext uri="{FF2B5EF4-FFF2-40B4-BE49-F238E27FC236}">
                  <a16:creationId xmlns:a16="http://schemas.microsoft.com/office/drawing/2014/main" id="{AFCA9AC4-BE8F-C014-F40A-A6F24284CFBA}"/>
                </a:ext>
              </a:extLst>
            </p:cNvPr>
            <p:cNvGrpSpPr/>
            <p:nvPr/>
          </p:nvGrpSpPr>
          <p:grpSpPr>
            <a:xfrm>
              <a:off x="-20638" y="1588"/>
              <a:ext cx="2955925" cy="2905125"/>
              <a:chOff x="-20638" y="1588"/>
              <a:chExt cx="2955925" cy="2905125"/>
            </a:xfrm>
            <a:grpFill/>
          </p:grpSpPr>
          <p:sp>
            <p:nvSpPr>
              <p:cNvPr id="60" name="Freeform 6">
                <a:extLst>
                  <a:ext uri="{FF2B5EF4-FFF2-40B4-BE49-F238E27FC236}">
                    <a16:creationId xmlns:a16="http://schemas.microsoft.com/office/drawing/2014/main" id="{7DE2E1E1-4E86-8375-A312-76CEF149CC92}"/>
                  </a:ext>
                </a:extLst>
              </p:cNvPr>
              <p:cNvSpPr>
                <a:spLocks noEditPoints="1"/>
              </p:cNvSpPr>
              <p:nvPr/>
            </p:nvSpPr>
            <p:spPr bwMode="auto">
              <a:xfrm>
                <a:off x="-20638" y="1588"/>
                <a:ext cx="2955925" cy="2905125"/>
              </a:xfrm>
              <a:custGeom>
                <a:avLst/>
                <a:gdLst>
                  <a:gd name="T0" fmla="*/ 227 w 785"/>
                  <a:gd name="T1" fmla="*/ 21 h 772"/>
                  <a:gd name="T2" fmla="*/ 176 w 785"/>
                  <a:gd name="T3" fmla="*/ 0 h 772"/>
                  <a:gd name="T4" fmla="*/ 148 w 785"/>
                  <a:gd name="T5" fmla="*/ 6 h 772"/>
                  <a:gd name="T6" fmla="*/ 103 w 785"/>
                  <a:gd name="T7" fmla="*/ 72 h 772"/>
                  <a:gd name="T8" fmla="*/ 103 w 785"/>
                  <a:gd name="T9" fmla="*/ 404 h 772"/>
                  <a:gd name="T10" fmla="*/ 28 w 785"/>
                  <a:gd name="T11" fmla="*/ 480 h 772"/>
                  <a:gd name="T12" fmla="*/ 28 w 785"/>
                  <a:gd name="T13" fmla="*/ 582 h 772"/>
                  <a:gd name="T14" fmla="*/ 197 w 785"/>
                  <a:gd name="T15" fmla="*/ 751 h 772"/>
                  <a:gd name="T16" fmla="*/ 248 w 785"/>
                  <a:gd name="T17" fmla="*/ 772 h 772"/>
                  <a:gd name="T18" fmla="*/ 299 w 785"/>
                  <a:gd name="T19" fmla="*/ 751 h 772"/>
                  <a:gd name="T20" fmla="*/ 375 w 785"/>
                  <a:gd name="T21" fmla="*/ 675 h 772"/>
                  <a:gd name="T22" fmla="*/ 707 w 785"/>
                  <a:gd name="T23" fmla="*/ 675 h 772"/>
                  <a:gd name="T24" fmla="*/ 773 w 785"/>
                  <a:gd name="T25" fmla="*/ 631 h 772"/>
                  <a:gd name="T26" fmla="*/ 758 w 785"/>
                  <a:gd name="T27" fmla="*/ 552 h 772"/>
                  <a:gd name="T28" fmla="*/ 227 w 785"/>
                  <a:gd name="T29" fmla="*/ 21 h 772"/>
                  <a:gd name="T30" fmla="*/ 341 w 785"/>
                  <a:gd name="T31" fmla="*/ 641 h 772"/>
                  <a:gd name="T32" fmla="*/ 265 w 785"/>
                  <a:gd name="T33" fmla="*/ 717 h 772"/>
                  <a:gd name="T34" fmla="*/ 248 w 785"/>
                  <a:gd name="T35" fmla="*/ 724 h 772"/>
                  <a:gd name="T36" fmla="*/ 231 w 785"/>
                  <a:gd name="T37" fmla="*/ 717 h 772"/>
                  <a:gd name="T38" fmla="*/ 62 w 785"/>
                  <a:gd name="T39" fmla="*/ 548 h 772"/>
                  <a:gd name="T40" fmla="*/ 55 w 785"/>
                  <a:gd name="T41" fmla="*/ 531 h 772"/>
                  <a:gd name="T42" fmla="*/ 62 w 785"/>
                  <a:gd name="T43" fmla="*/ 514 h 772"/>
                  <a:gd name="T44" fmla="*/ 138 w 785"/>
                  <a:gd name="T45" fmla="*/ 438 h 772"/>
                  <a:gd name="T46" fmla="*/ 138 w 785"/>
                  <a:gd name="T47" fmla="*/ 438 h 772"/>
                  <a:gd name="T48" fmla="*/ 341 w 785"/>
                  <a:gd name="T49" fmla="*/ 641 h 772"/>
                  <a:gd name="T50" fmla="*/ 341 w 785"/>
                  <a:gd name="T51" fmla="*/ 641 h 772"/>
                  <a:gd name="T52" fmla="*/ 375 w 785"/>
                  <a:gd name="T53" fmla="*/ 627 h 772"/>
                  <a:gd name="T54" fmla="*/ 364 w 785"/>
                  <a:gd name="T55" fmla="*/ 629 h 772"/>
                  <a:gd name="T56" fmla="*/ 150 w 785"/>
                  <a:gd name="T57" fmla="*/ 415 h 772"/>
                  <a:gd name="T58" fmla="*/ 152 w 785"/>
                  <a:gd name="T59" fmla="*/ 404 h 772"/>
                  <a:gd name="T60" fmla="*/ 152 w 785"/>
                  <a:gd name="T61" fmla="*/ 114 h 772"/>
                  <a:gd name="T62" fmla="*/ 665 w 785"/>
                  <a:gd name="T63" fmla="*/ 627 h 772"/>
                  <a:gd name="T64" fmla="*/ 375 w 785"/>
                  <a:gd name="T65" fmla="*/ 627 h 772"/>
                  <a:gd name="T66" fmla="*/ 729 w 785"/>
                  <a:gd name="T67" fmla="*/ 612 h 772"/>
                  <a:gd name="T68" fmla="*/ 707 w 785"/>
                  <a:gd name="T69" fmla="*/ 627 h 772"/>
                  <a:gd name="T70" fmla="*/ 699 w 785"/>
                  <a:gd name="T71" fmla="*/ 627 h 772"/>
                  <a:gd name="T72" fmla="*/ 152 w 785"/>
                  <a:gd name="T73" fmla="*/ 80 h 772"/>
                  <a:gd name="T74" fmla="*/ 152 w 785"/>
                  <a:gd name="T75" fmla="*/ 72 h 772"/>
                  <a:gd name="T76" fmla="*/ 167 w 785"/>
                  <a:gd name="T77" fmla="*/ 50 h 772"/>
                  <a:gd name="T78" fmla="*/ 176 w 785"/>
                  <a:gd name="T79" fmla="*/ 48 h 772"/>
                  <a:gd name="T80" fmla="*/ 193 w 785"/>
                  <a:gd name="T81" fmla="*/ 55 h 772"/>
                  <a:gd name="T82" fmla="*/ 724 w 785"/>
                  <a:gd name="T83" fmla="*/ 586 h 772"/>
                  <a:gd name="T84" fmla="*/ 729 w 785"/>
                  <a:gd name="T85" fmla="*/ 61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61" name="Freeform 7">
                <a:extLst>
                  <a:ext uri="{FF2B5EF4-FFF2-40B4-BE49-F238E27FC236}">
                    <a16:creationId xmlns:a16="http://schemas.microsoft.com/office/drawing/2014/main" id="{C7E122AE-E0FC-EF02-741A-9DAD57F42528}"/>
                  </a:ext>
                </a:extLst>
              </p:cNvPr>
              <p:cNvSpPr>
                <a:spLocks/>
              </p:cNvSpPr>
              <p:nvPr/>
            </p:nvSpPr>
            <p:spPr bwMode="auto">
              <a:xfrm>
                <a:off x="1549400" y="1588"/>
                <a:ext cx="1362075" cy="1362075"/>
              </a:xfrm>
              <a:custGeom>
                <a:avLst/>
                <a:gdLst>
                  <a:gd name="T0" fmla="*/ 24 w 362"/>
                  <a:gd name="T1" fmla="*/ 48 h 362"/>
                  <a:gd name="T2" fmla="*/ 24 w 362"/>
                  <a:gd name="T3" fmla="*/ 48 h 362"/>
                  <a:gd name="T4" fmla="*/ 314 w 362"/>
                  <a:gd name="T5" fmla="*/ 338 h 362"/>
                  <a:gd name="T6" fmla="*/ 314 w 362"/>
                  <a:gd name="T7" fmla="*/ 338 h 362"/>
                  <a:gd name="T8" fmla="*/ 338 w 362"/>
                  <a:gd name="T9" fmla="*/ 362 h 362"/>
                  <a:gd name="T10" fmla="*/ 362 w 362"/>
                  <a:gd name="T11" fmla="*/ 338 h 362"/>
                  <a:gd name="T12" fmla="*/ 362 w 362"/>
                  <a:gd name="T13" fmla="*/ 338 h 362"/>
                  <a:gd name="T14" fmla="*/ 25 w 362"/>
                  <a:gd name="T15" fmla="*/ 0 h 362"/>
                  <a:gd name="T16" fmla="*/ 24 w 362"/>
                  <a:gd name="T17" fmla="*/ 0 h 362"/>
                  <a:gd name="T18" fmla="*/ 0 w 362"/>
                  <a:gd name="T19" fmla="*/ 24 h 362"/>
                  <a:gd name="T20" fmla="*/ 24 w 362"/>
                  <a:gd name="T21" fmla="*/ 4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grpSp>
      <p:sp>
        <p:nvSpPr>
          <p:cNvPr id="64" name="Rectangle 63">
            <a:extLst>
              <a:ext uri="{FF2B5EF4-FFF2-40B4-BE49-F238E27FC236}">
                <a16:creationId xmlns:a16="http://schemas.microsoft.com/office/drawing/2014/main" id="{37792DE3-CE79-39D1-59C9-C7968DC4E3D6}"/>
              </a:ext>
            </a:extLst>
          </p:cNvPr>
          <p:cNvSpPr/>
          <p:nvPr/>
        </p:nvSpPr>
        <p:spPr>
          <a:xfrm>
            <a:off x="3391900" y="3912130"/>
            <a:ext cx="790773" cy="6515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66" name="Rectangle 65">
            <a:extLst>
              <a:ext uri="{FF2B5EF4-FFF2-40B4-BE49-F238E27FC236}">
                <a16:creationId xmlns:a16="http://schemas.microsoft.com/office/drawing/2014/main" id="{3AC87DCF-26EE-9544-B1D3-EAD3E49E178C}"/>
              </a:ext>
            </a:extLst>
          </p:cNvPr>
          <p:cNvSpPr/>
          <p:nvPr/>
        </p:nvSpPr>
        <p:spPr>
          <a:xfrm>
            <a:off x="4895943" y="2377339"/>
            <a:ext cx="790773" cy="790773"/>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grpSp>
        <p:nvGrpSpPr>
          <p:cNvPr id="72" name="Group 25">
            <a:extLst>
              <a:ext uri="{FF2B5EF4-FFF2-40B4-BE49-F238E27FC236}">
                <a16:creationId xmlns:a16="http://schemas.microsoft.com/office/drawing/2014/main" id="{43772F41-9365-422E-2AE0-4E90513BCBC7}"/>
              </a:ext>
            </a:extLst>
          </p:cNvPr>
          <p:cNvGrpSpPr/>
          <p:nvPr/>
        </p:nvGrpSpPr>
        <p:grpSpPr>
          <a:xfrm>
            <a:off x="5124685" y="2608945"/>
            <a:ext cx="333289" cy="327561"/>
            <a:chOff x="-20638" y="1588"/>
            <a:chExt cx="2955925" cy="2905125"/>
          </a:xfrm>
          <a:solidFill>
            <a:schemeClr val="bg1"/>
          </a:solidFill>
        </p:grpSpPr>
        <p:sp>
          <p:nvSpPr>
            <p:cNvPr id="68" name="Freeform 5">
              <a:extLst>
                <a:ext uri="{FF2B5EF4-FFF2-40B4-BE49-F238E27FC236}">
                  <a16:creationId xmlns:a16="http://schemas.microsoft.com/office/drawing/2014/main" id="{4A3A1A6A-BDFC-49B8-C38F-4D9B5DADC531}"/>
                </a:ext>
              </a:extLst>
            </p:cNvPr>
            <p:cNvSpPr>
              <a:spLocks/>
            </p:cNvSpPr>
            <p:nvPr/>
          </p:nvSpPr>
          <p:spPr bwMode="auto">
            <a:xfrm>
              <a:off x="1595438" y="363538"/>
              <a:ext cx="955675" cy="955675"/>
            </a:xfrm>
            <a:custGeom>
              <a:avLst/>
              <a:gdLst>
                <a:gd name="T0" fmla="*/ 229 w 254"/>
                <a:gd name="T1" fmla="*/ 242 h 254"/>
                <a:gd name="T2" fmla="*/ 229 w 254"/>
                <a:gd name="T3" fmla="*/ 242 h 254"/>
                <a:gd name="T4" fmla="*/ 241 w 254"/>
                <a:gd name="T5" fmla="*/ 254 h 254"/>
                <a:gd name="T6" fmla="*/ 254 w 254"/>
                <a:gd name="T7" fmla="*/ 242 h 254"/>
                <a:gd name="T8" fmla="*/ 253 w 254"/>
                <a:gd name="T9" fmla="*/ 242 h 254"/>
                <a:gd name="T10" fmla="*/ 13 w 254"/>
                <a:gd name="T11" fmla="*/ 1 h 254"/>
                <a:gd name="T12" fmla="*/ 12 w 254"/>
                <a:gd name="T13" fmla="*/ 0 h 254"/>
                <a:gd name="T14" fmla="*/ 0 w 254"/>
                <a:gd name="T15" fmla="*/ 13 h 254"/>
                <a:gd name="T16" fmla="*/ 12 w 254"/>
                <a:gd name="T17" fmla="*/ 25 h 254"/>
                <a:gd name="T18" fmla="*/ 12 w 254"/>
                <a:gd name="T19" fmla="*/ 25 h 254"/>
                <a:gd name="T20" fmla="*/ 229 w 254"/>
                <a:gd name="T21" fmla="*/ 24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nvGrpSpPr>
            <p:cNvPr id="69" name="Group 24">
              <a:extLst>
                <a:ext uri="{FF2B5EF4-FFF2-40B4-BE49-F238E27FC236}">
                  <a16:creationId xmlns:a16="http://schemas.microsoft.com/office/drawing/2014/main" id="{8BF98B22-DB9C-D401-A718-91F67C7120BF}"/>
                </a:ext>
              </a:extLst>
            </p:cNvPr>
            <p:cNvGrpSpPr/>
            <p:nvPr/>
          </p:nvGrpSpPr>
          <p:grpSpPr>
            <a:xfrm>
              <a:off x="-20638" y="1588"/>
              <a:ext cx="2955925" cy="2905125"/>
              <a:chOff x="-20638" y="1588"/>
              <a:chExt cx="2955925" cy="2905125"/>
            </a:xfrm>
            <a:grpFill/>
          </p:grpSpPr>
          <p:sp>
            <p:nvSpPr>
              <p:cNvPr id="70" name="Freeform 6">
                <a:extLst>
                  <a:ext uri="{FF2B5EF4-FFF2-40B4-BE49-F238E27FC236}">
                    <a16:creationId xmlns:a16="http://schemas.microsoft.com/office/drawing/2014/main" id="{07016944-B4D9-DCDC-C2F5-23BC816870BC}"/>
                  </a:ext>
                </a:extLst>
              </p:cNvPr>
              <p:cNvSpPr>
                <a:spLocks noEditPoints="1"/>
              </p:cNvSpPr>
              <p:nvPr/>
            </p:nvSpPr>
            <p:spPr bwMode="auto">
              <a:xfrm>
                <a:off x="-20638" y="1588"/>
                <a:ext cx="2955925" cy="2905125"/>
              </a:xfrm>
              <a:custGeom>
                <a:avLst/>
                <a:gdLst>
                  <a:gd name="T0" fmla="*/ 227 w 785"/>
                  <a:gd name="T1" fmla="*/ 21 h 772"/>
                  <a:gd name="T2" fmla="*/ 176 w 785"/>
                  <a:gd name="T3" fmla="*/ 0 h 772"/>
                  <a:gd name="T4" fmla="*/ 148 w 785"/>
                  <a:gd name="T5" fmla="*/ 6 h 772"/>
                  <a:gd name="T6" fmla="*/ 103 w 785"/>
                  <a:gd name="T7" fmla="*/ 72 h 772"/>
                  <a:gd name="T8" fmla="*/ 103 w 785"/>
                  <a:gd name="T9" fmla="*/ 404 h 772"/>
                  <a:gd name="T10" fmla="*/ 28 w 785"/>
                  <a:gd name="T11" fmla="*/ 480 h 772"/>
                  <a:gd name="T12" fmla="*/ 28 w 785"/>
                  <a:gd name="T13" fmla="*/ 582 h 772"/>
                  <a:gd name="T14" fmla="*/ 197 w 785"/>
                  <a:gd name="T15" fmla="*/ 751 h 772"/>
                  <a:gd name="T16" fmla="*/ 248 w 785"/>
                  <a:gd name="T17" fmla="*/ 772 h 772"/>
                  <a:gd name="T18" fmla="*/ 299 w 785"/>
                  <a:gd name="T19" fmla="*/ 751 h 772"/>
                  <a:gd name="T20" fmla="*/ 375 w 785"/>
                  <a:gd name="T21" fmla="*/ 675 h 772"/>
                  <a:gd name="T22" fmla="*/ 707 w 785"/>
                  <a:gd name="T23" fmla="*/ 675 h 772"/>
                  <a:gd name="T24" fmla="*/ 773 w 785"/>
                  <a:gd name="T25" fmla="*/ 631 h 772"/>
                  <a:gd name="T26" fmla="*/ 758 w 785"/>
                  <a:gd name="T27" fmla="*/ 552 h 772"/>
                  <a:gd name="T28" fmla="*/ 227 w 785"/>
                  <a:gd name="T29" fmla="*/ 21 h 772"/>
                  <a:gd name="T30" fmla="*/ 341 w 785"/>
                  <a:gd name="T31" fmla="*/ 641 h 772"/>
                  <a:gd name="T32" fmla="*/ 265 w 785"/>
                  <a:gd name="T33" fmla="*/ 717 h 772"/>
                  <a:gd name="T34" fmla="*/ 248 w 785"/>
                  <a:gd name="T35" fmla="*/ 724 h 772"/>
                  <a:gd name="T36" fmla="*/ 231 w 785"/>
                  <a:gd name="T37" fmla="*/ 717 h 772"/>
                  <a:gd name="T38" fmla="*/ 62 w 785"/>
                  <a:gd name="T39" fmla="*/ 548 h 772"/>
                  <a:gd name="T40" fmla="*/ 55 w 785"/>
                  <a:gd name="T41" fmla="*/ 531 h 772"/>
                  <a:gd name="T42" fmla="*/ 62 w 785"/>
                  <a:gd name="T43" fmla="*/ 514 h 772"/>
                  <a:gd name="T44" fmla="*/ 138 w 785"/>
                  <a:gd name="T45" fmla="*/ 438 h 772"/>
                  <a:gd name="T46" fmla="*/ 138 w 785"/>
                  <a:gd name="T47" fmla="*/ 438 h 772"/>
                  <a:gd name="T48" fmla="*/ 341 w 785"/>
                  <a:gd name="T49" fmla="*/ 641 h 772"/>
                  <a:gd name="T50" fmla="*/ 341 w 785"/>
                  <a:gd name="T51" fmla="*/ 641 h 772"/>
                  <a:gd name="T52" fmla="*/ 375 w 785"/>
                  <a:gd name="T53" fmla="*/ 627 h 772"/>
                  <a:gd name="T54" fmla="*/ 364 w 785"/>
                  <a:gd name="T55" fmla="*/ 629 h 772"/>
                  <a:gd name="T56" fmla="*/ 150 w 785"/>
                  <a:gd name="T57" fmla="*/ 415 h 772"/>
                  <a:gd name="T58" fmla="*/ 152 w 785"/>
                  <a:gd name="T59" fmla="*/ 404 h 772"/>
                  <a:gd name="T60" fmla="*/ 152 w 785"/>
                  <a:gd name="T61" fmla="*/ 114 h 772"/>
                  <a:gd name="T62" fmla="*/ 665 w 785"/>
                  <a:gd name="T63" fmla="*/ 627 h 772"/>
                  <a:gd name="T64" fmla="*/ 375 w 785"/>
                  <a:gd name="T65" fmla="*/ 627 h 772"/>
                  <a:gd name="T66" fmla="*/ 729 w 785"/>
                  <a:gd name="T67" fmla="*/ 612 h 772"/>
                  <a:gd name="T68" fmla="*/ 707 w 785"/>
                  <a:gd name="T69" fmla="*/ 627 h 772"/>
                  <a:gd name="T70" fmla="*/ 699 w 785"/>
                  <a:gd name="T71" fmla="*/ 627 h 772"/>
                  <a:gd name="T72" fmla="*/ 152 w 785"/>
                  <a:gd name="T73" fmla="*/ 80 h 772"/>
                  <a:gd name="T74" fmla="*/ 152 w 785"/>
                  <a:gd name="T75" fmla="*/ 72 h 772"/>
                  <a:gd name="T76" fmla="*/ 167 w 785"/>
                  <a:gd name="T77" fmla="*/ 50 h 772"/>
                  <a:gd name="T78" fmla="*/ 176 w 785"/>
                  <a:gd name="T79" fmla="*/ 48 h 772"/>
                  <a:gd name="T80" fmla="*/ 193 w 785"/>
                  <a:gd name="T81" fmla="*/ 55 h 772"/>
                  <a:gd name="T82" fmla="*/ 724 w 785"/>
                  <a:gd name="T83" fmla="*/ 586 h 772"/>
                  <a:gd name="T84" fmla="*/ 729 w 785"/>
                  <a:gd name="T85" fmla="*/ 61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71" name="Freeform 7">
                <a:extLst>
                  <a:ext uri="{FF2B5EF4-FFF2-40B4-BE49-F238E27FC236}">
                    <a16:creationId xmlns:a16="http://schemas.microsoft.com/office/drawing/2014/main" id="{FF8D0C75-2054-181D-D1FB-18D306F35473}"/>
                  </a:ext>
                </a:extLst>
              </p:cNvPr>
              <p:cNvSpPr>
                <a:spLocks/>
              </p:cNvSpPr>
              <p:nvPr/>
            </p:nvSpPr>
            <p:spPr bwMode="auto">
              <a:xfrm>
                <a:off x="1549400" y="1588"/>
                <a:ext cx="1362075" cy="1362075"/>
              </a:xfrm>
              <a:custGeom>
                <a:avLst/>
                <a:gdLst>
                  <a:gd name="T0" fmla="*/ 24 w 362"/>
                  <a:gd name="T1" fmla="*/ 48 h 362"/>
                  <a:gd name="T2" fmla="*/ 24 w 362"/>
                  <a:gd name="T3" fmla="*/ 48 h 362"/>
                  <a:gd name="T4" fmla="*/ 314 w 362"/>
                  <a:gd name="T5" fmla="*/ 338 h 362"/>
                  <a:gd name="T6" fmla="*/ 314 w 362"/>
                  <a:gd name="T7" fmla="*/ 338 h 362"/>
                  <a:gd name="T8" fmla="*/ 338 w 362"/>
                  <a:gd name="T9" fmla="*/ 362 h 362"/>
                  <a:gd name="T10" fmla="*/ 362 w 362"/>
                  <a:gd name="T11" fmla="*/ 338 h 362"/>
                  <a:gd name="T12" fmla="*/ 362 w 362"/>
                  <a:gd name="T13" fmla="*/ 338 h 362"/>
                  <a:gd name="T14" fmla="*/ 25 w 362"/>
                  <a:gd name="T15" fmla="*/ 0 h 362"/>
                  <a:gd name="T16" fmla="*/ 24 w 362"/>
                  <a:gd name="T17" fmla="*/ 0 h 362"/>
                  <a:gd name="T18" fmla="*/ 0 w 362"/>
                  <a:gd name="T19" fmla="*/ 24 h 362"/>
                  <a:gd name="T20" fmla="*/ 24 w 362"/>
                  <a:gd name="T21" fmla="*/ 4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grpSp>
      <p:sp>
        <p:nvSpPr>
          <p:cNvPr id="74" name="Rectangle 73">
            <a:extLst>
              <a:ext uri="{FF2B5EF4-FFF2-40B4-BE49-F238E27FC236}">
                <a16:creationId xmlns:a16="http://schemas.microsoft.com/office/drawing/2014/main" id="{173AA71D-1D27-0DFD-9036-BFEA75759F31}"/>
              </a:ext>
            </a:extLst>
          </p:cNvPr>
          <p:cNvSpPr/>
          <p:nvPr/>
        </p:nvSpPr>
        <p:spPr>
          <a:xfrm>
            <a:off x="4895943" y="3102959"/>
            <a:ext cx="790773" cy="6515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3" name="Straight Connector 26">
            <a:extLst>
              <a:ext uri="{FF2B5EF4-FFF2-40B4-BE49-F238E27FC236}">
                <a16:creationId xmlns:a16="http://schemas.microsoft.com/office/drawing/2014/main" id="{65869E03-2427-E2E6-4663-607CABA34E87}"/>
              </a:ext>
            </a:extLst>
          </p:cNvPr>
          <p:cNvCxnSpPr>
            <a:cxnSpLocks/>
          </p:cNvCxnSpPr>
          <p:nvPr/>
        </p:nvCxnSpPr>
        <p:spPr>
          <a:xfrm>
            <a:off x="4529578" y="4280766"/>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4" name="Oval 27">
            <a:extLst>
              <a:ext uri="{FF2B5EF4-FFF2-40B4-BE49-F238E27FC236}">
                <a16:creationId xmlns:a16="http://schemas.microsoft.com/office/drawing/2014/main" id="{DF220959-2A47-5444-AFA1-487C52946EFA}"/>
              </a:ext>
            </a:extLst>
          </p:cNvPr>
          <p:cNvSpPr/>
          <p:nvPr/>
        </p:nvSpPr>
        <p:spPr>
          <a:xfrm>
            <a:off x="4487157" y="4421975"/>
            <a:ext cx="84842" cy="84842"/>
          </a:xfrm>
          <a:prstGeom prst="ellipse">
            <a:avLst/>
          </a:prstGeom>
          <a:solidFill>
            <a:schemeClr val="accent3"/>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6" name="Straight Connector 28">
            <a:extLst>
              <a:ext uri="{FF2B5EF4-FFF2-40B4-BE49-F238E27FC236}">
                <a16:creationId xmlns:a16="http://schemas.microsoft.com/office/drawing/2014/main" id="{5253263B-FDD9-E578-4271-E4B63D8C25E7}"/>
              </a:ext>
            </a:extLst>
          </p:cNvPr>
          <p:cNvCxnSpPr>
            <a:cxnSpLocks/>
          </p:cNvCxnSpPr>
          <p:nvPr/>
        </p:nvCxnSpPr>
        <p:spPr>
          <a:xfrm>
            <a:off x="4526642" y="4469465"/>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C6F7B81B-BCE9-66D9-0F4F-C3C4F16E62E1}"/>
              </a:ext>
            </a:extLst>
          </p:cNvPr>
          <p:cNvSpPr txBox="1"/>
          <p:nvPr/>
        </p:nvSpPr>
        <p:spPr>
          <a:xfrm>
            <a:off x="5724071" y="4104821"/>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dirty="0">
                <a:solidFill>
                  <a:srgbClr val="736F6F"/>
                </a:solidFill>
                <a:latin typeface="Calibri"/>
              </a:rPr>
              <a:t>  </a:t>
            </a:r>
            <a:endParaRPr lang="fr-FR" sz="2400" b="1" dirty="0">
              <a:ea typeface="Calibri" panose="020F0502020204030204"/>
              <a:cs typeface="Calibri" panose="020F0502020204030204"/>
            </a:endParaRPr>
          </a:p>
          <a:p>
            <a:pPr algn="ctr"/>
            <a:endParaRPr lang="fr-FR"/>
          </a:p>
        </p:txBody>
      </p:sp>
      <p:sp>
        <p:nvSpPr>
          <p:cNvPr id="10" name="Rectangle 9">
            <a:extLst>
              <a:ext uri="{FF2B5EF4-FFF2-40B4-BE49-F238E27FC236}">
                <a16:creationId xmlns:a16="http://schemas.microsoft.com/office/drawing/2014/main" id="{66CA6CAF-2FED-39D5-C87B-F54192D1E257}"/>
              </a:ext>
            </a:extLst>
          </p:cNvPr>
          <p:cNvSpPr/>
          <p:nvPr/>
        </p:nvSpPr>
        <p:spPr>
          <a:xfrm>
            <a:off x="4895942" y="4091838"/>
            <a:ext cx="790773" cy="790773"/>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grpSp>
        <p:nvGrpSpPr>
          <p:cNvPr id="12" name="Group 25">
            <a:extLst>
              <a:ext uri="{FF2B5EF4-FFF2-40B4-BE49-F238E27FC236}">
                <a16:creationId xmlns:a16="http://schemas.microsoft.com/office/drawing/2014/main" id="{5918178A-6471-2D74-4196-079D28F16E94}"/>
              </a:ext>
            </a:extLst>
          </p:cNvPr>
          <p:cNvGrpSpPr/>
          <p:nvPr/>
        </p:nvGrpSpPr>
        <p:grpSpPr>
          <a:xfrm>
            <a:off x="5124684" y="4323444"/>
            <a:ext cx="333289" cy="327561"/>
            <a:chOff x="-20638" y="1588"/>
            <a:chExt cx="2955925" cy="2905125"/>
          </a:xfrm>
          <a:solidFill>
            <a:schemeClr val="bg1"/>
          </a:solidFill>
        </p:grpSpPr>
        <p:sp>
          <p:nvSpPr>
            <p:cNvPr id="14" name="Freeform 5">
              <a:extLst>
                <a:ext uri="{FF2B5EF4-FFF2-40B4-BE49-F238E27FC236}">
                  <a16:creationId xmlns:a16="http://schemas.microsoft.com/office/drawing/2014/main" id="{31A26658-6D54-5AA7-30C3-A3F96ED5D40A}"/>
                </a:ext>
              </a:extLst>
            </p:cNvPr>
            <p:cNvSpPr>
              <a:spLocks/>
            </p:cNvSpPr>
            <p:nvPr/>
          </p:nvSpPr>
          <p:spPr bwMode="auto">
            <a:xfrm>
              <a:off x="1595438" y="363538"/>
              <a:ext cx="955675" cy="955675"/>
            </a:xfrm>
            <a:custGeom>
              <a:avLst/>
              <a:gdLst>
                <a:gd name="T0" fmla="*/ 229 w 254"/>
                <a:gd name="T1" fmla="*/ 242 h 254"/>
                <a:gd name="T2" fmla="*/ 229 w 254"/>
                <a:gd name="T3" fmla="*/ 242 h 254"/>
                <a:gd name="T4" fmla="*/ 241 w 254"/>
                <a:gd name="T5" fmla="*/ 254 h 254"/>
                <a:gd name="T6" fmla="*/ 254 w 254"/>
                <a:gd name="T7" fmla="*/ 242 h 254"/>
                <a:gd name="T8" fmla="*/ 253 w 254"/>
                <a:gd name="T9" fmla="*/ 242 h 254"/>
                <a:gd name="T10" fmla="*/ 13 w 254"/>
                <a:gd name="T11" fmla="*/ 1 h 254"/>
                <a:gd name="T12" fmla="*/ 12 w 254"/>
                <a:gd name="T13" fmla="*/ 0 h 254"/>
                <a:gd name="T14" fmla="*/ 0 w 254"/>
                <a:gd name="T15" fmla="*/ 13 h 254"/>
                <a:gd name="T16" fmla="*/ 12 w 254"/>
                <a:gd name="T17" fmla="*/ 25 h 254"/>
                <a:gd name="T18" fmla="*/ 12 w 254"/>
                <a:gd name="T19" fmla="*/ 25 h 254"/>
                <a:gd name="T20" fmla="*/ 229 w 254"/>
                <a:gd name="T21" fmla="*/ 24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nvGrpSpPr>
            <p:cNvPr id="16" name="Group 24">
              <a:extLst>
                <a:ext uri="{FF2B5EF4-FFF2-40B4-BE49-F238E27FC236}">
                  <a16:creationId xmlns:a16="http://schemas.microsoft.com/office/drawing/2014/main" id="{F18266CD-B6DA-81CD-6969-AEFCACBFD2C5}"/>
                </a:ext>
              </a:extLst>
            </p:cNvPr>
            <p:cNvGrpSpPr/>
            <p:nvPr/>
          </p:nvGrpSpPr>
          <p:grpSpPr>
            <a:xfrm>
              <a:off x="-20638" y="1588"/>
              <a:ext cx="2955925" cy="2905125"/>
              <a:chOff x="-20638" y="1588"/>
              <a:chExt cx="2955925" cy="2905125"/>
            </a:xfrm>
            <a:grpFill/>
          </p:grpSpPr>
          <p:sp>
            <p:nvSpPr>
              <p:cNvPr id="18" name="Freeform 6">
                <a:extLst>
                  <a:ext uri="{FF2B5EF4-FFF2-40B4-BE49-F238E27FC236}">
                    <a16:creationId xmlns:a16="http://schemas.microsoft.com/office/drawing/2014/main" id="{003F83D3-BE92-2B2B-E404-77A0DBA46EBF}"/>
                  </a:ext>
                </a:extLst>
              </p:cNvPr>
              <p:cNvSpPr>
                <a:spLocks noEditPoints="1"/>
              </p:cNvSpPr>
              <p:nvPr/>
            </p:nvSpPr>
            <p:spPr bwMode="auto">
              <a:xfrm>
                <a:off x="-20638" y="1588"/>
                <a:ext cx="2955925" cy="2905125"/>
              </a:xfrm>
              <a:custGeom>
                <a:avLst/>
                <a:gdLst>
                  <a:gd name="T0" fmla="*/ 227 w 785"/>
                  <a:gd name="T1" fmla="*/ 21 h 772"/>
                  <a:gd name="T2" fmla="*/ 176 w 785"/>
                  <a:gd name="T3" fmla="*/ 0 h 772"/>
                  <a:gd name="T4" fmla="*/ 148 w 785"/>
                  <a:gd name="T5" fmla="*/ 6 h 772"/>
                  <a:gd name="T6" fmla="*/ 103 w 785"/>
                  <a:gd name="T7" fmla="*/ 72 h 772"/>
                  <a:gd name="T8" fmla="*/ 103 w 785"/>
                  <a:gd name="T9" fmla="*/ 404 h 772"/>
                  <a:gd name="T10" fmla="*/ 28 w 785"/>
                  <a:gd name="T11" fmla="*/ 480 h 772"/>
                  <a:gd name="T12" fmla="*/ 28 w 785"/>
                  <a:gd name="T13" fmla="*/ 582 h 772"/>
                  <a:gd name="T14" fmla="*/ 197 w 785"/>
                  <a:gd name="T15" fmla="*/ 751 h 772"/>
                  <a:gd name="T16" fmla="*/ 248 w 785"/>
                  <a:gd name="T17" fmla="*/ 772 h 772"/>
                  <a:gd name="T18" fmla="*/ 299 w 785"/>
                  <a:gd name="T19" fmla="*/ 751 h 772"/>
                  <a:gd name="T20" fmla="*/ 375 w 785"/>
                  <a:gd name="T21" fmla="*/ 675 h 772"/>
                  <a:gd name="T22" fmla="*/ 707 w 785"/>
                  <a:gd name="T23" fmla="*/ 675 h 772"/>
                  <a:gd name="T24" fmla="*/ 773 w 785"/>
                  <a:gd name="T25" fmla="*/ 631 h 772"/>
                  <a:gd name="T26" fmla="*/ 758 w 785"/>
                  <a:gd name="T27" fmla="*/ 552 h 772"/>
                  <a:gd name="T28" fmla="*/ 227 w 785"/>
                  <a:gd name="T29" fmla="*/ 21 h 772"/>
                  <a:gd name="T30" fmla="*/ 341 w 785"/>
                  <a:gd name="T31" fmla="*/ 641 h 772"/>
                  <a:gd name="T32" fmla="*/ 265 w 785"/>
                  <a:gd name="T33" fmla="*/ 717 h 772"/>
                  <a:gd name="T34" fmla="*/ 248 w 785"/>
                  <a:gd name="T35" fmla="*/ 724 h 772"/>
                  <a:gd name="T36" fmla="*/ 231 w 785"/>
                  <a:gd name="T37" fmla="*/ 717 h 772"/>
                  <a:gd name="T38" fmla="*/ 62 w 785"/>
                  <a:gd name="T39" fmla="*/ 548 h 772"/>
                  <a:gd name="T40" fmla="*/ 55 w 785"/>
                  <a:gd name="T41" fmla="*/ 531 h 772"/>
                  <a:gd name="T42" fmla="*/ 62 w 785"/>
                  <a:gd name="T43" fmla="*/ 514 h 772"/>
                  <a:gd name="T44" fmla="*/ 138 w 785"/>
                  <a:gd name="T45" fmla="*/ 438 h 772"/>
                  <a:gd name="T46" fmla="*/ 138 w 785"/>
                  <a:gd name="T47" fmla="*/ 438 h 772"/>
                  <a:gd name="T48" fmla="*/ 341 w 785"/>
                  <a:gd name="T49" fmla="*/ 641 h 772"/>
                  <a:gd name="T50" fmla="*/ 341 w 785"/>
                  <a:gd name="T51" fmla="*/ 641 h 772"/>
                  <a:gd name="T52" fmla="*/ 375 w 785"/>
                  <a:gd name="T53" fmla="*/ 627 h 772"/>
                  <a:gd name="T54" fmla="*/ 364 w 785"/>
                  <a:gd name="T55" fmla="*/ 629 h 772"/>
                  <a:gd name="T56" fmla="*/ 150 w 785"/>
                  <a:gd name="T57" fmla="*/ 415 h 772"/>
                  <a:gd name="T58" fmla="*/ 152 w 785"/>
                  <a:gd name="T59" fmla="*/ 404 h 772"/>
                  <a:gd name="T60" fmla="*/ 152 w 785"/>
                  <a:gd name="T61" fmla="*/ 114 h 772"/>
                  <a:gd name="T62" fmla="*/ 665 w 785"/>
                  <a:gd name="T63" fmla="*/ 627 h 772"/>
                  <a:gd name="T64" fmla="*/ 375 w 785"/>
                  <a:gd name="T65" fmla="*/ 627 h 772"/>
                  <a:gd name="T66" fmla="*/ 729 w 785"/>
                  <a:gd name="T67" fmla="*/ 612 h 772"/>
                  <a:gd name="T68" fmla="*/ 707 w 785"/>
                  <a:gd name="T69" fmla="*/ 627 h 772"/>
                  <a:gd name="T70" fmla="*/ 699 w 785"/>
                  <a:gd name="T71" fmla="*/ 627 h 772"/>
                  <a:gd name="T72" fmla="*/ 152 w 785"/>
                  <a:gd name="T73" fmla="*/ 80 h 772"/>
                  <a:gd name="T74" fmla="*/ 152 w 785"/>
                  <a:gd name="T75" fmla="*/ 72 h 772"/>
                  <a:gd name="T76" fmla="*/ 167 w 785"/>
                  <a:gd name="T77" fmla="*/ 50 h 772"/>
                  <a:gd name="T78" fmla="*/ 176 w 785"/>
                  <a:gd name="T79" fmla="*/ 48 h 772"/>
                  <a:gd name="T80" fmla="*/ 193 w 785"/>
                  <a:gd name="T81" fmla="*/ 55 h 772"/>
                  <a:gd name="T82" fmla="*/ 724 w 785"/>
                  <a:gd name="T83" fmla="*/ 586 h 772"/>
                  <a:gd name="T84" fmla="*/ 729 w 785"/>
                  <a:gd name="T85" fmla="*/ 61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20" name="Freeform 7">
                <a:extLst>
                  <a:ext uri="{FF2B5EF4-FFF2-40B4-BE49-F238E27FC236}">
                    <a16:creationId xmlns:a16="http://schemas.microsoft.com/office/drawing/2014/main" id="{79D198FE-7DB1-9DB8-8066-4064430914F5}"/>
                  </a:ext>
                </a:extLst>
              </p:cNvPr>
              <p:cNvSpPr>
                <a:spLocks/>
              </p:cNvSpPr>
              <p:nvPr/>
            </p:nvSpPr>
            <p:spPr bwMode="auto">
              <a:xfrm>
                <a:off x="1549400" y="1588"/>
                <a:ext cx="1362075" cy="1362075"/>
              </a:xfrm>
              <a:custGeom>
                <a:avLst/>
                <a:gdLst>
                  <a:gd name="T0" fmla="*/ 24 w 362"/>
                  <a:gd name="T1" fmla="*/ 48 h 362"/>
                  <a:gd name="T2" fmla="*/ 24 w 362"/>
                  <a:gd name="T3" fmla="*/ 48 h 362"/>
                  <a:gd name="T4" fmla="*/ 314 w 362"/>
                  <a:gd name="T5" fmla="*/ 338 h 362"/>
                  <a:gd name="T6" fmla="*/ 314 w 362"/>
                  <a:gd name="T7" fmla="*/ 338 h 362"/>
                  <a:gd name="T8" fmla="*/ 338 w 362"/>
                  <a:gd name="T9" fmla="*/ 362 h 362"/>
                  <a:gd name="T10" fmla="*/ 362 w 362"/>
                  <a:gd name="T11" fmla="*/ 338 h 362"/>
                  <a:gd name="T12" fmla="*/ 362 w 362"/>
                  <a:gd name="T13" fmla="*/ 338 h 362"/>
                  <a:gd name="T14" fmla="*/ 25 w 362"/>
                  <a:gd name="T15" fmla="*/ 0 h 362"/>
                  <a:gd name="T16" fmla="*/ 24 w 362"/>
                  <a:gd name="T17" fmla="*/ 0 h 362"/>
                  <a:gd name="T18" fmla="*/ 0 w 362"/>
                  <a:gd name="T19" fmla="*/ 24 h 362"/>
                  <a:gd name="T20" fmla="*/ 24 w 362"/>
                  <a:gd name="T21" fmla="*/ 4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grpSp>
      <p:sp>
        <p:nvSpPr>
          <p:cNvPr id="22" name="Rectangle 21">
            <a:extLst>
              <a:ext uri="{FF2B5EF4-FFF2-40B4-BE49-F238E27FC236}">
                <a16:creationId xmlns:a16="http://schemas.microsoft.com/office/drawing/2014/main" id="{F5C66FEC-04D0-AEF9-7D4A-7793BCBFFB0B}"/>
              </a:ext>
            </a:extLst>
          </p:cNvPr>
          <p:cNvSpPr/>
          <p:nvPr/>
        </p:nvSpPr>
        <p:spPr>
          <a:xfrm>
            <a:off x="4895942" y="4817458"/>
            <a:ext cx="790773" cy="6515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24" name="ZoneTexte 23">
            <a:extLst>
              <a:ext uri="{FF2B5EF4-FFF2-40B4-BE49-F238E27FC236}">
                <a16:creationId xmlns:a16="http://schemas.microsoft.com/office/drawing/2014/main" id="{58584869-817F-6848-73E3-FE2ACD3CDA70}"/>
              </a:ext>
            </a:extLst>
          </p:cNvPr>
          <p:cNvSpPr txBox="1"/>
          <p:nvPr/>
        </p:nvSpPr>
        <p:spPr>
          <a:xfrm>
            <a:off x="5724686" y="4102208"/>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a:solidFill>
                  <a:srgbClr val="736F6F"/>
                </a:solidFill>
                <a:latin typeface="Calibri"/>
              </a:rPr>
              <a:t>Avantages</a:t>
            </a:r>
            <a:r>
              <a:rPr lang="en-US" sz="2400" b="1" baseline="0">
                <a:latin typeface="Calibri"/>
              </a:rPr>
              <a:t>​</a:t>
            </a:r>
            <a:endParaRPr lang="fr-FR"/>
          </a:p>
          <a:p>
            <a:pPr algn="ctr"/>
            <a:endParaRPr lang="fr-FR"/>
          </a:p>
        </p:txBody>
      </p:sp>
      <p:sp>
        <p:nvSpPr>
          <p:cNvPr id="25" name="ZoneTexte 24">
            <a:extLst>
              <a:ext uri="{FF2B5EF4-FFF2-40B4-BE49-F238E27FC236}">
                <a16:creationId xmlns:a16="http://schemas.microsoft.com/office/drawing/2014/main" id="{3DC40076-FFF1-7761-FED2-833216F23DC5}"/>
              </a:ext>
            </a:extLst>
          </p:cNvPr>
          <p:cNvSpPr txBox="1"/>
          <p:nvPr/>
        </p:nvSpPr>
        <p:spPr>
          <a:xfrm>
            <a:off x="1065508" y="3056071"/>
            <a:ext cx="4572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bg2">
                    <a:lumMod val="49000"/>
                  </a:schemeClr>
                </a:solidFill>
              </a:rPr>
              <a:t>Qui </a:t>
            </a:r>
            <a:r>
              <a:rPr lang="en-US" sz="2400" b="1" dirty="0" err="1">
                <a:solidFill>
                  <a:schemeClr val="bg2">
                    <a:lumMod val="49000"/>
                  </a:schemeClr>
                </a:solidFill>
              </a:rPr>
              <a:t>peut</a:t>
            </a:r>
            <a:r>
              <a:rPr lang="en-US" sz="2400" b="1" dirty="0">
                <a:solidFill>
                  <a:schemeClr val="bg2">
                    <a:lumMod val="49000"/>
                  </a:schemeClr>
                </a:solidFill>
              </a:rPr>
              <a:t> </a:t>
            </a:r>
            <a:r>
              <a:rPr lang="en-US" sz="2400" b="1" dirty="0" err="1">
                <a:solidFill>
                  <a:schemeClr val="bg2">
                    <a:lumMod val="49000"/>
                  </a:schemeClr>
                </a:solidFill>
              </a:rPr>
              <a:t>utiliser</a:t>
            </a:r>
            <a:endParaRPr lang="en-US" sz="2400" b="1" dirty="0">
              <a:solidFill>
                <a:schemeClr val="bg2">
                  <a:lumMod val="49000"/>
                </a:schemeClr>
              </a:solidFill>
              <a:ea typeface="Calibri"/>
              <a:cs typeface="Calibri"/>
            </a:endParaRPr>
          </a:p>
          <a:p>
            <a:r>
              <a:rPr lang="en-US" sz="2400" b="1" dirty="0">
                <a:solidFill>
                  <a:schemeClr val="bg2">
                    <a:lumMod val="49000"/>
                  </a:schemeClr>
                </a:solidFill>
              </a:rPr>
              <a:t> WordPress</a:t>
            </a:r>
            <a:endParaRPr lang="en-US" sz="2400" b="1">
              <a:solidFill>
                <a:schemeClr val="bg2">
                  <a:lumMod val="49000"/>
                </a:schemeClr>
              </a:solidFill>
              <a:ea typeface="Calibri"/>
              <a:cs typeface="Calibri"/>
            </a:endParaRPr>
          </a:p>
          <a:p>
            <a:pPr algn="ctr"/>
            <a:endParaRPr lang="fr-FR"/>
          </a:p>
        </p:txBody>
      </p:sp>
    </p:spTree>
    <p:extLst>
      <p:ext uri="{BB962C8B-B14F-4D97-AF65-F5344CB8AC3E}">
        <p14:creationId xmlns:p14="http://schemas.microsoft.com/office/powerpoint/2010/main" val="4128660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9F03EF2-6003-C03F-6B93-CB2E4B08DF7D}"/>
              </a:ext>
            </a:extLst>
          </p:cNvPr>
          <p:cNvSpPr/>
          <p:nvPr/>
        </p:nvSpPr>
        <p:spPr>
          <a:xfrm>
            <a:off x="448129" y="311331"/>
            <a:ext cx="8229600" cy="54864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err="1">
                <a:solidFill>
                  <a:srgbClr val="4BC8E8"/>
                </a:solidFill>
                <a:latin typeface="Calibri"/>
                <a:ea typeface="Calibri"/>
                <a:cs typeface="Calibri"/>
              </a:rPr>
              <a:t>Définition</a:t>
            </a:r>
            <a:r>
              <a:rPr lang="en-US" sz="2600" b="1">
                <a:solidFill>
                  <a:srgbClr val="FFFFFF"/>
                </a:solidFill>
                <a:latin typeface="Calibri"/>
                <a:ea typeface="Calibri"/>
                <a:cs typeface="Calibri"/>
              </a:rPr>
              <a:t> </a:t>
            </a:r>
            <a:r>
              <a:rPr lang="en-US" sz="2600" b="1">
                <a:latin typeface="Calibri"/>
                <a:ea typeface="Calibri"/>
                <a:cs typeface="Calibri"/>
              </a:rPr>
              <a:t>d'un CMS</a:t>
            </a:r>
            <a:endParaRPr lang="en-US" sz="2600">
              <a:latin typeface="Calibri"/>
              <a:ea typeface="Calibri"/>
              <a:cs typeface="Calibri"/>
            </a:endParaRPr>
          </a:p>
        </p:txBody>
      </p:sp>
      <p:sp>
        <p:nvSpPr>
          <p:cNvPr id="3" name="Text 3">
            <a:extLst>
              <a:ext uri="{FF2B5EF4-FFF2-40B4-BE49-F238E27FC236}">
                <a16:creationId xmlns:a16="http://schemas.microsoft.com/office/drawing/2014/main" id="{C7206DA6-E834-B181-0B64-BF4957126C22}"/>
              </a:ext>
            </a:extLst>
          </p:cNvPr>
          <p:cNvSpPr/>
          <p:nvPr/>
        </p:nvSpPr>
        <p:spPr>
          <a:xfrm>
            <a:off x="591648" y="864728"/>
            <a:ext cx="7863840" cy="5029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a:solidFill>
                  <a:srgbClr val="4BC8E8"/>
                </a:solidFill>
                <a:latin typeface="Calibri"/>
                <a:ea typeface="Calibri"/>
                <a:cs typeface="Calibri"/>
              </a:rPr>
              <a:t>CMS</a:t>
            </a:r>
            <a:r>
              <a:rPr lang="en-US" sz="1600">
                <a:solidFill>
                  <a:srgbClr val="FFFFFF"/>
                </a:solidFill>
                <a:latin typeface="Calibri"/>
                <a:ea typeface="Calibri"/>
                <a:cs typeface="Calibri"/>
              </a:rPr>
              <a:t> </a:t>
            </a:r>
            <a:r>
              <a:rPr lang="en-US" sz="1600">
                <a:latin typeface="Calibri"/>
                <a:ea typeface="Calibri"/>
                <a:cs typeface="Calibri"/>
              </a:rPr>
              <a:t> =  Content Management System</a:t>
            </a:r>
            <a:r>
              <a:rPr lang="en-US" sz="1600">
                <a:solidFill>
                  <a:srgbClr val="8899AA"/>
                </a:solidFill>
                <a:latin typeface="Calibri"/>
                <a:ea typeface="Calibri"/>
                <a:cs typeface="Calibri"/>
              </a:rPr>
              <a:t>   ·   </a:t>
            </a:r>
            <a:r>
              <a:rPr lang="en-US" sz="1600" i="1">
                <a:solidFill>
                  <a:srgbClr val="8899AA"/>
                </a:solidFill>
                <a:latin typeface="Calibri"/>
                <a:ea typeface="Calibri"/>
                <a:cs typeface="Calibri"/>
              </a:rPr>
              <a:t>Système de Gestion de </a:t>
            </a:r>
            <a:r>
              <a:rPr lang="en-US" sz="1600" i="1" err="1">
                <a:solidFill>
                  <a:srgbClr val="8899AA"/>
                </a:solidFill>
                <a:latin typeface="Calibri"/>
                <a:ea typeface="Calibri"/>
                <a:cs typeface="Calibri"/>
              </a:rPr>
              <a:t>Contenu</a:t>
            </a:r>
            <a:endParaRPr lang="en-US" sz="1600" err="1">
              <a:latin typeface="Calibri"/>
              <a:ea typeface="Calibri"/>
              <a:cs typeface="Calibri"/>
            </a:endParaRPr>
          </a:p>
        </p:txBody>
      </p:sp>
      <p:sp>
        <p:nvSpPr>
          <p:cNvPr id="4" name="Text 5">
            <a:extLst>
              <a:ext uri="{FF2B5EF4-FFF2-40B4-BE49-F238E27FC236}">
                <a16:creationId xmlns:a16="http://schemas.microsoft.com/office/drawing/2014/main" id="{61752628-BADF-6CCA-9F94-394B57852C11}"/>
              </a:ext>
            </a:extLst>
          </p:cNvPr>
          <p:cNvSpPr/>
          <p:nvPr/>
        </p:nvSpPr>
        <p:spPr>
          <a:xfrm>
            <a:off x="588936" y="1281400"/>
            <a:ext cx="777240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err="1">
                <a:latin typeface="Calibri"/>
                <a:ea typeface="Calibri"/>
                <a:cs typeface="Calibri"/>
              </a:rPr>
              <a:t>Créer</a:t>
            </a:r>
            <a:r>
              <a:rPr lang="en-US" sz="1400" b="1">
                <a:latin typeface="Calibri"/>
                <a:ea typeface="Calibri"/>
                <a:cs typeface="Calibri"/>
              </a:rPr>
              <a:t>, modifier et </a:t>
            </a:r>
            <a:r>
              <a:rPr lang="en-US" sz="1400" b="1" err="1">
                <a:latin typeface="Calibri"/>
                <a:ea typeface="Calibri"/>
                <a:cs typeface="Calibri"/>
              </a:rPr>
              <a:t>publier</a:t>
            </a:r>
            <a:r>
              <a:rPr lang="en-US" sz="1400" b="1">
                <a:latin typeface="Calibri"/>
                <a:ea typeface="Calibri"/>
                <a:cs typeface="Calibri"/>
              </a:rPr>
              <a:t> du </a:t>
            </a:r>
            <a:r>
              <a:rPr lang="en-US" sz="1400" b="1" err="1">
                <a:latin typeface="Calibri"/>
                <a:ea typeface="Calibri"/>
                <a:cs typeface="Calibri"/>
              </a:rPr>
              <a:t>contenu</a:t>
            </a:r>
            <a:r>
              <a:rPr lang="en-US" sz="1400" b="1">
                <a:latin typeface="Calibri"/>
                <a:ea typeface="Calibri"/>
                <a:cs typeface="Calibri"/>
              </a:rPr>
              <a:t> web</a:t>
            </a:r>
            <a:endParaRPr lang="en-US" sz="1400">
              <a:latin typeface="Calibri"/>
              <a:ea typeface="Calibri"/>
              <a:cs typeface="Calibri"/>
            </a:endParaRPr>
          </a:p>
        </p:txBody>
      </p:sp>
      <p:sp>
        <p:nvSpPr>
          <p:cNvPr id="6" name="Text 8">
            <a:extLst>
              <a:ext uri="{FF2B5EF4-FFF2-40B4-BE49-F238E27FC236}">
                <a16:creationId xmlns:a16="http://schemas.microsoft.com/office/drawing/2014/main" id="{115C6408-9B62-A9F5-88D3-2B3A6D561EF9}"/>
              </a:ext>
            </a:extLst>
          </p:cNvPr>
          <p:cNvSpPr/>
          <p:nvPr/>
        </p:nvSpPr>
        <p:spPr>
          <a:xfrm>
            <a:off x="588936" y="1551140"/>
            <a:ext cx="777240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err="1">
                <a:latin typeface="Calibri"/>
                <a:ea typeface="Calibri"/>
                <a:cs typeface="Calibri"/>
              </a:rPr>
              <a:t>Sépare</a:t>
            </a:r>
            <a:r>
              <a:rPr lang="en-US" sz="1400" b="1">
                <a:latin typeface="Calibri"/>
                <a:ea typeface="Calibri"/>
                <a:cs typeface="Calibri"/>
              </a:rPr>
              <a:t> le fond (</a:t>
            </a:r>
            <a:r>
              <a:rPr lang="en-US" sz="1400" b="1" err="1">
                <a:latin typeface="Calibri"/>
                <a:ea typeface="Calibri"/>
                <a:cs typeface="Calibri"/>
              </a:rPr>
              <a:t>contenu</a:t>
            </a:r>
            <a:r>
              <a:rPr lang="en-US" sz="1400" b="1">
                <a:latin typeface="Calibri"/>
                <a:ea typeface="Calibri"/>
                <a:cs typeface="Calibri"/>
              </a:rPr>
              <a:t>) de la </a:t>
            </a:r>
            <a:r>
              <a:rPr lang="en-US" sz="1400" b="1" err="1">
                <a:latin typeface="Calibri"/>
                <a:ea typeface="Calibri"/>
                <a:cs typeface="Calibri"/>
              </a:rPr>
              <a:t>forme</a:t>
            </a:r>
            <a:endParaRPr lang="en-US" sz="1400" err="1">
              <a:latin typeface="Calibri"/>
              <a:ea typeface="Calibri"/>
              <a:cs typeface="Calibri"/>
            </a:endParaRPr>
          </a:p>
        </p:txBody>
      </p:sp>
      <p:sp>
        <p:nvSpPr>
          <p:cNvPr id="8" name="Text 11">
            <a:extLst>
              <a:ext uri="{FF2B5EF4-FFF2-40B4-BE49-F238E27FC236}">
                <a16:creationId xmlns:a16="http://schemas.microsoft.com/office/drawing/2014/main" id="{DEB64DE9-29CC-2062-8839-BCEC400207A9}"/>
              </a:ext>
            </a:extLst>
          </p:cNvPr>
          <p:cNvSpPr/>
          <p:nvPr/>
        </p:nvSpPr>
        <p:spPr>
          <a:xfrm>
            <a:off x="588936" y="1823474"/>
            <a:ext cx="777240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400" b="1">
              <a:latin typeface="Calibri"/>
              <a:ea typeface="Calibri"/>
              <a:cs typeface="Calibri"/>
            </a:endParaRPr>
          </a:p>
        </p:txBody>
      </p:sp>
      <p:sp>
        <p:nvSpPr>
          <p:cNvPr id="10" name="Shape 3">
            <a:extLst>
              <a:ext uri="{FF2B5EF4-FFF2-40B4-BE49-F238E27FC236}">
                <a16:creationId xmlns:a16="http://schemas.microsoft.com/office/drawing/2014/main" id="{2D7DCBFD-08D5-B51E-9E66-3BEF2554C0B4}"/>
              </a:ext>
            </a:extLst>
          </p:cNvPr>
          <p:cNvSpPr/>
          <p:nvPr/>
        </p:nvSpPr>
        <p:spPr>
          <a:xfrm>
            <a:off x="590215" y="2573840"/>
            <a:ext cx="3657600" cy="0"/>
          </a:xfrm>
          <a:prstGeom prst="line">
            <a:avLst/>
          </a:prstGeom>
          <a:noFill/>
          <a:ln w="31750">
            <a:solidFill>
              <a:srgbClr val="21A0D2"/>
            </a:solidFill>
            <a:prstDash val="solid"/>
          </a:ln>
        </p:spPr>
        <p:txBody>
          <a:bodyPr/>
          <a:lstStyle/>
          <a:p>
            <a:endParaRPr lang="fr-FR"/>
          </a:p>
        </p:txBody>
      </p:sp>
      <p:sp>
        <p:nvSpPr>
          <p:cNvPr id="11" name="ZoneTexte 10">
            <a:extLst>
              <a:ext uri="{FF2B5EF4-FFF2-40B4-BE49-F238E27FC236}">
                <a16:creationId xmlns:a16="http://schemas.microsoft.com/office/drawing/2014/main" id="{C3C9BCC4-6D30-C729-0FAB-E388C0360A69}"/>
              </a:ext>
            </a:extLst>
          </p:cNvPr>
          <p:cNvSpPr txBox="1"/>
          <p:nvPr/>
        </p:nvSpPr>
        <p:spPr>
          <a:xfrm>
            <a:off x="590873" y="2097461"/>
            <a:ext cx="4572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baseline="0" err="1">
                <a:solidFill>
                  <a:srgbClr val="4BC8E8"/>
                </a:solidFill>
                <a:latin typeface="Calibri"/>
              </a:rPr>
              <a:t>Définition</a:t>
            </a:r>
            <a:r>
              <a:rPr lang="en-US" sz="2600" b="1" baseline="0">
                <a:solidFill>
                  <a:srgbClr val="FFFFFF"/>
                </a:solidFill>
                <a:latin typeface="Calibri"/>
              </a:rPr>
              <a:t> </a:t>
            </a:r>
            <a:r>
              <a:rPr lang="en-US" sz="2600" b="1">
                <a:latin typeface="Calibri"/>
              </a:rPr>
              <a:t>de </a:t>
            </a:r>
            <a:r>
              <a:rPr lang="en-US" sz="2600" b="1">
                <a:latin typeface="Calibri"/>
                <a:ea typeface="Calibri"/>
                <a:cs typeface="Calibri"/>
              </a:rPr>
              <a:t>WordPress</a:t>
            </a:r>
            <a:endParaRPr lang="fr-FR"/>
          </a:p>
          <a:p>
            <a:pPr algn="ctr"/>
            <a:endParaRPr lang="fr-FR"/>
          </a:p>
        </p:txBody>
      </p:sp>
      <p:sp>
        <p:nvSpPr>
          <p:cNvPr id="12" name="Shape 3">
            <a:extLst>
              <a:ext uri="{FF2B5EF4-FFF2-40B4-BE49-F238E27FC236}">
                <a16:creationId xmlns:a16="http://schemas.microsoft.com/office/drawing/2014/main" id="{BB0187D5-8645-2A3F-4260-65949B8AFE88}"/>
              </a:ext>
            </a:extLst>
          </p:cNvPr>
          <p:cNvSpPr/>
          <p:nvPr/>
        </p:nvSpPr>
        <p:spPr>
          <a:xfrm>
            <a:off x="457199" y="762129"/>
            <a:ext cx="3657600" cy="0"/>
          </a:xfrm>
          <a:prstGeom prst="line">
            <a:avLst/>
          </a:prstGeom>
          <a:noFill/>
          <a:ln w="31750">
            <a:solidFill>
              <a:srgbClr val="21A0D2"/>
            </a:solidFill>
            <a:prstDash val="solid"/>
          </a:ln>
        </p:spPr>
        <p:txBody>
          <a:bodyPr/>
          <a:lstStyle/>
          <a:p>
            <a:endParaRPr lang="fr-FR"/>
          </a:p>
        </p:txBody>
      </p:sp>
      <p:sp>
        <p:nvSpPr>
          <p:cNvPr id="14" name="ZoneTexte 13">
            <a:extLst>
              <a:ext uri="{FF2B5EF4-FFF2-40B4-BE49-F238E27FC236}">
                <a16:creationId xmlns:a16="http://schemas.microsoft.com/office/drawing/2014/main" id="{9DA4F30C-5E3C-6EC6-5D89-32F10BFA7A4F}"/>
              </a:ext>
            </a:extLst>
          </p:cNvPr>
          <p:cNvSpPr txBox="1"/>
          <p:nvPr/>
        </p:nvSpPr>
        <p:spPr>
          <a:xfrm>
            <a:off x="582224" y="2694561"/>
            <a:ext cx="6137224"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Source Sans Pro"/>
                <a:ea typeface="Source Sans Pro"/>
                <a:cs typeface="Source Sans Pro"/>
              </a:rPr>
              <a:t> </a:t>
            </a:r>
            <a:r>
              <a:rPr lang="en-US" sz="1600">
                <a:ea typeface="+mn-lt"/>
                <a:cs typeface="+mn-lt"/>
              </a:rPr>
              <a:t>WordPress est </a:t>
            </a:r>
            <a:r>
              <a:rPr lang="en-US" sz="1600" err="1">
                <a:ea typeface="+mn-lt"/>
                <a:cs typeface="+mn-lt"/>
              </a:rPr>
              <a:t>un </a:t>
            </a:r>
            <a:r>
              <a:rPr lang="en-US" sz="1600" b="1" err="1">
                <a:ea typeface="+mn-lt"/>
                <a:cs typeface="+mn-lt"/>
              </a:rPr>
              <a:t>CMS</a:t>
            </a:r>
            <a:r>
              <a:rPr lang="en-US" sz="1600" b="1">
                <a:ea typeface="+mn-lt"/>
                <a:cs typeface="+mn-lt"/>
              </a:rPr>
              <a:t> (Content Management System)</a:t>
            </a:r>
            <a:r>
              <a:rPr lang="en-US" sz="1600">
                <a:ea typeface="+mn-lt"/>
                <a:cs typeface="+mn-lt"/>
              </a:rPr>
              <a:t> libre et open source, </a:t>
            </a:r>
            <a:r>
              <a:rPr lang="en-US" sz="1600" err="1">
                <a:ea typeface="+mn-lt"/>
                <a:cs typeface="+mn-lt"/>
              </a:rPr>
              <a:t>développé</a:t>
            </a:r>
            <a:r>
              <a:rPr lang="en-US" sz="1600">
                <a:ea typeface="+mn-lt"/>
                <a:cs typeface="+mn-lt"/>
              </a:rPr>
              <a:t> </a:t>
            </a:r>
            <a:r>
              <a:rPr lang="en-US" sz="1600" err="1">
                <a:ea typeface="+mn-lt"/>
                <a:cs typeface="+mn-lt"/>
              </a:rPr>
              <a:t>principalement</a:t>
            </a:r>
            <a:r>
              <a:rPr lang="en-US" sz="1600">
                <a:ea typeface="+mn-lt"/>
                <a:cs typeface="+mn-lt"/>
              </a:rPr>
              <a:t> </a:t>
            </a:r>
            <a:r>
              <a:rPr lang="en-US" sz="1600" err="1">
                <a:ea typeface="+mn-lt"/>
                <a:cs typeface="+mn-lt"/>
              </a:rPr>
              <a:t>en</a:t>
            </a:r>
            <a:r>
              <a:rPr lang="en-US" sz="1600">
                <a:ea typeface="+mn-lt"/>
                <a:cs typeface="+mn-lt"/>
              </a:rPr>
              <a:t> </a:t>
            </a:r>
            <a:r>
              <a:rPr lang="en-US" sz="1600" b="1">
                <a:ea typeface="+mn-lt"/>
                <a:cs typeface="+mn-lt"/>
              </a:rPr>
              <a:t>PHP</a:t>
            </a:r>
            <a:r>
              <a:rPr lang="en-US" sz="1600">
                <a:ea typeface="+mn-lt"/>
                <a:cs typeface="+mn-lt"/>
              </a:rPr>
              <a:t>, </a:t>
            </a:r>
            <a:r>
              <a:rPr lang="en-US" sz="1600" err="1">
                <a:ea typeface="+mn-lt"/>
                <a:cs typeface="+mn-lt"/>
              </a:rPr>
              <a:t>utilisant</a:t>
            </a:r>
            <a:r>
              <a:rPr lang="en-US" sz="1600">
                <a:ea typeface="+mn-lt"/>
                <a:cs typeface="+mn-lt"/>
              </a:rPr>
              <a:t> </a:t>
            </a:r>
            <a:r>
              <a:rPr lang="en-US" sz="1600" err="1">
                <a:ea typeface="+mn-lt"/>
                <a:cs typeface="+mn-lt"/>
              </a:rPr>
              <a:t>une</a:t>
            </a:r>
            <a:r>
              <a:rPr lang="en-US" sz="1600">
                <a:ea typeface="+mn-lt"/>
                <a:cs typeface="+mn-lt"/>
              </a:rPr>
              <a:t> base de données </a:t>
            </a:r>
            <a:r>
              <a:rPr lang="en-US" sz="1600" err="1">
                <a:ea typeface="+mn-lt"/>
                <a:cs typeface="+mn-lt"/>
              </a:rPr>
              <a:t>comme</a:t>
            </a:r>
            <a:r>
              <a:rPr lang="en-US" sz="1600">
                <a:ea typeface="+mn-lt"/>
                <a:cs typeface="+mn-lt"/>
              </a:rPr>
              <a:t> </a:t>
            </a:r>
            <a:r>
              <a:rPr lang="en-US" sz="1600" b="1">
                <a:ea typeface="+mn-lt"/>
                <a:cs typeface="+mn-lt"/>
              </a:rPr>
              <a:t>MySQL</a:t>
            </a:r>
            <a:r>
              <a:rPr lang="en-US" sz="1600">
                <a:ea typeface="+mn-lt"/>
                <a:cs typeface="+mn-lt"/>
              </a:rPr>
              <a:t> </a:t>
            </a:r>
            <a:r>
              <a:rPr lang="en-US" sz="1600" err="1">
                <a:ea typeface="+mn-lt"/>
                <a:cs typeface="+mn-lt"/>
              </a:rPr>
              <a:t>ou</a:t>
            </a:r>
            <a:r>
              <a:rPr lang="en-US" sz="1600">
                <a:ea typeface="+mn-lt"/>
                <a:cs typeface="+mn-lt"/>
              </a:rPr>
              <a:t> </a:t>
            </a:r>
            <a:r>
              <a:rPr lang="en-US" sz="1600" b="1">
                <a:ea typeface="+mn-lt"/>
                <a:cs typeface="+mn-lt"/>
              </a:rPr>
              <a:t>MariaDB</a:t>
            </a:r>
            <a:r>
              <a:rPr lang="en-US" sz="1600">
                <a:ea typeface="+mn-lt"/>
                <a:cs typeface="+mn-lt"/>
              </a:rPr>
              <a:t>, et </a:t>
            </a:r>
            <a:r>
              <a:rPr lang="en-US" sz="1600" err="1">
                <a:ea typeface="+mn-lt"/>
                <a:cs typeface="+mn-lt"/>
              </a:rPr>
              <a:t>permettant</a:t>
            </a:r>
            <a:r>
              <a:rPr lang="en-US" sz="1600">
                <a:ea typeface="+mn-lt"/>
                <a:cs typeface="+mn-lt"/>
              </a:rPr>
              <a:t> de </a:t>
            </a:r>
            <a:r>
              <a:rPr lang="en-US" sz="1600" err="1">
                <a:ea typeface="+mn-lt"/>
                <a:cs typeface="+mn-lt"/>
              </a:rPr>
              <a:t>créer</a:t>
            </a:r>
            <a:r>
              <a:rPr lang="en-US" sz="1600">
                <a:ea typeface="+mn-lt"/>
                <a:cs typeface="+mn-lt"/>
              </a:rPr>
              <a:t>, </a:t>
            </a:r>
            <a:r>
              <a:rPr lang="en-US" sz="1600" err="1">
                <a:ea typeface="+mn-lt"/>
                <a:cs typeface="+mn-lt"/>
              </a:rPr>
              <a:t>gérer</a:t>
            </a:r>
            <a:r>
              <a:rPr lang="en-US" sz="1600">
                <a:ea typeface="+mn-lt"/>
                <a:cs typeface="+mn-lt"/>
              </a:rPr>
              <a:t> et </a:t>
            </a:r>
            <a:r>
              <a:rPr lang="en-US" sz="1600" err="1">
                <a:ea typeface="+mn-lt"/>
                <a:cs typeface="+mn-lt"/>
              </a:rPr>
              <a:t>publier</a:t>
            </a:r>
            <a:r>
              <a:rPr lang="en-US" sz="1600">
                <a:ea typeface="+mn-lt"/>
                <a:cs typeface="+mn-lt"/>
              </a:rPr>
              <a:t> des sites web </a:t>
            </a:r>
            <a:r>
              <a:rPr lang="en-US" sz="1600" err="1">
                <a:ea typeface="+mn-lt"/>
                <a:cs typeface="+mn-lt"/>
              </a:rPr>
              <a:t>dynamiques</a:t>
            </a:r>
            <a:r>
              <a:rPr lang="en-US" sz="1600">
                <a:ea typeface="+mn-lt"/>
                <a:cs typeface="+mn-lt"/>
              </a:rPr>
              <a:t> (blogs, sites vitrines, e-commerce…).</a:t>
            </a:r>
            <a:endParaRPr lang="en-US" sz="1600" b="1">
              <a:latin typeface="Source Sans Pro"/>
              <a:ea typeface="Source Sans Pro"/>
              <a:cs typeface="Source Sans Pro"/>
            </a:endParaRPr>
          </a:p>
          <a:p>
            <a:pPr algn="ctr"/>
            <a:endParaRPr lang="fr-FR"/>
          </a:p>
        </p:txBody>
      </p:sp>
      <p:sp>
        <p:nvSpPr>
          <p:cNvPr id="15" name="ZoneTexte 14">
            <a:extLst>
              <a:ext uri="{FF2B5EF4-FFF2-40B4-BE49-F238E27FC236}">
                <a16:creationId xmlns:a16="http://schemas.microsoft.com/office/drawing/2014/main" id="{8E4DDA65-7ACE-AD22-3F3B-528F4497F959}"/>
              </a:ext>
            </a:extLst>
          </p:cNvPr>
          <p:cNvSpPr txBox="1"/>
          <p:nvPr/>
        </p:nvSpPr>
        <p:spPr>
          <a:xfrm>
            <a:off x="1338977" y="3015943"/>
            <a:ext cx="231281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endParaRPr lang="en-US">
              <a:ea typeface="Calibri"/>
              <a:cs typeface="Calibri"/>
            </a:endParaRPr>
          </a:p>
          <a:p>
            <a:endParaRPr lang="en-US">
              <a:ea typeface="Calibri"/>
              <a:cs typeface="Calibri"/>
            </a:endParaRPr>
          </a:p>
          <a:p>
            <a:br>
              <a:rPr lang="en-US"/>
            </a:br>
            <a:endParaRPr lang="en-US"/>
          </a:p>
          <a:p>
            <a:endParaRPr lang="en-US">
              <a:ea typeface="Calibri"/>
              <a:cs typeface="Calibri"/>
            </a:endParaRPr>
          </a:p>
          <a:p>
            <a:br>
              <a:rPr lang="en-US"/>
            </a:br>
            <a:endParaRPr lang="en-US"/>
          </a:p>
          <a:p>
            <a:endParaRPr lang="en-US" b="1">
              <a:solidFill>
                <a:srgbClr val="00185E"/>
              </a:solidFill>
              <a:latin typeface="Source Sans Pro"/>
              <a:ea typeface="Source Sans Pro"/>
              <a:cs typeface="Source Sans Pro"/>
            </a:endParaRPr>
          </a:p>
          <a:p>
            <a:pPr algn="ctr"/>
            <a:endParaRPr lang="fr-FR"/>
          </a:p>
        </p:txBody>
      </p:sp>
    </p:spTree>
    <p:extLst>
      <p:ext uri="{BB962C8B-B14F-4D97-AF65-F5344CB8AC3E}">
        <p14:creationId xmlns:p14="http://schemas.microsoft.com/office/powerpoint/2010/main" val="2140957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30">
            <a:extLst>
              <a:ext uri="{FF2B5EF4-FFF2-40B4-BE49-F238E27FC236}">
                <a16:creationId xmlns:a16="http://schemas.microsoft.com/office/drawing/2014/main" id="{EE6C07DB-76E3-CF4F-18AC-B29A6D0EC546}"/>
              </a:ext>
            </a:extLst>
          </p:cNvPr>
          <p:cNvCxnSpPr>
            <a:cxnSpLocks/>
          </p:cNvCxnSpPr>
          <p:nvPr/>
        </p:nvCxnSpPr>
        <p:spPr>
          <a:xfrm>
            <a:off x="4466502" y="-1463804"/>
            <a:ext cx="1" cy="2399941"/>
          </a:xfrm>
          <a:prstGeom prst="line">
            <a:avLst/>
          </a:prstGeom>
          <a:ln w="25400">
            <a:solidFill>
              <a:schemeClr val="bg1">
                <a:lumMod val="85000"/>
              </a:schemeClr>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765C578E-62CD-F915-2BD2-725A59D28B28}"/>
              </a:ext>
            </a:extLst>
          </p:cNvPr>
          <p:cNvSpPr txBox="1"/>
          <p:nvPr/>
        </p:nvSpPr>
        <p:spPr>
          <a:xfrm>
            <a:off x="3440243" y="939067"/>
            <a:ext cx="45720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baseline="0" err="1">
                <a:solidFill>
                  <a:schemeClr val="bg2">
                    <a:lumMod val="49000"/>
                  </a:schemeClr>
                </a:solidFill>
                <a:latin typeface="Calibri"/>
              </a:rPr>
              <a:t>Historique</a:t>
            </a:r>
            <a:r>
              <a:rPr lang="en-US" sz="4000" b="1" baseline="0">
                <a:solidFill>
                  <a:schemeClr val="bg2">
                    <a:lumMod val="49000"/>
                  </a:schemeClr>
                </a:solidFill>
                <a:latin typeface="Calibri"/>
              </a:rPr>
              <a:t> </a:t>
            </a:r>
            <a:r>
              <a:rPr lang="en-US" sz="3400" b="1" baseline="0">
                <a:solidFill>
                  <a:srgbClr val="FFFFFF"/>
                </a:solidFill>
                <a:latin typeface="Calibri"/>
              </a:rPr>
              <a:t>de</a:t>
            </a:r>
            <a:endParaRPr lang="fr-FR" sz="3400">
              <a:ea typeface="Calibri"/>
              <a:cs typeface="Calibri"/>
            </a:endParaRPr>
          </a:p>
          <a:p>
            <a:pPr algn="ctr"/>
            <a:endParaRPr lang="fr-FR"/>
          </a:p>
        </p:txBody>
      </p:sp>
      <p:pic>
        <p:nvPicPr>
          <p:cNvPr id="4" name="Image 3" descr="Une image contenant capture d’écran, texte">
            <a:extLst>
              <a:ext uri="{FF2B5EF4-FFF2-40B4-BE49-F238E27FC236}">
                <a16:creationId xmlns:a16="http://schemas.microsoft.com/office/drawing/2014/main" id="{0B2171D8-1DD4-AB48-2432-9ABA3F73463B}"/>
              </a:ext>
            </a:extLst>
          </p:cNvPr>
          <p:cNvPicPr>
            <a:picLocks noChangeAspect="1"/>
          </p:cNvPicPr>
          <p:nvPr/>
        </p:nvPicPr>
        <p:blipFill>
          <a:blip r:embed="rId2"/>
          <a:stretch>
            <a:fillRect/>
          </a:stretch>
        </p:blipFill>
        <p:spPr>
          <a:xfrm>
            <a:off x="0" y="1693864"/>
            <a:ext cx="9144000" cy="1755772"/>
          </a:xfrm>
          <a:prstGeom prst="rect">
            <a:avLst/>
          </a:prstGeom>
        </p:spPr>
      </p:pic>
    </p:spTree>
    <p:extLst>
      <p:ext uri="{BB962C8B-B14F-4D97-AF65-F5344CB8AC3E}">
        <p14:creationId xmlns:p14="http://schemas.microsoft.com/office/powerpoint/2010/main" val="1275918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0EB6D46C-92E4-C833-927B-CC157D0A4DCC}"/>
              </a:ext>
            </a:extLst>
          </p:cNvPr>
          <p:cNvSpPr/>
          <p:nvPr/>
        </p:nvSpPr>
        <p:spPr>
          <a:xfrm>
            <a:off x="27213" y="2798535"/>
            <a:ext cx="9121319" cy="576034"/>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42">
            <a:extLst>
              <a:ext uri="{FF2B5EF4-FFF2-40B4-BE49-F238E27FC236}">
                <a16:creationId xmlns:a16="http://schemas.microsoft.com/office/drawing/2014/main" id="{5030FE6F-C786-74C6-B933-DB7FC2A02620}"/>
              </a:ext>
            </a:extLst>
          </p:cNvPr>
          <p:cNvSpPr/>
          <p:nvPr/>
        </p:nvSpPr>
        <p:spPr>
          <a:xfrm>
            <a:off x="9072" y="204107"/>
            <a:ext cx="9121319" cy="55789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 coins arrondis 37">
            <a:extLst>
              <a:ext uri="{FF2B5EF4-FFF2-40B4-BE49-F238E27FC236}">
                <a16:creationId xmlns:a16="http://schemas.microsoft.com/office/drawing/2014/main" id="{FDB58BCC-1597-B7A3-43F3-873AC3CFF16B}"/>
              </a:ext>
            </a:extLst>
          </p:cNvPr>
          <p:cNvSpPr/>
          <p:nvPr/>
        </p:nvSpPr>
        <p:spPr>
          <a:xfrm>
            <a:off x="7821082" y="919236"/>
            <a:ext cx="931334" cy="833060"/>
          </a:xfrm>
          <a:prstGeom prst="roundRect">
            <a:avLst/>
          </a:prstGeom>
          <a:solidFill>
            <a:srgbClr val="FFC00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 coins arrondis 38">
            <a:extLst>
              <a:ext uri="{FF2B5EF4-FFF2-40B4-BE49-F238E27FC236}">
                <a16:creationId xmlns:a16="http://schemas.microsoft.com/office/drawing/2014/main" id="{44127FD7-8181-12D2-0D12-ABAFBA311A65}"/>
              </a:ext>
            </a:extLst>
          </p:cNvPr>
          <p:cNvSpPr/>
          <p:nvPr/>
        </p:nvSpPr>
        <p:spPr>
          <a:xfrm>
            <a:off x="6079368" y="919237"/>
            <a:ext cx="931334" cy="833060"/>
          </a:xfrm>
          <a:prstGeom prst="roundRect">
            <a:avLst/>
          </a:prstGeom>
          <a:solidFill>
            <a:schemeClr val="accent1">
              <a:lumMod val="60000"/>
              <a:lumOff val="4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 coins arrondis 39">
            <a:extLst>
              <a:ext uri="{FF2B5EF4-FFF2-40B4-BE49-F238E27FC236}">
                <a16:creationId xmlns:a16="http://schemas.microsoft.com/office/drawing/2014/main" id="{CFE929E0-0FA4-4F1B-06AF-FCDFFBF5D72C}"/>
              </a:ext>
            </a:extLst>
          </p:cNvPr>
          <p:cNvSpPr/>
          <p:nvPr/>
        </p:nvSpPr>
        <p:spPr>
          <a:xfrm>
            <a:off x="4256011" y="919236"/>
            <a:ext cx="931334" cy="833060"/>
          </a:xfrm>
          <a:prstGeom prst="roundRect">
            <a:avLst/>
          </a:prstGeom>
          <a:solidFill>
            <a:srgbClr val="7030A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 coins arrondis 40">
            <a:extLst>
              <a:ext uri="{FF2B5EF4-FFF2-40B4-BE49-F238E27FC236}">
                <a16:creationId xmlns:a16="http://schemas.microsoft.com/office/drawing/2014/main" id="{9393D5CA-80CD-A8B0-16F7-7D7BBE08209D}"/>
              </a:ext>
            </a:extLst>
          </p:cNvPr>
          <p:cNvSpPr/>
          <p:nvPr/>
        </p:nvSpPr>
        <p:spPr>
          <a:xfrm>
            <a:off x="2423583" y="919237"/>
            <a:ext cx="931334" cy="833060"/>
          </a:xfrm>
          <a:prstGeom prst="roundRect">
            <a:avLst/>
          </a:prstGeom>
          <a:solidFill>
            <a:schemeClr val="accent2">
              <a:lumMod val="20000"/>
              <a:lumOff val="8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071D9BC2-7774-927F-692D-E3A05D654B35}"/>
              </a:ext>
            </a:extLst>
          </p:cNvPr>
          <p:cNvSpPr/>
          <p:nvPr/>
        </p:nvSpPr>
        <p:spPr>
          <a:xfrm>
            <a:off x="600226" y="937380"/>
            <a:ext cx="931334" cy="833060"/>
          </a:xfrm>
          <a:prstGeom prst="round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 1">
            <a:extLst>
              <a:ext uri="{FF2B5EF4-FFF2-40B4-BE49-F238E27FC236}">
                <a16:creationId xmlns:a16="http://schemas.microsoft.com/office/drawing/2014/main" id="{0D2739B4-A9CE-53B9-3F9C-826E974354AE}"/>
              </a:ext>
            </a:extLst>
          </p:cNvPr>
          <p:cNvSpPr/>
          <p:nvPr/>
        </p:nvSpPr>
        <p:spPr>
          <a:xfrm>
            <a:off x="365760" y="0"/>
            <a:ext cx="8412480" cy="9601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dirty="0">
                <a:solidFill>
                  <a:srgbClr val="FFFFFF"/>
                </a:solidFill>
              </a:rPr>
              <a:t>🟢  Qui peut utiliser WordPress ?</a:t>
            </a:r>
            <a:endParaRPr lang="en-US" sz="2600" dirty="0"/>
          </a:p>
        </p:txBody>
      </p:sp>
      <p:pic>
        <p:nvPicPr>
          <p:cNvPr id="3" name="Image 2">
            <a:extLst>
              <a:ext uri="{FF2B5EF4-FFF2-40B4-BE49-F238E27FC236}">
                <a16:creationId xmlns:a16="http://schemas.microsoft.com/office/drawing/2014/main" id="{C0B7344E-6BF9-D755-878E-1DC53F75E554}"/>
              </a:ext>
            </a:extLst>
          </p:cNvPr>
          <p:cNvPicPr>
            <a:picLocks noChangeAspect="1"/>
          </p:cNvPicPr>
          <p:nvPr/>
        </p:nvPicPr>
        <p:blipFill>
          <a:blip r:embed="rId2"/>
          <a:stretch>
            <a:fillRect/>
          </a:stretch>
        </p:blipFill>
        <p:spPr>
          <a:xfrm>
            <a:off x="791029" y="1063534"/>
            <a:ext cx="548640" cy="548640"/>
          </a:xfrm>
          <a:prstGeom prst="rect">
            <a:avLst/>
          </a:prstGeom>
        </p:spPr>
      </p:pic>
      <p:sp>
        <p:nvSpPr>
          <p:cNvPr id="4" name="Text 4">
            <a:extLst>
              <a:ext uri="{FF2B5EF4-FFF2-40B4-BE49-F238E27FC236}">
                <a16:creationId xmlns:a16="http://schemas.microsoft.com/office/drawing/2014/main" id="{7EE0A054-3769-E0EC-6D56-FD91D377C201}"/>
              </a:ext>
            </a:extLst>
          </p:cNvPr>
          <p:cNvSpPr/>
          <p:nvPr/>
        </p:nvSpPr>
        <p:spPr>
          <a:xfrm>
            <a:off x="2652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Débutants</a:t>
            </a:r>
            <a:endParaRPr lang="en-US" sz="1100" dirty="0"/>
          </a:p>
        </p:txBody>
      </p:sp>
      <p:sp>
        <p:nvSpPr>
          <p:cNvPr id="5" name="Text 6">
            <a:extLst>
              <a:ext uri="{FF2B5EF4-FFF2-40B4-BE49-F238E27FC236}">
                <a16:creationId xmlns:a16="http://schemas.microsoft.com/office/drawing/2014/main" id="{EA0609DA-3EA3-262C-17DD-6F292013821C}"/>
              </a:ext>
            </a:extLst>
          </p:cNvPr>
          <p:cNvSpPr/>
          <p:nvPr/>
        </p:nvSpPr>
        <p:spPr>
          <a:xfrm>
            <a:off x="310969" y="2343694"/>
            <a:ext cx="1508760" cy="9144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64748B"/>
                </a:solidFill>
              </a:rPr>
              <a:t> </a:t>
            </a:r>
            <a:endParaRPr lang="en-US" sz="900" dirty="0">
              <a:solidFill>
                <a:srgbClr val="64748B"/>
              </a:solidFill>
              <a:ea typeface="Calibri"/>
              <a:cs typeface="Calibri"/>
            </a:endParaRPr>
          </a:p>
        </p:txBody>
      </p:sp>
      <p:pic>
        <p:nvPicPr>
          <p:cNvPr id="6" name="Image 5">
            <a:extLst>
              <a:ext uri="{FF2B5EF4-FFF2-40B4-BE49-F238E27FC236}">
                <a16:creationId xmlns:a16="http://schemas.microsoft.com/office/drawing/2014/main" id="{01F434E8-FF05-A49C-54B6-F6D25DC208D3}"/>
              </a:ext>
            </a:extLst>
          </p:cNvPr>
          <p:cNvPicPr>
            <a:picLocks noChangeAspect="1"/>
          </p:cNvPicPr>
          <p:nvPr/>
        </p:nvPicPr>
        <p:blipFill>
          <a:blip r:embed="rId3"/>
          <a:stretch>
            <a:fillRect/>
          </a:stretch>
        </p:blipFill>
        <p:spPr>
          <a:xfrm>
            <a:off x="2619829" y="1063534"/>
            <a:ext cx="548640" cy="548640"/>
          </a:xfrm>
          <a:prstGeom prst="rect">
            <a:avLst/>
          </a:prstGeom>
        </p:spPr>
      </p:pic>
      <p:sp>
        <p:nvSpPr>
          <p:cNvPr id="7" name="Text 9">
            <a:extLst>
              <a:ext uri="{FF2B5EF4-FFF2-40B4-BE49-F238E27FC236}">
                <a16:creationId xmlns:a16="http://schemas.microsoft.com/office/drawing/2014/main" id="{4900910E-C267-4BE1-24E1-2C339B310DA3}"/>
              </a:ext>
            </a:extLst>
          </p:cNvPr>
          <p:cNvSpPr/>
          <p:nvPr/>
        </p:nvSpPr>
        <p:spPr>
          <a:xfrm>
            <a:off x="20940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Blogueurs / Créateurs</a:t>
            </a:r>
            <a:endParaRPr lang="en-US" sz="1100" dirty="0"/>
          </a:p>
        </p:txBody>
      </p:sp>
      <p:pic>
        <p:nvPicPr>
          <p:cNvPr id="9" name="Image 8">
            <a:extLst>
              <a:ext uri="{FF2B5EF4-FFF2-40B4-BE49-F238E27FC236}">
                <a16:creationId xmlns:a16="http://schemas.microsoft.com/office/drawing/2014/main" id="{CB22A246-3D18-BBD5-69AE-DB8FA343BB7D}"/>
              </a:ext>
            </a:extLst>
          </p:cNvPr>
          <p:cNvPicPr>
            <a:picLocks noChangeAspect="1"/>
          </p:cNvPicPr>
          <p:nvPr/>
        </p:nvPicPr>
        <p:blipFill>
          <a:blip r:embed="rId4"/>
          <a:stretch>
            <a:fillRect/>
          </a:stretch>
        </p:blipFill>
        <p:spPr>
          <a:xfrm>
            <a:off x="4448629" y="1063534"/>
            <a:ext cx="548640" cy="548640"/>
          </a:xfrm>
          <a:prstGeom prst="rect">
            <a:avLst/>
          </a:prstGeom>
        </p:spPr>
      </p:pic>
      <p:sp>
        <p:nvSpPr>
          <p:cNvPr id="10" name="Text 14">
            <a:extLst>
              <a:ext uri="{FF2B5EF4-FFF2-40B4-BE49-F238E27FC236}">
                <a16:creationId xmlns:a16="http://schemas.microsoft.com/office/drawing/2014/main" id="{BEEF8844-1349-7D78-42C0-89C44CB51C01}"/>
              </a:ext>
            </a:extLst>
          </p:cNvPr>
          <p:cNvSpPr/>
          <p:nvPr/>
        </p:nvSpPr>
        <p:spPr>
          <a:xfrm>
            <a:off x="39228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Freelancers</a:t>
            </a:r>
            <a:endParaRPr lang="en-US" sz="1100" dirty="0"/>
          </a:p>
        </p:txBody>
      </p:sp>
      <p:sp>
        <p:nvSpPr>
          <p:cNvPr id="11" name="Text 16">
            <a:extLst>
              <a:ext uri="{FF2B5EF4-FFF2-40B4-BE49-F238E27FC236}">
                <a16:creationId xmlns:a16="http://schemas.microsoft.com/office/drawing/2014/main" id="{E25AD306-6E1D-8797-573E-8B5F97B421BF}"/>
              </a:ext>
            </a:extLst>
          </p:cNvPr>
          <p:cNvSpPr/>
          <p:nvPr/>
        </p:nvSpPr>
        <p:spPr>
          <a:xfrm>
            <a:off x="3968569" y="2026194"/>
            <a:ext cx="1508760" cy="9144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64748B"/>
                </a:solidFill>
              </a:rPr>
              <a:t>Designers &amp; </a:t>
            </a:r>
            <a:r>
              <a:rPr lang="en-US" sz="1200" dirty="0" err="1">
                <a:solidFill>
                  <a:srgbClr val="64748B"/>
                </a:solidFill>
              </a:rPr>
              <a:t>développeurs</a:t>
            </a:r>
            <a:r>
              <a:rPr lang="en-US" sz="1200" dirty="0">
                <a:solidFill>
                  <a:srgbClr val="64748B"/>
                </a:solidFill>
              </a:rPr>
              <a:t> web</a:t>
            </a:r>
            <a:endParaRPr lang="en-US" sz="1200" dirty="0"/>
          </a:p>
        </p:txBody>
      </p:sp>
      <p:pic>
        <p:nvPicPr>
          <p:cNvPr id="12" name="Image 11">
            <a:extLst>
              <a:ext uri="{FF2B5EF4-FFF2-40B4-BE49-F238E27FC236}">
                <a16:creationId xmlns:a16="http://schemas.microsoft.com/office/drawing/2014/main" id="{5934308D-E95F-17D5-7C35-8B69F2E996D1}"/>
              </a:ext>
            </a:extLst>
          </p:cNvPr>
          <p:cNvPicPr>
            <a:picLocks noChangeAspect="1"/>
          </p:cNvPicPr>
          <p:nvPr/>
        </p:nvPicPr>
        <p:blipFill>
          <a:blip r:embed="rId5"/>
          <a:stretch>
            <a:fillRect/>
          </a:stretch>
        </p:blipFill>
        <p:spPr>
          <a:xfrm>
            <a:off x="6277429" y="1063534"/>
            <a:ext cx="548640" cy="548640"/>
          </a:xfrm>
          <a:prstGeom prst="rect">
            <a:avLst/>
          </a:prstGeom>
        </p:spPr>
      </p:pic>
      <p:sp>
        <p:nvSpPr>
          <p:cNvPr id="13" name="Text 19">
            <a:extLst>
              <a:ext uri="{FF2B5EF4-FFF2-40B4-BE49-F238E27FC236}">
                <a16:creationId xmlns:a16="http://schemas.microsoft.com/office/drawing/2014/main" id="{4A1FA7DB-F57A-6FDE-2A51-6BA7E8750B6B}"/>
              </a:ext>
            </a:extLst>
          </p:cNvPr>
          <p:cNvSpPr/>
          <p:nvPr/>
        </p:nvSpPr>
        <p:spPr>
          <a:xfrm>
            <a:off x="57516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PME / Startups</a:t>
            </a:r>
            <a:endParaRPr lang="en-US" sz="1100" dirty="0"/>
          </a:p>
        </p:txBody>
      </p:sp>
      <p:sp>
        <p:nvSpPr>
          <p:cNvPr id="14" name="Text 21">
            <a:extLst>
              <a:ext uri="{FF2B5EF4-FFF2-40B4-BE49-F238E27FC236}">
                <a16:creationId xmlns:a16="http://schemas.microsoft.com/office/drawing/2014/main" id="{5B2FEC73-450A-6122-F733-F2E8A9F94782}"/>
              </a:ext>
            </a:extLst>
          </p:cNvPr>
          <p:cNvSpPr/>
          <p:nvPr/>
        </p:nvSpPr>
        <p:spPr>
          <a:xfrm>
            <a:off x="5752012" y="2026194"/>
            <a:ext cx="1508760" cy="9144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64748B"/>
                </a:solidFill>
              </a:rPr>
              <a:t>Petites &amp; </a:t>
            </a:r>
            <a:r>
              <a:rPr lang="en-US" sz="1200" dirty="0" err="1">
                <a:solidFill>
                  <a:srgbClr val="64748B"/>
                </a:solidFill>
              </a:rPr>
              <a:t>moyennes</a:t>
            </a:r>
            <a:r>
              <a:rPr lang="en-US" sz="1200" dirty="0">
                <a:solidFill>
                  <a:srgbClr val="64748B"/>
                </a:solidFill>
              </a:rPr>
              <a:t> </a:t>
            </a:r>
            <a:r>
              <a:rPr lang="en-US" sz="1200" dirty="0" err="1">
                <a:solidFill>
                  <a:srgbClr val="64748B"/>
                </a:solidFill>
              </a:rPr>
              <a:t>entreprises</a:t>
            </a:r>
            <a:endParaRPr lang="en-US" sz="1200" dirty="0" err="1"/>
          </a:p>
        </p:txBody>
      </p:sp>
      <p:pic>
        <p:nvPicPr>
          <p:cNvPr id="15" name="Image 14">
            <a:extLst>
              <a:ext uri="{FF2B5EF4-FFF2-40B4-BE49-F238E27FC236}">
                <a16:creationId xmlns:a16="http://schemas.microsoft.com/office/drawing/2014/main" id="{35AD7332-5884-E057-8514-DCEACE6B281C}"/>
              </a:ext>
            </a:extLst>
          </p:cNvPr>
          <p:cNvPicPr>
            <a:picLocks noChangeAspect="1"/>
          </p:cNvPicPr>
          <p:nvPr/>
        </p:nvPicPr>
        <p:blipFill>
          <a:blip r:embed="rId6"/>
          <a:stretch>
            <a:fillRect/>
          </a:stretch>
        </p:blipFill>
        <p:spPr>
          <a:xfrm>
            <a:off x="8014789" y="1063534"/>
            <a:ext cx="548640" cy="548640"/>
          </a:xfrm>
          <a:prstGeom prst="rect">
            <a:avLst/>
          </a:prstGeom>
        </p:spPr>
      </p:pic>
      <p:sp>
        <p:nvSpPr>
          <p:cNvPr id="16" name="Text 24">
            <a:extLst>
              <a:ext uri="{FF2B5EF4-FFF2-40B4-BE49-F238E27FC236}">
                <a16:creationId xmlns:a16="http://schemas.microsoft.com/office/drawing/2014/main" id="{AA4E4066-7969-36B3-3260-7FAD60A093B9}"/>
              </a:ext>
            </a:extLst>
          </p:cNvPr>
          <p:cNvSpPr/>
          <p:nvPr/>
        </p:nvSpPr>
        <p:spPr>
          <a:xfrm>
            <a:off x="748900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Grandes entreprises</a:t>
            </a:r>
            <a:endParaRPr lang="en-US" sz="1100" dirty="0"/>
          </a:p>
        </p:txBody>
      </p:sp>
      <p:sp>
        <p:nvSpPr>
          <p:cNvPr id="17" name="Text 26">
            <a:extLst>
              <a:ext uri="{FF2B5EF4-FFF2-40B4-BE49-F238E27FC236}">
                <a16:creationId xmlns:a16="http://schemas.microsoft.com/office/drawing/2014/main" id="{3B3BB581-F536-F6AA-C660-09D0486C990A}"/>
              </a:ext>
            </a:extLst>
          </p:cNvPr>
          <p:cNvSpPr/>
          <p:nvPr/>
        </p:nvSpPr>
        <p:spPr>
          <a:xfrm>
            <a:off x="7489372" y="2026194"/>
            <a:ext cx="1508760" cy="9144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64748B"/>
                </a:solidFill>
              </a:rPr>
              <a:t>Sites simples à moyens</a:t>
            </a:r>
            <a:endParaRPr lang="en-US" sz="1200" dirty="0"/>
          </a:p>
        </p:txBody>
      </p:sp>
      <p:sp>
        <p:nvSpPr>
          <p:cNvPr id="18" name="Text 27">
            <a:extLst>
              <a:ext uri="{FF2B5EF4-FFF2-40B4-BE49-F238E27FC236}">
                <a16:creationId xmlns:a16="http://schemas.microsoft.com/office/drawing/2014/main" id="{1E1E56FC-6036-3997-0ABB-9FC9A2848E88}"/>
              </a:ext>
            </a:extLst>
          </p:cNvPr>
          <p:cNvSpPr/>
          <p:nvPr/>
        </p:nvSpPr>
        <p:spPr>
          <a:xfrm>
            <a:off x="274320" y="5698309"/>
            <a:ext cx="859536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i="1" dirty="0">
                <a:solidFill>
                  <a:srgbClr val="64748B"/>
                </a:solidFill>
              </a:rPr>
              <a:t>WordPress est l'un des CMS les plus accessibles au monde — utilisé par 43 % des sites internet.</a:t>
            </a:r>
            <a:endParaRPr lang="en-US" sz="900" dirty="0"/>
          </a:p>
        </p:txBody>
      </p:sp>
      <p:sp>
        <p:nvSpPr>
          <p:cNvPr id="19" name="Text 1">
            <a:extLst>
              <a:ext uri="{FF2B5EF4-FFF2-40B4-BE49-F238E27FC236}">
                <a16:creationId xmlns:a16="http://schemas.microsoft.com/office/drawing/2014/main" id="{FEDD4B1E-C738-0493-31DA-ADE9F6D5C576}"/>
              </a:ext>
            </a:extLst>
          </p:cNvPr>
          <p:cNvSpPr/>
          <p:nvPr/>
        </p:nvSpPr>
        <p:spPr>
          <a:xfrm>
            <a:off x="365760" y="0"/>
            <a:ext cx="8412480" cy="9601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dirty="0">
                <a:solidFill>
                  <a:schemeClr val="bg1"/>
                </a:solidFill>
              </a:rPr>
              <a:t>🟢  Qui </a:t>
            </a:r>
            <a:r>
              <a:rPr lang="en-US" sz="2600" b="1" dirty="0" err="1">
                <a:solidFill>
                  <a:schemeClr val="bg1"/>
                </a:solidFill>
              </a:rPr>
              <a:t>peut</a:t>
            </a:r>
            <a:r>
              <a:rPr lang="en-US" sz="2600" b="1" dirty="0">
                <a:solidFill>
                  <a:schemeClr val="bg1"/>
                </a:solidFill>
              </a:rPr>
              <a:t> </a:t>
            </a:r>
            <a:r>
              <a:rPr lang="en-US" sz="2600" b="1" dirty="0" err="1">
                <a:solidFill>
                  <a:schemeClr val="bg1"/>
                </a:solidFill>
              </a:rPr>
              <a:t>utiliser</a:t>
            </a:r>
            <a:r>
              <a:rPr lang="en-US" sz="2600" b="1" dirty="0">
                <a:solidFill>
                  <a:schemeClr val="bg1"/>
                </a:solidFill>
              </a:rPr>
              <a:t> WordPress ?</a:t>
            </a:r>
            <a:endParaRPr lang="en-US" sz="2600">
              <a:solidFill>
                <a:schemeClr val="bg1"/>
              </a:solidFill>
              <a:ea typeface="Calibri"/>
              <a:cs typeface="Calibri"/>
            </a:endParaRPr>
          </a:p>
        </p:txBody>
      </p:sp>
      <p:pic>
        <p:nvPicPr>
          <p:cNvPr id="20" name="Image 19">
            <a:extLst>
              <a:ext uri="{FF2B5EF4-FFF2-40B4-BE49-F238E27FC236}">
                <a16:creationId xmlns:a16="http://schemas.microsoft.com/office/drawing/2014/main" id="{27F38798-E756-4ED5-33A7-A23E2DECEEEC}"/>
              </a:ext>
            </a:extLst>
          </p:cNvPr>
          <p:cNvPicPr>
            <a:picLocks noChangeAspect="1"/>
          </p:cNvPicPr>
          <p:nvPr/>
        </p:nvPicPr>
        <p:blipFill>
          <a:blip r:embed="rId2"/>
          <a:stretch>
            <a:fillRect/>
          </a:stretch>
        </p:blipFill>
        <p:spPr>
          <a:xfrm>
            <a:off x="791029" y="1063534"/>
            <a:ext cx="548640" cy="548640"/>
          </a:xfrm>
          <a:prstGeom prst="rect">
            <a:avLst/>
          </a:prstGeom>
        </p:spPr>
      </p:pic>
      <p:sp>
        <p:nvSpPr>
          <p:cNvPr id="21" name="Text 4">
            <a:extLst>
              <a:ext uri="{FF2B5EF4-FFF2-40B4-BE49-F238E27FC236}">
                <a16:creationId xmlns:a16="http://schemas.microsoft.com/office/drawing/2014/main" id="{EC1C1C1A-D7C5-4D8E-6D65-20628D13510B}"/>
              </a:ext>
            </a:extLst>
          </p:cNvPr>
          <p:cNvSpPr/>
          <p:nvPr/>
        </p:nvSpPr>
        <p:spPr>
          <a:xfrm>
            <a:off x="2652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Débutants</a:t>
            </a:r>
            <a:endParaRPr lang="en-US" sz="1100" dirty="0"/>
          </a:p>
        </p:txBody>
      </p:sp>
      <p:sp>
        <p:nvSpPr>
          <p:cNvPr id="22" name="Text 6">
            <a:extLst>
              <a:ext uri="{FF2B5EF4-FFF2-40B4-BE49-F238E27FC236}">
                <a16:creationId xmlns:a16="http://schemas.microsoft.com/office/drawing/2014/main" id="{5C15959A-8551-3C0D-5A8F-BC127299DA57}"/>
              </a:ext>
            </a:extLst>
          </p:cNvPr>
          <p:cNvSpPr/>
          <p:nvPr/>
        </p:nvSpPr>
        <p:spPr>
          <a:xfrm>
            <a:off x="310969" y="2026194"/>
            <a:ext cx="1508760" cy="9144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64748B"/>
                </a:solidFill>
              </a:rPr>
              <a:t>Sans </a:t>
            </a:r>
            <a:r>
              <a:rPr lang="en-US" sz="1200" dirty="0" err="1">
                <a:solidFill>
                  <a:srgbClr val="64748B"/>
                </a:solidFill>
              </a:rPr>
              <a:t>connaissances</a:t>
            </a:r>
            <a:r>
              <a:rPr lang="en-US" sz="1200" dirty="0">
                <a:solidFill>
                  <a:srgbClr val="64748B"/>
                </a:solidFill>
              </a:rPr>
              <a:t> </a:t>
            </a:r>
            <a:r>
              <a:rPr lang="en-US" sz="1200" dirty="0" err="1">
                <a:solidFill>
                  <a:srgbClr val="64748B"/>
                </a:solidFill>
              </a:rPr>
              <a:t>en</a:t>
            </a:r>
            <a:r>
              <a:rPr lang="en-US" sz="1200" dirty="0">
                <a:solidFill>
                  <a:srgbClr val="64748B"/>
                </a:solidFill>
              </a:rPr>
              <a:t> </a:t>
            </a:r>
            <a:r>
              <a:rPr lang="en-US" sz="1200" dirty="0" err="1">
                <a:solidFill>
                  <a:srgbClr val="64748B"/>
                </a:solidFill>
              </a:rPr>
              <a:t>programmation</a:t>
            </a:r>
            <a:endParaRPr lang="en-US" sz="1200" dirty="0" err="1"/>
          </a:p>
        </p:txBody>
      </p:sp>
      <p:pic>
        <p:nvPicPr>
          <p:cNvPr id="23" name="Image 22">
            <a:extLst>
              <a:ext uri="{FF2B5EF4-FFF2-40B4-BE49-F238E27FC236}">
                <a16:creationId xmlns:a16="http://schemas.microsoft.com/office/drawing/2014/main" id="{EB94FE03-7272-FFF4-914E-184704DF30C0}"/>
              </a:ext>
            </a:extLst>
          </p:cNvPr>
          <p:cNvPicPr>
            <a:picLocks noChangeAspect="1"/>
          </p:cNvPicPr>
          <p:nvPr/>
        </p:nvPicPr>
        <p:blipFill>
          <a:blip r:embed="rId3"/>
          <a:stretch>
            <a:fillRect/>
          </a:stretch>
        </p:blipFill>
        <p:spPr>
          <a:xfrm>
            <a:off x="2619829" y="1063534"/>
            <a:ext cx="548640" cy="548640"/>
          </a:xfrm>
          <a:prstGeom prst="rect">
            <a:avLst/>
          </a:prstGeom>
        </p:spPr>
      </p:pic>
      <p:sp>
        <p:nvSpPr>
          <p:cNvPr id="24" name="Text 9">
            <a:extLst>
              <a:ext uri="{FF2B5EF4-FFF2-40B4-BE49-F238E27FC236}">
                <a16:creationId xmlns:a16="http://schemas.microsoft.com/office/drawing/2014/main" id="{60E552C1-2FE5-BE8D-1615-DAF826AAE964}"/>
              </a:ext>
            </a:extLst>
          </p:cNvPr>
          <p:cNvSpPr/>
          <p:nvPr/>
        </p:nvSpPr>
        <p:spPr>
          <a:xfrm>
            <a:off x="20940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Blogueurs / Créateurs</a:t>
            </a:r>
            <a:endParaRPr lang="en-US" sz="1100" dirty="0"/>
          </a:p>
        </p:txBody>
      </p:sp>
      <p:sp>
        <p:nvSpPr>
          <p:cNvPr id="25" name="Text 11">
            <a:extLst>
              <a:ext uri="{FF2B5EF4-FFF2-40B4-BE49-F238E27FC236}">
                <a16:creationId xmlns:a16="http://schemas.microsoft.com/office/drawing/2014/main" id="{04C88FF3-58FE-7693-4F22-D950E2E5F423}"/>
              </a:ext>
            </a:extLst>
          </p:cNvPr>
          <p:cNvSpPr/>
          <p:nvPr/>
        </p:nvSpPr>
        <p:spPr>
          <a:xfrm>
            <a:off x="2094412" y="2026194"/>
            <a:ext cx="1508760" cy="9144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err="1">
                <a:solidFill>
                  <a:srgbClr val="64748B"/>
                </a:solidFill>
              </a:rPr>
              <a:t>Créateurs</a:t>
            </a:r>
            <a:r>
              <a:rPr lang="en-US" sz="1200" dirty="0">
                <a:solidFill>
                  <a:srgbClr val="64748B"/>
                </a:solidFill>
              </a:rPr>
              <a:t> de </a:t>
            </a:r>
            <a:r>
              <a:rPr lang="en-US" sz="1200" dirty="0" err="1">
                <a:solidFill>
                  <a:srgbClr val="64748B"/>
                </a:solidFill>
              </a:rPr>
              <a:t>contenu</a:t>
            </a:r>
            <a:r>
              <a:rPr lang="en-US" sz="1200" dirty="0">
                <a:solidFill>
                  <a:srgbClr val="64748B"/>
                </a:solidFill>
              </a:rPr>
              <a:t> &amp; </a:t>
            </a:r>
            <a:r>
              <a:rPr lang="en-US" sz="1200" dirty="0" err="1">
                <a:solidFill>
                  <a:srgbClr val="64748B"/>
                </a:solidFill>
              </a:rPr>
              <a:t>influenceurs</a:t>
            </a:r>
            <a:endParaRPr lang="en-US" sz="1200" err="1">
              <a:ea typeface="Calibri"/>
              <a:cs typeface="Calibri"/>
            </a:endParaRPr>
          </a:p>
        </p:txBody>
      </p:sp>
      <p:pic>
        <p:nvPicPr>
          <p:cNvPr id="26" name="Image 25">
            <a:extLst>
              <a:ext uri="{FF2B5EF4-FFF2-40B4-BE49-F238E27FC236}">
                <a16:creationId xmlns:a16="http://schemas.microsoft.com/office/drawing/2014/main" id="{17AB7D40-4906-5D66-7AE8-4AE16E7E6463}"/>
              </a:ext>
            </a:extLst>
          </p:cNvPr>
          <p:cNvPicPr>
            <a:picLocks noChangeAspect="1"/>
          </p:cNvPicPr>
          <p:nvPr/>
        </p:nvPicPr>
        <p:blipFill>
          <a:blip r:embed="rId4"/>
          <a:stretch>
            <a:fillRect/>
          </a:stretch>
        </p:blipFill>
        <p:spPr>
          <a:xfrm>
            <a:off x="4448629" y="1063534"/>
            <a:ext cx="548640" cy="548640"/>
          </a:xfrm>
          <a:prstGeom prst="rect">
            <a:avLst/>
          </a:prstGeom>
        </p:spPr>
      </p:pic>
      <p:sp>
        <p:nvSpPr>
          <p:cNvPr id="27" name="Text 14">
            <a:extLst>
              <a:ext uri="{FF2B5EF4-FFF2-40B4-BE49-F238E27FC236}">
                <a16:creationId xmlns:a16="http://schemas.microsoft.com/office/drawing/2014/main" id="{2E89162B-DC21-C687-9EE0-B388B1C3F45F}"/>
              </a:ext>
            </a:extLst>
          </p:cNvPr>
          <p:cNvSpPr/>
          <p:nvPr/>
        </p:nvSpPr>
        <p:spPr>
          <a:xfrm>
            <a:off x="39228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Freelancers</a:t>
            </a:r>
            <a:endParaRPr lang="en-US" sz="1100" dirty="0"/>
          </a:p>
        </p:txBody>
      </p:sp>
      <p:sp>
        <p:nvSpPr>
          <p:cNvPr id="30" name="Text 19">
            <a:extLst>
              <a:ext uri="{FF2B5EF4-FFF2-40B4-BE49-F238E27FC236}">
                <a16:creationId xmlns:a16="http://schemas.microsoft.com/office/drawing/2014/main" id="{B9BBC052-93A0-8609-7141-C9697FA3C612}"/>
              </a:ext>
            </a:extLst>
          </p:cNvPr>
          <p:cNvSpPr/>
          <p:nvPr/>
        </p:nvSpPr>
        <p:spPr>
          <a:xfrm>
            <a:off x="575164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PME / Startups</a:t>
            </a:r>
            <a:endParaRPr lang="en-US" sz="1100" dirty="0"/>
          </a:p>
        </p:txBody>
      </p:sp>
      <p:pic>
        <p:nvPicPr>
          <p:cNvPr id="32" name="Image 31">
            <a:extLst>
              <a:ext uri="{FF2B5EF4-FFF2-40B4-BE49-F238E27FC236}">
                <a16:creationId xmlns:a16="http://schemas.microsoft.com/office/drawing/2014/main" id="{7B15CF2C-DAC2-1098-D44A-C518FF1E606D}"/>
              </a:ext>
            </a:extLst>
          </p:cNvPr>
          <p:cNvPicPr>
            <a:picLocks noChangeAspect="1"/>
          </p:cNvPicPr>
          <p:nvPr/>
        </p:nvPicPr>
        <p:blipFill>
          <a:blip r:embed="rId6"/>
          <a:stretch>
            <a:fillRect/>
          </a:stretch>
        </p:blipFill>
        <p:spPr>
          <a:xfrm>
            <a:off x="8014789" y="1063534"/>
            <a:ext cx="548640" cy="548640"/>
          </a:xfrm>
          <a:prstGeom prst="rect">
            <a:avLst/>
          </a:prstGeom>
        </p:spPr>
      </p:pic>
      <p:sp>
        <p:nvSpPr>
          <p:cNvPr id="33" name="Text 24">
            <a:extLst>
              <a:ext uri="{FF2B5EF4-FFF2-40B4-BE49-F238E27FC236}">
                <a16:creationId xmlns:a16="http://schemas.microsoft.com/office/drawing/2014/main" id="{D560BEEF-4A42-372B-617D-AEC3EDE24B93}"/>
              </a:ext>
            </a:extLst>
          </p:cNvPr>
          <p:cNvSpPr/>
          <p:nvPr/>
        </p:nvSpPr>
        <p:spPr>
          <a:xfrm>
            <a:off x="7489009" y="1795054"/>
            <a:ext cx="1600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E293B"/>
                </a:solidFill>
              </a:rPr>
              <a:t>Grandes entreprises</a:t>
            </a:r>
            <a:endParaRPr lang="en-US" sz="1100" dirty="0"/>
          </a:p>
        </p:txBody>
      </p:sp>
      <p:sp>
        <p:nvSpPr>
          <p:cNvPr id="42" name="ZoneTexte 41">
            <a:extLst>
              <a:ext uri="{FF2B5EF4-FFF2-40B4-BE49-F238E27FC236}">
                <a16:creationId xmlns:a16="http://schemas.microsoft.com/office/drawing/2014/main" id="{9856654B-8393-CA75-52DB-D5F92AAD67D8}"/>
              </a:ext>
            </a:extLst>
          </p:cNvPr>
          <p:cNvSpPr txBox="1"/>
          <p:nvPr/>
        </p:nvSpPr>
        <p:spPr>
          <a:xfrm>
            <a:off x="517072" y="2889250"/>
            <a:ext cx="669471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dirty="0">
                <a:solidFill>
                  <a:schemeClr val="bg1"/>
                </a:solidFill>
                <a:latin typeface="Calibri"/>
              </a:rPr>
              <a:t>🔵 Types de sites </a:t>
            </a:r>
            <a:r>
              <a:rPr lang="en-US" sz="2400" b="1" baseline="0" dirty="0" err="1">
                <a:solidFill>
                  <a:schemeClr val="bg1"/>
                </a:solidFill>
                <a:latin typeface="Calibri"/>
              </a:rPr>
              <a:t>réalisables</a:t>
            </a:r>
            <a:r>
              <a:rPr lang="en-US" sz="2400" b="1" baseline="0" dirty="0">
                <a:solidFill>
                  <a:schemeClr val="bg1"/>
                </a:solidFill>
                <a:latin typeface="Calibri"/>
              </a:rPr>
              <a:t> avec WordPress</a:t>
            </a:r>
            <a:r>
              <a:rPr lang="en-US" sz="2400" dirty="0">
                <a:solidFill>
                  <a:schemeClr val="bg1"/>
                </a:solidFill>
                <a:latin typeface="Calibri"/>
                <a:ea typeface="Calibri"/>
                <a:cs typeface="Calibri"/>
              </a:rPr>
              <a:t>​</a:t>
            </a:r>
            <a:endParaRPr lang="en-US">
              <a:solidFill>
                <a:schemeClr val="bg1"/>
              </a:solidFill>
              <a:ea typeface="Calibri"/>
              <a:cs typeface="Calibri"/>
            </a:endParaRPr>
          </a:p>
          <a:p>
            <a:pPr algn="ctr"/>
            <a:endParaRPr lang="fr-FR"/>
          </a:p>
        </p:txBody>
      </p:sp>
      <p:sp>
        <p:nvSpPr>
          <p:cNvPr id="46" name="ZoneTexte 45">
            <a:extLst>
              <a:ext uri="{FF2B5EF4-FFF2-40B4-BE49-F238E27FC236}">
                <a16:creationId xmlns:a16="http://schemas.microsoft.com/office/drawing/2014/main" id="{8407C36E-7DB9-D274-7B87-58144559F693}"/>
              </a:ext>
            </a:extLst>
          </p:cNvPr>
          <p:cNvSpPr txBox="1"/>
          <p:nvPr/>
        </p:nvSpPr>
        <p:spPr>
          <a:xfrm>
            <a:off x="362857" y="3524250"/>
            <a:ext cx="4572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a:t>Blogs personnels </a:t>
            </a:r>
          </a:p>
          <a:p>
            <a:pPr>
              <a:buFont typeface=""/>
              <a:buChar char="•"/>
            </a:pPr>
            <a:r>
              <a:rPr lang="en-US" dirty="0"/>
              <a:t>Sites vitrines (</a:t>
            </a:r>
            <a:r>
              <a:rPr lang="en-US" dirty="0" err="1"/>
              <a:t>entreprises</a:t>
            </a:r>
            <a:r>
              <a:rPr lang="en-US" dirty="0"/>
              <a:t>, portfolios) </a:t>
            </a:r>
            <a:endParaRPr lang="en-US" dirty="0">
              <a:ea typeface="Calibri"/>
              <a:cs typeface="Calibri"/>
            </a:endParaRPr>
          </a:p>
          <a:p>
            <a:pPr>
              <a:buFont typeface=""/>
              <a:buChar char="•"/>
            </a:pPr>
            <a:r>
              <a:rPr lang="en-US"/>
              <a:t>Sites e-commerce (avec WooCommerce) </a:t>
            </a:r>
          </a:p>
          <a:p>
            <a:pPr algn="ctr"/>
            <a:endParaRPr lang="fr-FR"/>
          </a:p>
        </p:txBody>
      </p:sp>
      <p:sp>
        <p:nvSpPr>
          <p:cNvPr id="47" name="ZoneTexte 46">
            <a:extLst>
              <a:ext uri="{FF2B5EF4-FFF2-40B4-BE49-F238E27FC236}">
                <a16:creationId xmlns:a16="http://schemas.microsoft.com/office/drawing/2014/main" id="{2DA45341-663F-2519-B8A4-37262A5ED110}"/>
              </a:ext>
            </a:extLst>
          </p:cNvPr>
          <p:cNvSpPr txBox="1"/>
          <p:nvPr/>
        </p:nvSpPr>
        <p:spPr>
          <a:xfrm>
            <a:off x="4744357" y="3533322"/>
            <a:ext cx="454478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rtl="0">
              <a:buFont typeface=""/>
              <a:buChar char="•"/>
            </a:pPr>
            <a:r>
              <a:rPr lang="en-US" sz="1800" baseline="0">
                <a:latin typeface="Calibri"/>
                <a:ea typeface="Arial"/>
                <a:cs typeface="Arial"/>
              </a:rPr>
              <a:t>Sites d’actualité / magazines </a:t>
            </a:r>
            <a:r>
              <a:rPr lang="en-US" sz="1800">
                <a:latin typeface="Calibri"/>
                <a:ea typeface="Arial"/>
                <a:cs typeface="Arial"/>
              </a:rPr>
              <a:t>​</a:t>
            </a:r>
          </a:p>
          <a:p>
            <a:pPr marL="228600" lvl="0" indent="-228600" rtl="0">
              <a:buFont typeface=""/>
              <a:buChar char="•"/>
            </a:pPr>
            <a:r>
              <a:rPr lang="en-US" sz="1800" baseline="0">
                <a:latin typeface="Calibri"/>
                <a:ea typeface="Arial"/>
                <a:cs typeface="Arial"/>
              </a:rPr>
              <a:t>Sites institutionnels simples </a:t>
            </a:r>
            <a:r>
              <a:rPr lang="en-US" sz="1800">
                <a:latin typeface="Calibri"/>
                <a:ea typeface="Arial"/>
                <a:cs typeface="Arial"/>
              </a:rPr>
              <a:t>​</a:t>
            </a:r>
          </a:p>
          <a:p>
            <a:pPr marL="228600" lvl="0" indent="-228600" rtl="0">
              <a:buFont typeface=""/>
              <a:buChar char="•"/>
            </a:pPr>
            <a:r>
              <a:rPr lang="en-US" sz="1800" baseline="0">
                <a:latin typeface="Calibri"/>
                <a:ea typeface="Arial"/>
                <a:cs typeface="Arial"/>
              </a:rPr>
              <a:t>Landing pages (pages marketing) </a:t>
            </a:r>
            <a:r>
              <a:rPr lang="en-US" sz="1800">
                <a:latin typeface="Calibri"/>
                <a:ea typeface="Arial"/>
                <a:cs typeface="Arial"/>
              </a:rPr>
              <a:t>​</a:t>
            </a:r>
          </a:p>
          <a:p>
            <a:pPr algn="ctr"/>
            <a:endParaRPr lang="fr-FR"/>
          </a:p>
        </p:txBody>
      </p:sp>
      <p:sp>
        <p:nvSpPr>
          <p:cNvPr id="28" name="Rectangle 27">
            <a:extLst>
              <a:ext uri="{FF2B5EF4-FFF2-40B4-BE49-F238E27FC236}">
                <a16:creationId xmlns:a16="http://schemas.microsoft.com/office/drawing/2014/main" id="{45EB2789-7476-4C24-5401-68C0D2BE10D0}"/>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31" name="ZoneTexte 30">
            <a:extLst>
              <a:ext uri="{FF2B5EF4-FFF2-40B4-BE49-F238E27FC236}">
                <a16:creationId xmlns:a16="http://schemas.microsoft.com/office/drawing/2014/main" id="{276FDC81-24A2-F256-CC7B-F201D4DF9004}"/>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b="1">
                <a:solidFill>
                  <a:schemeClr val="bg1"/>
                </a:solidFill>
                <a:ea typeface="Calibri"/>
                <a:cs typeface="Calibri"/>
              </a:rPr>
              <a:t> 6</a:t>
            </a:r>
          </a:p>
        </p:txBody>
      </p:sp>
    </p:spTree>
    <p:extLst>
      <p:ext uri="{BB962C8B-B14F-4D97-AF65-F5344CB8AC3E}">
        <p14:creationId xmlns:p14="http://schemas.microsoft.com/office/powerpoint/2010/main" val="4140378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 coins arrondis 25">
            <a:extLst>
              <a:ext uri="{FF2B5EF4-FFF2-40B4-BE49-F238E27FC236}">
                <a16:creationId xmlns:a16="http://schemas.microsoft.com/office/drawing/2014/main" id="{18B70B8F-69AE-7DD3-0CA5-C68B1F1A6361}"/>
              </a:ext>
            </a:extLst>
          </p:cNvPr>
          <p:cNvSpPr/>
          <p:nvPr/>
        </p:nvSpPr>
        <p:spPr>
          <a:xfrm>
            <a:off x="4762729" y="1469570"/>
            <a:ext cx="3728357" cy="35378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D78A05C7-49E7-610A-B3AB-369A988C4837}"/>
              </a:ext>
            </a:extLst>
          </p:cNvPr>
          <p:cNvSpPr/>
          <p:nvPr/>
        </p:nvSpPr>
        <p:spPr>
          <a:xfrm>
            <a:off x="258535" y="1469571"/>
            <a:ext cx="3728357" cy="35378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6F6D95C0-D03D-44BA-5BCE-C282DDF95152}"/>
              </a:ext>
            </a:extLst>
          </p:cNvPr>
          <p:cNvSpPr/>
          <p:nvPr/>
        </p:nvSpPr>
        <p:spPr>
          <a:xfrm>
            <a:off x="-9072" y="566964"/>
            <a:ext cx="9157604" cy="576034"/>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dirty="0">
              <a:solidFill>
                <a:srgbClr val="FF0000"/>
              </a:solidFill>
              <a:ea typeface="Calibri"/>
              <a:cs typeface="Calibri"/>
            </a:endParaRPr>
          </a:p>
        </p:txBody>
      </p:sp>
      <p:sp>
        <p:nvSpPr>
          <p:cNvPr id="4" name="ZoneTexte 3">
            <a:extLst>
              <a:ext uri="{FF2B5EF4-FFF2-40B4-BE49-F238E27FC236}">
                <a16:creationId xmlns:a16="http://schemas.microsoft.com/office/drawing/2014/main" id="{E94C58BA-7FF0-AE7C-2043-CE6AA581C500}"/>
              </a:ext>
            </a:extLst>
          </p:cNvPr>
          <p:cNvSpPr txBox="1"/>
          <p:nvPr/>
        </p:nvSpPr>
        <p:spPr>
          <a:xfrm>
            <a:off x="358552" y="605710"/>
            <a:ext cx="4572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baseline="0">
                <a:solidFill>
                  <a:srgbClr val="FFFFFF"/>
                </a:solidFill>
                <a:latin typeface="Calibri"/>
              </a:rPr>
              <a:t>🔴 Limites de WordPress</a:t>
            </a:r>
            <a:r>
              <a:rPr sz="2600">
                <a:latin typeface="Calibri"/>
                <a:ea typeface="Calibri"/>
                <a:cs typeface="Calibri"/>
              </a:rPr>
              <a:t>​</a:t>
            </a:r>
            <a:endParaRPr lang="fr-FR"/>
          </a:p>
          <a:p>
            <a:pPr algn="ctr"/>
            <a:endParaRPr lang="fr-FR"/>
          </a:p>
        </p:txBody>
      </p:sp>
      <p:sp>
        <p:nvSpPr>
          <p:cNvPr id="2" name="Text 4">
            <a:extLst>
              <a:ext uri="{FF2B5EF4-FFF2-40B4-BE49-F238E27FC236}">
                <a16:creationId xmlns:a16="http://schemas.microsoft.com/office/drawing/2014/main" id="{4D2C4577-E98A-B383-EC2A-AB345F358EBE}"/>
              </a:ext>
            </a:extLst>
          </p:cNvPr>
          <p:cNvSpPr/>
          <p:nvPr/>
        </p:nvSpPr>
        <p:spPr>
          <a:xfrm>
            <a:off x="242549" y="1436306"/>
            <a:ext cx="3840480" cy="4572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chemeClr val="bg1"/>
                </a:solidFill>
              </a:rPr>
              <a:t>👉  WordPress </a:t>
            </a:r>
            <a:r>
              <a:rPr lang="en-US" sz="1600" b="1" dirty="0" err="1">
                <a:solidFill>
                  <a:schemeClr val="bg1"/>
                </a:solidFill>
              </a:rPr>
              <a:t>n'est</a:t>
            </a:r>
            <a:r>
              <a:rPr lang="en-US" sz="1600" b="1" dirty="0">
                <a:solidFill>
                  <a:schemeClr val="bg1"/>
                </a:solidFill>
              </a:rPr>
              <a:t> PAS </a:t>
            </a:r>
            <a:r>
              <a:rPr lang="en-US" sz="1600" b="1" dirty="0" err="1">
                <a:solidFill>
                  <a:schemeClr val="bg1"/>
                </a:solidFill>
              </a:rPr>
              <a:t>adapté</a:t>
            </a:r>
            <a:r>
              <a:rPr lang="en-US" sz="1600" b="1" dirty="0">
                <a:solidFill>
                  <a:schemeClr val="bg1"/>
                </a:solidFill>
              </a:rPr>
              <a:t> pour :</a:t>
            </a:r>
            <a:endParaRPr lang="en-US" sz="1600">
              <a:solidFill>
                <a:schemeClr val="bg1"/>
              </a:solidFill>
              <a:ea typeface="Calibri"/>
              <a:cs typeface="Calibri"/>
            </a:endParaRPr>
          </a:p>
        </p:txBody>
      </p:sp>
      <p:sp>
        <p:nvSpPr>
          <p:cNvPr id="5" name="Text 6">
            <a:extLst>
              <a:ext uri="{FF2B5EF4-FFF2-40B4-BE49-F238E27FC236}">
                <a16:creationId xmlns:a16="http://schemas.microsoft.com/office/drawing/2014/main" id="{BC966E04-8881-EFC6-A1A0-253080949AD6}"/>
              </a:ext>
            </a:extLst>
          </p:cNvPr>
          <p:cNvSpPr/>
          <p:nvPr/>
        </p:nvSpPr>
        <p:spPr>
          <a:xfrm>
            <a:off x="333989" y="2067242"/>
            <a:ext cx="201168" cy="25603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FFFFFF"/>
                </a:solidFill>
              </a:rPr>
              <a:t>✕</a:t>
            </a:r>
            <a:endParaRPr lang="en-US" sz="1000" dirty="0"/>
          </a:p>
        </p:txBody>
      </p:sp>
      <p:sp>
        <p:nvSpPr>
          <p:cNvPr id="6" name="Text 7">
            <a:extLst>
              <a:ext uri="{FF2B5EF4-FFF2-40B4-BE49-F238E27FC236}">
                <a16:creationId xmlns:a16="http://schemas.microsoft.com/office/drawing/2014/main" id="{DA408EBF-9440-E743-820E-BCEA879AD0E9}"/>
              </a:ext>
            </a:extLst>
          </p:cNvPr>
          <p:cNvSpPr/>
          <p:nvPr/>
        </p:nvSpPr>
        <p:spPr>
          <a:xfrm>
            <a:off x="654029" y="2030666"/>
            <a:ext cx="333756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1E293B"/>
                </a:solidFill>
              </a:rPr>
              <a:t>Systèmes très complexes</a:t>
            </a:r>
            <a:endParaRPr lang="en-US" sz="1600">
              <a:ea typeface="Calibri"/>
              <a:cs typeface="Calibri"/>
            </a:endParaRPr>
          </a:p>
        </p:txBody>
      </p:sp>
      <p:sp>
        <p:nvSpPr>
          <p:cNvPr id="7" name="Text 8">
            <a:extLst>
              <a:ext uri="{FF2B5EF4-FFF2-40B4-BE49-F238E27FC236}">
                <a16:creationId xmlns:a16="http://schemas.microsoft.com/office/drawing/2014/main" id="{418B1DA3-B2F2-F4EF-6982-1CF7D06DD38F}"/>
              </a:ext>
            </a:extLst>
          </p:cNvPr>
          <p:cNvSpPr/>
          <p:nvPr/>
        </p:nvSpPr>
        <p:spPr>
          <a:xfrm>
            <a:off x="654029" y="2304986"/>
            <a:ext cx="3337560" cy="4572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dirty="0"/>
              <a:t>E</a:t>
            </a:r>
            <a:r>
              <a:rPr lang="en-US" sz="1100" dirty="0"/>
              <a:t>x : site </a:t>
            </a:r>
            <a:r>
              <a:rPr lang="en-US" sz="1100" dirty="0" err="1"/>
              <a:t>universitaire</a:t>
            </a:r>
            <a:r>
              <a:rPr lang="en-US" sz="1100" dirty="0"/>
              <a:t> </a:t>
            </a:r>
            <a:r>
              <a:rPr lang="en-US" sz="1100" dirty="0" err="1"/>
              <a:t>complet</a:t>
            </a:r>
            <a:r>
              <a:rPr lang="en-US" sz="1100" dirty="0"/>
              <a:t> avec gestion </a:t>
            </a:r>
            <a:r>
              <a:rPr lang="en-US" sz="1100" dirty="0" err="1"/>
              <a:t>pédagogique</a:t>
            </a:r>
            <a:r>
              <a:rPr lang="en-US" sz="1100" dirty="0"/>
              <a:t> </a:t>
            </a:r>
            <a:r>
              <a:rPr lang="en-US" sz="1100" dirty="0" err="1"/>
              <a:t>intégrée</a:t>
            </a:r>
            <a:endParaRPr lang="en-US" sz="1100">
              <a:ea typeface="Calibri"/>
              <a:cs typeface="Calibri"/>
            </a:endParaRPr>
          </a:p>
        </p:txBody>
      </p:sp>
      <p:sp>
        <p:nvSpPr>
          <p:cNvPr id="8" name="Text 10">
            <a:extLst>
              <a:ext uri="{FF2B5EF4-FFF2-40B4-BE49-F238E27FC236}">
                <a16:creationId xmlns:a16="http://schemas.microsoft.com/office/drawing/2014/main" id="{66C85529-3AAA-C9E7-0CE1-7203D68F9AAC}"/>
              </a:ext>
            </a:extLst>
          </p:cNvPr>
          <p:cNvSpPr/>
          <p:nvPr/>
        </p:nvSpPr>
        <p:spPr>
          <a:xfrm>
            <a:off x="333989" y="2981642"/>
            <a:ext cx="201168" cy="25603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FFFFFF"/>
                </a:solidFill>
              </a:rPr>
              <a:t>✕</a:t>
            </a:r>
            <a:endParaRPr lang="en-US" sz="1000" dirty="0"/>
          </a:p>
        </p:txBody>
      </p:sp>
      <p:sp>
        <p:nvSpPr>
          <p:cNvPr id="9" name="Text 11">
            <a:extLst>
              <a:ext uri="{FF2B5EF4-FFF2-40B4-BE49-F238E27FC236}">
                <a16:creationId xmlns:a16="http://schemas.microsoft.com/office/drawing/2014/main" id="{2163F8C6-4629-0BFC-45EE-3D51F29988E9}"/>
              </a:ext>
            </a:extLst>
          </p:cNvPr>
          <p:cNvSpPr/>
          <p:nvPr/>
        </p:nvSpPr>
        <p:spPr>
          <a:xfrm>
            <a:off x="654029" y="2945066"/>
            <a:ext cx="333756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1E293B"/>
                </a:solidFill>
              </a:rPr>
              <a:t>Applications web </a:t>
            </a:r>
            <a:r>
              <a:rPr lang="en-US" sz="1600" b="1" dirty="0" err="1">
                <a:solidFill>
                  <a:srgbClr val="1E293B"/>
                </a:solidFill>
              </a:rPr>
              <a:t>avancées</a:t>
            </a:r>
            <a:endParaRPr lang="en-US" sz="1600" err="1">
              <a:ea typeface="Calibri"/>
              <a:cs typeface="Calibri"/>
            </a:endParaRPr>
          </a:p>
        </p:txBody>
      </p:sp>
      <p:sp>
        <p:nvSpPr>
          <p:cNvPr id="10" name="Text 12">
            <a:extLst>
              <a:ext uri="{FF2B5EF4-FFF2-40B4-BE49-F238E27FC236}">
                <a16:creationId xmlns:a16="http://schemas.microsoft.com/office/drawing/2014/main" id="{C24130FC-61FA-EF8A-6186-D09A8AF14E6D}"/>
              </a:ext>
            </a:extLst>
          </p:cNvPr>
          <p:cNvSpPr/>
          <p:nvPr/>
        </p:nvSpPr>
        <p:spPr>
          <a:xfrm>
            <a:off x="654029" y="3219386"/>
            <a:ext cx="3337560" cy="4572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t>Gestion </a:t>
            </a:r>
            <a:r>
              <a:rPr lang="en-US" sz="1100" dirty="0" err="1"/>
              <a:t>pédagogique</a:t>
            </a:r>
            <a:r>
              <a:rPr lang="en-US" sz="1100" dirty="0"/>
              <a:t>, inscriptions, workflows métier sur-</a:t>
            </a:r>
            <a:r>
              <a:rPr lang="en-US" sz="1100" dirty="0" err="1"/>
              <a:t>mesure</a:t>
            </a:r>
            <a:endParaRPr lang="en-US" sz="1100">
              <a:ea typeface="Calibri"/>
              <a:cs typeface="Calibri"/>
            </a:endParaRPr>
          </a:p>
        </p:txBody>
      </p:sp>
      <p:sp>
        <p:nvSpPr>
          <p:cNvPr id="13" name="Text 15">
            <a:extLst>
              <a:ext uri="{FF2B5EF4-FFF2-40B4-BE49-F238E27FC236}">
                <a16:creationId xmlns:a16="http://schemas.microsoft.com/office/drawing/2014/main" id="{B6D09DFC-B93E-473C-2743-A8CD96AEEF77}"/>
              </a:ext>
            </a:extLst>
          </p:cNvPr>
          <p:cNvSpPr/>
          <p:nvPr/>
        </p:nvSpPr>
        <p:spPr>
          <a:xfrm>
            <a:off x="4721559" y="1407246"/>
            <a:ext cx="4160520" cy="4572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chemeClr val="bg1"/>
                </a:solidFill>
              </a:rPr>
              <a:t>⚠</a:t>
            </a:r>
            <a:r>
              <a:rPr lang="en-US" sz="1600" b="1" dirty="0">
                <a:solidFill>
                  <a:schemeClr val="bg1"/>
                </a:solidFill>
              </a:rPr>
              <a:t>️  </a:t>
            </a:r>
            <a:r>
              <a:rPr lang="en-US" sz="1600" b="1" dirty="0" err="1">
                <a:solidFill>
                  <a:schemeClr val="bg1"/>
                </a:solidFill>
              </a:rPr>
              <a:t>Pourquoi</a:t>
            </a:r>
            <a:r>
              <a:rPr lang="en-US" sz="1600" b="1" dirty="0">
                <a:solidFill>
                  <a:schemeClr val="bg1"/>
                </a:solidFill>
              </a:rPr>
              <a:t> </a:t>
            </a:r>
            <a:r>
              <a:rPr lang="en-US" sz="1600" b="1" dirty="0" err="1">
                <a:solidFill>
                  <a:schemeClr val="bg1"/>
                </a:solidFill>
              </a:rPr>
              <a:t>ces</a:t>
            </a:r>
            <a:r>
              <a:rPr lang="en-US" sz="1600" b="1" dirty="0">
                <a:solidFill>
                  <a:schemeClr val="bg1"/>
                </a:solidFill>
              </a:rPr>
              <a:t> </a:t>
            </a:r>
            <a:r>
              <a:rPr lang="en-US" sz="1600" b="1" dirty="0" err="1">
                <a:solidFill>
                  <a:schemeClr val="bg1"/>
                </a:solidFill>
              </a:rPr>
              <a:t>limites</a:t>
            </a:r>
            <a:r>
              <a:rPr lang="en-US" sz="1600" b="1" dirty="0">
                <a:solidFill>
                  <a:schemeClr val="bg1"/>
                </a:solidFill>
              </a:rPr>
              <a:t> ?</a:t>
            </a:r>
            <a:endParaRPr lang="en-US" sz="1600">
              <a:solidFill>
                <a:schemeClr val="bg1"/>
              </a:solidFill>
              <a:ea typeface="Calibri"/>
              <a:cs typeface="Calibri"/>
            </a:endParaRPr>
          </a:p>
        </p:txBody>
      </p:sp>
      <p:pic>
        <p:nvPicPr>
          <p:cNvPr id="14" name="Image 13">
            <a:extLst>
              <a:ext uri="{FF2B5EF4-FFF2-40B4-BE49-F238E27FC236}">
                <a16:creationId xmlns:a16="http://schemas.microsoft.com/office/drawing/2014/main" id="{22D5A8A5-470E-AE42-661A-9FA38ACF010A}"/>
              </a:ext>
            </a:extLst>
          </p:cNvPr>
          <p:cNvPicPr>
            <a:picLocks noChangeAspect="1"/>
          </p:cNvPicPr>
          <p:nvPr/>
        </p:nvPicPr>
        <p:blipFill>
          <a:blip r:embed="rId2"/>
          <a:stretch>
            <a:fillRect/>
          </a:stretch>
        </p:blipFill>
        <p:spPr>
          <a:xfrm>
            <a:off x="4767279" y="2029038"/>
            <a:ext cx="310896" cy="310896"/>
          </a:xfrm>
          <a:prstGeom prst="rect">
            <a:avLst/>
          </a:prstGeom>
        </p:spPr>
      </p:pic>
      <p:sp>
        <p:nvSpPr>
          <p:cNvPr id="15" name="Text 16">
            <a:extLst>
              <a:ext uri="{FF2B5EF4-FFF2-40B4-BE49-F238E27FC236}">
                <a16:creationId xmlns:a16="http://schemas.microsoft.com/office/drawing/2014/main" id="{328249FA-A755-DC92-E061-5362C814D666}"/>
              </a:ext>
            </a:extLst>
          </p:cNvPr>
          <p:cNvSpPr/>
          <p:nvPr/>
        </p:nvSpPr>
        <p:spPr>
          <a:xfrm>
            <a:off x="5178759" y="1974174"/>
            <a:ext cx="3611880"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93B"/>
                </a:solidFill>
              </a:rPr>
              <a:t>Architecture standard</a:t>
            </a:r>
            <a:endParaRPr lang="en-US" sz="1300">
              <a:ea typeface="Calibri"/>
              <a:cs typeface="Calibri"/>
            </a:endParaRPr>
          </a:p>
        </p:txBody>
      </p:sp>
      <p:sp>
        <p:nvSpPr>
          <p:cNvPr id="16" name="Text 17">
            <a:extLst>
              <a:ext uri="{FF2B5EF4-FFF2-40B4-BE49-F238E27FC236}">
                <a16:creationId xmlns:a16="http://schemas.microsoft.com/office/drawing/2014/main" id="{78C4C82E-34A3-B95B-9FD8-5D3A730A2C70}"/>
              </a:ext>
            </a:extLst>
          </p:cNvPr>
          <p:cNvSpPr/>
          <p:nvPr/>
        </p:nvSpPr>
        <p:spPr>
          <a:xfrm>
            <a:off x="5178759" y="2230206"/>
            <a:ext cx="3611880" cy="34747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t>Non </a:t>
            </a:r>
            <a:r>
              <a:rPr lang="en-US" sz="1100" dirty="0" err="1"/>
              <a:t>conçue</a:t>
            </a:r>
            <a:r>
              <a:rPr lang="en-US" sz="1100" dirty="0"/>
              <a:t> pour </a:t>
            </a:r>
            <a:r>
              <a:rPr lang="en-US" sz="1100" dirty="0" err="1"/>
              <a:t>une</a:t>
            </a:r>
            <a:r>
              <a:rPr lang="en-US" sz="1100" dirty="0"/>
              <a:t> </a:t>
            </a:r>
            <a:r>
              <a:rPr lang="en-US" sz="1100" dirty="0" err="1"/>
              <a:t>logique</a:t>
            </a:r>
            <a:r>
              <a:rPr lang="en-US" sz="1100" dirty="0"/>
              <a:t> métier </a:t>
            </a:r>
            <a:r>
              <a:rPr lang="en-US" sz="1100" dirty="0" err="1"/>
              <a:t>complexe</a:t>
            </a:r>
            <a:endParaRPr lang="en-US" sz="1100">
              <a:ea typeface="Calibri"/>
              <a:cs typeface="Calibri"/>
            </a:endParaRPr>
          </a:p>
        </p:txBody>
      </p:sp>
      <p:pic>
        <p:nvPicPr>
          <p:cNvPr id="17" name="Image 16">
            <a:extLst>
              <a:ext uri="{FF2B5EF4-FFF2-40B4-BE49-F238E27FC236}">
                <a16:creationId xmlns:a16="http://schemas.microsoft.com/office/drawing/2014/main" id="{ACD75615-ECEF-CA77-9319-ECD21D1E87A7}"/>
              </a:ext>
            </a:extLst>
          </p:cNvPr>
          <p:cNvPicPr>
            <a:picLocks noChangeAspect="1"/>
          </p:cNvPicPr>
          <p:nvPr/>
        </p:nvPicPr>
        <p:blipFill>
          <a:blip r:embed="rId3"/>
          <a:stretch>
            <a:fillRect/>
          </a:stretch>
        </p:blipFill>
        <p:spPr>
          <a:xfrm>
            <a:off x="4767279" y="2806278"/>
            <a:ext cx="310896" cy="310896"/>
          </a:xfrm>
          <a:prstGeom prst="rect">
            <a:avLst/>
          </a:prstGeom>
        </p:spPr>
      </p:pic>
      <p:sp>
        <p:nvSpPr>
          <p:cNvPr id="18" name="Text 18">
            <a:extLst>
              <a:ext uri="{FF2B5EF4-FFF2-40B4-BE49-F238E27FC236}">
                <a16:creationId xmlns:a16="http://schemas.microsoft.com/office/drawing/2014/main" id="{9E077789-2700-4AC0-0302-1F4CE208C8C5}"/>
              </a:ext>
            </a:extLst>
          </p:cNvPr>
          <p:cNvSpPr/>
          <p:nvPr/>
        </p:nvSpPr>
        <p:spPr>
          <a:xfrm>
            <a:off x="5178759" y="2751414"/>
            <a:ext cx="3611880"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93B"/>
                </a:solidFill>
              </a:rPr>
              <a:t>Performance </a:t>
            </a:r>
            <a:r>
              <a:rPr lang="en-US" sz="1300" b="1" dirty="0" err="1">
                <a:solidFill>
                  <a:srgbClr val="1E293B"/>
                </a:solidFill>
              </a:rPr>
              <a:t>limitée</a:t>
            </a:r>
            <a:endParaRPr lang="en-US" sz="1300" err="1">
              <a:ea typeface="Calibri"/>
              <a:cs typeface="Calibri"/>
            </a:endParaRPr>
          </a:p>
        </p:txBody>
      </p:sp>
      <p:sp>
        <p:nvSpPr>
          <p:cNvPr id="19" name="Text 19">
            <a:extLst>
              <a:ext uri="{FF2B5EF4-FFF2-40B4-BE49-F238E27FC236}">
                <a16:creationId xmlns:a16="http://schemas.microsoft.com/office/drawing/2014/main" id="{E156291C-8A77-6F9C-2E82-329595DA65A3}"/>
              </a:ext>
            </a:extLst>
          </p:cNvPr>
          <p:cNvSpPr/>
          <p:nvPr/>
        </p:nvSpPr>
        <p:spPr>
          <a:xfrm>
            <a:off x="5178759" y="3007446"/>
            <a:ext cx="3611880" cy="34747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err="1"/>
              <a:t>Difficultés</a:t>
            </a:r>
            <a:r>
              <a:rPr lang="en-US" sz="1100" dirty="0"/>
              <a:t> avec beaucoup de données </a:t>
            </a:r>
            <a:r>
              <a:rPr lang="en-US" sz="1100" dirty="0" err="1"/>
              <a:t>ou</a:t>
            </a:r>
            <a:r>
              <a:rPr lang="en-US" sz="1100" dirty="0"/>
              <a:t> </a:t>
            </a:r>
            <a:r>
              <a:rPr lang="en-US" sz="1100" dirty="0" err="1"/>
              <a:t>d'utilisateurs</a:t>
            </a:r>
            <a:endParaRPr lang="en-US" sz="1100">
              <a:ea typeface="Calibri"/>
              <a:cs typeface="Calibri"/>
            </a:endParaRPr>
          </a:p>
        </p:txBody>
      </p:sp>
      <p:pic>
        <p:nvPicPr>
          <p:cNvPr id="20" name="Image 19">
            <a:extLst>
              <a:ext uri="{FF2B5EF4-FFF2-40B4-BE49-F238E27FC236}">
                <a16:creationId xmlns:a16="http://schemas.microsoft.com/office/drawing/2014/main" id="{26DD0832-7929-62B1-F134-75AFCA63CE9C}"/>
              </a:ext>
            </a:extLst>
          </p:cNvPr>
          <p:cNvPicPr>
            <a:picLocks noChangeAspect="1"/>
          </p:cNvPicPr>
          <p:nvPr/>
        </p:nvPicPr>
        <p:blipFill>
          <a:blip r:embed="rId4"/>
          <a:stretch>
            <a:fillRect/>
          </a:stretch>
        </p:blipFill>
        <p:spPr>
          <a:xfrm>
            <a:off x="4767279" y="3583518"/>
            <a:ext cx="310896" cy="310896"/>
          </a:xfrm>
          <a:prstGeom prst="rect">
            <a:avLst/>
          </a:prstGeom>
        </p:spPr>
      </p:pic>
      <p:sp>
        <p:nvSpPr>
          <p:cNvPr id="21" name="Text 20">
            <a:extLst>
              <a:ext uri="{FF2B5EF4-FFF2-40B4-BE49-F238E27FC236}">
                <a16:creationId xmlns:a16="http://schemas.microsoft.com/office/drawing/2014/main" id="{AEA901ED-AD65-EE58-7581-DCD203C93581}"/>
              </a:ext>
            </a:extLst>
          </p:cNvPr>
          <p:cNvSpPr/>
          <p:nvPr/>
        </p:nvSpPr>
        <p:spPr>
          <a:xfrm>
            <a:off x="5178759" y="3528654"/>
            <a:ext cx="3611880"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b="1" dirty="0">
                <a:solidFill>
                  <a:srgbClr val="1E293B"/>
                </a:solidFill>
                <a:ea typeface="Calibri"/>
                <a:cs typeface="Calibri"/>
              </a:rPr>
              <a:t>Dépendance aux plugins</a:t>
            </a:r>
            <a:endParaRPr lang="en-US" sz="1300">
              <a:solidFill>
                <a:srgbClr val="000000"/>
              </a:solidFill>
              <a:ea typeface="Calibri"/>
              <a:cs typeface="Calibri"/>
            </a:endParaRPr>
          </a:p>
        </p:txBody>
      </p:sp>
      <p:sp>
        <p:nvSpPr>
          <p:cNvPr id="22" name="Text 21">
            <a:extLst>
              <a:ext uri="{FF2B5EF4-FFF2-40B4-BE49-F238E27FC236}">
                <a16:creationId xmlns:a16="http://schemas.microsoft.com/office/drawing/2014/main" id="{6AEC3882-4696-9BFC-1962-E571E842A2CD}"/>
              </a:ext>
            </a:extLst>
          </p:cNvPr>
          <p:cNvSpPr/>
          <p:nvPr/>
        </p:nvSpPr>
        <p:spPr>
          <a:xfrm>
            <a:off x="5178759" y="3784686"/>
            <a:ext cx="3611880" cy="34747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err="1"/>
              <a:t>Risques</a:t>
            </a:r>
            <a:r>
              <a:rPr lang="en-US" sz="1100" dirty="0"/>
              <a:t> de </a:t>
            </a:r>
            <a:r>
              <a:rPr lang="en-US" sz="1100" dirty="0" err="1"/>
              <a:t>conflits</a:t>
            </a:r>
            <a:r>
              <a:rPr lang="en-US" sz="1100" dirty="0"/>
              <a:t> et de </a:t>
            </a:r>
            <a:r>
              <a:rPr lang="en-US" sz="1100" dirty="0" err="1"/>
              <a:t>failles</a:t>
            </a:r>
            <a:r>
              <a:rPr lang="en-US" sz="1100" dirty="0"/>
              <a:t> de sécurité</a:t>
            </a:r>
            <a:endParaRPr lang="en-US" sz="1100">
              <a:ea typeface="Calibri"/>
              <a:cs typeface="Calibri"/>
            </a:endParaRPr>
          </a:p>
        </p:txBody>
      </p:sp>
      <p:pic>
        <p:nvPicPr>
          <p:cNvPr id="23" name="Image 22">
            <a:extLst>
              <a:ext uri="{FF2B5EF4-FFF2-40B4-BE49-F238E27FC236}">
                <a16:creationId xmlns:a16="http://schemas.microsoft.com/office/drawing/2014/main" id="{E7CDDB14-36EE-EDA1-A96C-5CA296848234}"/>
              </a:ext>
            </a:extLst>
          </p:cNvPr>
          <p:cNvPicPr>
            <a:picLocks noChangeAspect="1"/>
          </p:cNvPicPr>
          <p:nvPr/>
        </p:nvPicPr>
        <p:blipFill>
          <a:blip r:embed="rId5"/>
          <a:stretch>
            <a:fillRect/>
          </a:stretch>
        </p:blipFill>
        <p:spPr>
          <a:xfrm>
            <a:off x="4767279" y="4360758"/>
            <a:ext cx="310896" cy="310896"/>
          </a:xfrm>
          <a:prstGeom prst="rect">
            <a:avLst/>
          </a:prstGeom>
        </p:spPr>
      </p:pic>
      <p:sp>
        <p:nvSpPr>
          <p:cNvPr id="24" name="Text 22">
            <a:extLst>
              <a:ext uri="{FF2B5EF4-FFF2-40B4-BE49-F238E27FC236}">
                <a16:creationId xmlns:a16="http://schemas.microsoft.com/office/drawing/2014/main" id="{C8DEA6D6-05CF-DBE0-5D9C-D2807394F7E8}"/>
              </a:ext>
            </a:extLst>
          </p:cNvPr>
          <p:cNvSpPr/>
          <p:nvPr/>
        </p:nvSpPr>
        <p:spPr>
          <a:xfrm>
            <a:off x="5178759" y="4305894"/>
            <a:ext cx="3611880"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93B"/>
                </a:solidFill>
              </a:rPr>
              <a:t>Maintenance difficile</a:t>
            </a:r>
            <a:endParaRPr lang="en-US" sz="1300">
              <a:ea typeface="Calibri"/>
              <a:cs typeface="Calibri"/>
            </a:endParaRPr>
          </a:p>
        </p:txBody>
      </p:sp>
      <p:sp>
        <p:nvSpPr>
          <p:cNvPr id="25" name="Text 23">
            <a:extLst>
              <a:ext uri="{FF2B5EF4-FFF2-40B4-BE49-F238E27FC236}">
                <a16:creationId xmlns:a16="http://schemas.microsoft.com/office/drawing/2014/main" id="{2E4894D4-82E0-569C-FD20-603573DA4BEF}"/>
              </a:ext>
            </a:extLst>
          </p:cNvPr>
          <p:cNvSpPr/>
          <p:nvPr/>
        </p:nvSpPr>
        <p:spPr>
          <a:xfrm>
            <a:off x="5178759" y="4561926"/>
            <a:ext cx="3611880" cy="34747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t>Systèmes très </a:t>
            </a:r>
            <a:r>
              <a:rPr lang="en-US" sz="1100" dirty="0" err="1"/>
              <a:t>personnalisés</a:t>
            </a:r>
            <a:r>
              <a:rPr lang="en-US" sz="1100" dirty="0"/>
              <a:t> </a:t>
            </a:r>
            <a:r>
              <a:rPr lang="en-US" sz="1100" dirty="0" err="1"/>
              <a:t>compliqués</a:t>
            </a:r>
            <a:r>
              <a:rPr lang="en-US" sz="1100" dirty="0"/>
              <a:t> à </a:t>
            </a:r>
            <a:r>
              <a:rPr lang="en-US" sz="1100" dirty="0" err="1"/>
              <a:t>maintenir</a:t>
            </a:r>
            <a:endParaRPr lang="en-US" sz="1100">
              <a:ea typeface="Calibri"/>
              <a:cs typeface="Calibri"/>
            </a:endParaRPr>
          </a:p>
        </p:txBody>
      </p:sp>
    </p:spTree>
    <p:extLst>
      <p:ext uri="{BB962C8B-B14F-4D97-AF65-F5344CB8AC3E}">
        <p14:creationId xmlns:p14="http://schemas.microsoft.com/office/powerpoint/2010/main" val="28910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30">
            <a:extLst>
              <a:ext uri="{FF2B5EF4-FFF2-40B4-BE49-F238E27FC236}">
                <a16:creationId xmlns:a16="http://schemas.microsoft.com/office/drawing/2014/main" id="{4417FDC3-C4CC-5525-1383-BE4009626151}"/>
              </a:ext>
            </a:extLst>
          </p:cNvPr>
          <p:cNvCxnSpPr>
            <a:cxnSpLocks/>
          </p:cNvCxnSpPr>
          <p:nvPr/>
        </p:nvCxnSpPr>
        <p:spPr>
          <a:xfrm>
            <a:off x="4475150" y="-136070"/>
            <a:ext cx="0" cy="569204"/>
          </a:xfrm>
          <a:prstGeom prst="line">
            <a:avLst/>
          </a:prstGeom>
          <a:ln w="25400">
            <a:solidFill>
              <a:schemeClr val="bg1">
                <a:lumMod val="85000"/>
              </a:schemeClr>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4" name="ZoneTexte 3">
            <a:extLst>
              <a:ext uri="{FF2B5EF4-FFF2-40B4-BE49-F238E27FC236}">
                <a16:creationId xmlns:a16="http://schemas.microsoft.com/office/drawing/2014/main" id="{C8C5B6F3-5913-3EA0-E817-D89B32251C5E}"/>
              </a:ext>
            </a:extLst>
          </p:cNvPr>
          <p:cNvSpPr txBox="1"/>
          <p:nvPr/>
        </p:nvSpPr>
        <p:spPr>
          <a:xfrm>
            <a:off x="2566906" y="1884013"/>
            <a:ext cx="4572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err="1">
                <a:solidFill>
                  <a:schemeClr val="tx1">
                    <a:lumMod val="49000"/>
                    <a:lumOff val="51000"/>
                  </a:schemeClr>
                </a:solidFill>
              </a:rPr>
              <a:t>Avantages</a:t>
            </a:r>
            <a:r>
              <a:rPr lang="en-US" sz="2800" b="1">
                <a:solidFill>
                  <a:schemeClr val="tx1">
                    <a:lumMod val="49000"/>
                    <a:lumOff val="51000"/>
                  </a:schemeClr>
                </a:solidFill>
              </a:rPr>
              <a:t> de WordPress</a:t>
            </a:r>
          </a:p>
          <a:p>
            <a:pPr algn="ctr"/>
            <a:endParaRPr lang="fr-FR"/>
          </a:p>
        </p:txBody>
      </p:sp>
      <p:sp>
        <p:nvSpPr>
          <p:cNvPr id="6" name="Rectangle 5">
            <a:extLst>
              <a:ext uri="{FF2B5EF4-FFF2-40B4-BE49-F238E27FC236}">
                <a16:creationId xmlns:a16="http://schemas.microsoft.com/office/drawing/2014/main" id="{5D417486-8159-8FB5-C8A7-23353EB603A4}"/>
              </a:ext>
            </a:extLst>
          </p:cNvPr>
          <p:cNvSpPr/>
          <p:nvPr/>
        </p:nvSpPr>
        <p:spPr>
          <a:xfrm>
            <a:off x="687833" y="2672852"/>
            <a:ext cx="3396487" cy="835214"/>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chemeClr val="tx1"/>
                </a:solidFill>
                <a:ea typeface="+mn-lt"/>
                <a:cs typeface="+mn-lt"/>
              </a:rPr>
              <a:t>Extensible</a:t>
            </a:r>
            <a:r>
              <a:rPr lang="fr-FR">
                <a:solidFill>
                  <a:schemeClr val="tx1"/>
                </a:solidFill>
                <a:ea typeface="+mn-lt"/>
                <a:cs typeface="+mn-lt"/>
              </a:rPr>
              <a:t> (plugins, </a:t>
            </a:r>
            <a:r>
              <a:rPr lang="fr-FR" err="1">
                <a:solidFill>
                  <a:schemeClr val="tx1"/>
                </a:solidFill>
                <a:ea typeface="+mn-lt"/>
                <a:cs typeface="+mn-lt"/>
              </a:rPr>
              <a:t>hooks</a:t>
            </a:r>
            <a:r>
              <a:rPr lang="fr-FR">
                <a:solidFill>
                  <a:schemeClr val="tx1"/>
                </a:solidFill>
                <a:ea typeface="+mn-lt"/>
                <a:cs typeface="+mn-lt"/>
              </a:rPr>
              <a:t>)</a:t>
            </a:r>
            <a:endParaRPr lang="fr-FR" b="1">
              <a:solidFill>
                <a:schemeClr val="tx1"/>
              </a:solidFill>
              <a:ea typeface="Calibri"/>
              <a:cs typeface="Calibri"/>
            </a:endParaRPr>
          </a:p>
        </p:txBody>
      </p:sp>
      <p:sp>
        <p:nvSpPr>
          <p:cNvPr id="12" name="Shape 6">
            <a:extLst>
              <a:ext uri="{FF2B5EF4-FFF2-40B4-BE49-F238E27FC236}">
                <a16:creationId xmlns:a16="http://schemas.microsoft.com/office/drawing/2014/main" id="{CC57ED1F-A84E-7F6F-46A0-0B1909DCD3AB}"/>
              </a:ext>
            </a:extLst>
          </p:cNvPr>
          <p:cNvSpPr/>
          <p:nvPr/>
        </p:nvSpPr>
        <p:spPr>
          <a:xfrm>
            <a:off x="567106" y="2669572"/>
            <a:ext cx="122055" cy="848828"/>
          </a:xfrm>
          <a:prstGeom prst="rect">
            <a:avLst/>
          </a:prstGeom>
          <a:solidFill>
            <a:srgbClr val="21A0D2"/>
          </a:solidFill>
          <a:ln w="12700">
            <a:solidFill>
              <a:srgbClr val="21A0D2"/>
            </a:solidFill>
            <a:prstDash val="solid"/>
          </a:ln>
        </p:spPr>
      </p:sp>
      <p:sp>
        <p:nvSpPr>
          <p:cNvPr id="15" name="Rectangle 14">
            <a:extLst>
              <a:ext uri="{FF2B5EF4-FFF2-40B4-BE49-F238E27FC236}">
                <a16:creationId xmlns:a16="http://schemas.microsoft.com/office/drawing/2014/main" id="{22E78517-6005-352A-472F-88CB880C0AB7}"/>
              </a:ext>
            </a:extLst>
          </p:cNvPr>
          <p:cNvSpPr/>
          <p:nvPr/>
        </p:nvSpPr>
        <p:spPr>
          <a:xfrm>
            <a:off x="678147" y="3718986"/>
            <a:ext cx="3396487" cy="835214"/>
          </a:xfrm>
          <a:prstGeom prst="rect">
            <a:avLst/>
          </a:prstGeom>
          <a:solidFill>
            <a:schemeClr val="bg1"/>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solidFill>
                  <a:schemeClr val="tx1"/>
                </a:solidFill>
                <a:ea typeface="+mn-lt"/>
                <a:cs typeface="+mn-lt"/>
              </a:rPr>
              <a:t>Facile à déployer et utiliser</a:t>
            </a:r>
            <a:endParaRPr lang="fr-FR">
              <a:solidFill>
                <a:schemeClr val="tx1"/>
              </a:solidFill>
              <a:ea typeface="Calibri"/>
              <a:cs typeface="Calibri"/>
            </a:endParaRPr>
          </a:p>
        </p:txBody>
      </p:sp>
      <p:sp>
        <p:nvSpPr>
          <p:cNvPr id="16" name="Shape 6">
            <a:extLst>
              <a:ext uri="{FF2B5EF4-FFF2-40B4-BE49-F238E27FC236}">
                <a16:creationId xmlns:a16="http://schemas.microsoft.com/office/drawing/2014/main" id="{DD2ABCE6-AA69-8035-7157-319A04E570AC}"/>
              </a:ext>
            </a:extLst>
          </p:cNvPr>
          <p:cNvSpPr/>
          <p:nvPr/>
        </p:nvSpPr>
        <p:spPr>
          <a:xfrm>
            <a:off x="557420" y="3706020"/>
            <a:ext cx="122055" cy="848828"/>
          </a:xfrm>
          <a:prstGeom prst="rect">
            <a:avLst/>
          </a:prstGeom>
          <a:solidFill>
            <a:schemeClr val="accent2">
              <a:lumMod val="75000"/>
            </a:schemeClr>
          </a:solidFill>
          <a:ln w="12700">
            <a:solidFill>
              <a:schemeClr val="accent2">
                <a:lumMod val="75000"/>
              </a:schemeClr>
            </a:solidFill>
            <a:prstDash val="solid"/>
          </a:ln>
        </p:spPr>
      </p:sp>
      <p:sp>
        <p:nvSpPr>
          <p:cNvPr id="17" name="Rectangle 16">
            <a:extLst>
              <a:ext uri="{FF2B5EF4-FFF2-40B4-BE49-F238E27FC236}">
                <a16:creationId xmlns:a16="http://schemas.microsoft.com/office/drawing/2014/main" id="{1D991E46-FEEB-0DE5-1C0A-D7F2236E66E0}"/>
              </a:ext>
            </a:extLst>
          </p:cNvPr>
          <p:cNvSpPr/>
          <p:nvPr/>
        </p:nvSpPr>
        <p:spPr>
          <a:xfrm>
            <a:off x="4978925" y="3718986"/>
            <a:ext cx="3396487" cy="835214"/>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solidFill>
                  <a:schemeClr val="tx1"/>
                </a:solidFill>
                <a:ea typeface="+mn-lt"/>
                <a:cs typeface="+mn-lt"/>
              </a:rPr>
              <a:t>Support API REST (</a:t>
            </a:r>
            <a:r>
              <a:rPr lang="fr-FR" err="1">
                <a:solidFill>
                  <a:schemeClr val="tx1"/>
                </a:solidFill>
                <a:ea typeface="+mn-lt"/>
                <a:cs typeface="+mn-lt"/>
              </a:rPr>
              <a:t>headless</a:t>
            </a:r>
            <a:r>
              <a:rPr lang="fr-FR">
                <a:solidFill>
                  <a:schemeClr val="tx1"/>
                </a:solidFill>
                <a:ea typeface="+mn-lt"/>
                <a:cs typeface="+mn-lt"/>
              </a:rPr>
              <a:t>)</a:t>
            </a:r>
            <a:endParaRPr lang="fr-FR">
              <a:solidFill>
                <a:schemeClr val="tx1"/>
              </a:solidFill>
              <a:ea typeface="Calibri"/>
              <a:cs typeface="Calibri"/>
            </a:endParaRPr>
          </a:p>
        </p:txBody>
      </p:sp>
      <p:sp>
        <p:nvSpPr>
          <p:cNvPr id="18" name="Shape 6">
            <a:extLst>
              <a:ext uri="{FF2B5EF4-FFF2-40B4-BE49-F238E27FC236}">
                <a16:creationId xmlns:a16="http://schemas.microsoft.com/office/drawing/2014/main" id="{528A778C-0F13-96F3-00C3-6B10D4D91D21}"/>
              </a:ext>
            </a:extLst>
          </p:cNvPr>
          <p:cNvSpPr/>
          <p:nvPr/>
        </p:nvSpPr>
        <p:spPr>
          <a:xfrm>
            <a:off x="4848512" y="3706019"/>
            <a:ext cx="122055" cy="848828"/>
          </a:xfrm>
          <a:prstGeom prst="rect">
            <a:avLst/>
          </a:prstGeom>
          <a:solidFill>
            <a:srgbClr val="FF0000"/>
          </a:solidFill>
          <a:ln w="12700">
            <a:solidFill>
              <a:srgbClr val="FF0000"/>
            </a:solidFill>
            <a:prstDash val="solid"/>
          </a:ln>
        </p:spPr>
      </p:sp>
      <p:sp>
        <p:nvSpPr>
          <p:cNvPr id="19" name="Rectangle 18">
            <a:extLst>
              <a:ext uri="{FF2B5EF4-FFF2-40B4-BE49-F238E27FC236}">
                <a16:creationId xmlns:a16="http://schemas.microsoft.com/office/drawing/2014/main" id="{51598E4A-00AB-5172-F1F4-72D0B37C829E}"/>
              </a:ext>
            </a:extLst>
          </p:cNvPr>
          <p:cNvSpPr/>
          <p:nvPr/>
        </p:nvSpPr>
        <p:spPr>
          <a:xfrm>
            <a:off x="4969239" y="2682538"/>
            <a:ext cx="3396487" cy="835214"/>
          </a:xfrm>
          <a:prstGeom prst="rect">
            <a:avLst/>
          </a:prstGeom>
          <a:solidFill>
            <a:schemeClr val="bg1"/>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b="1">
                <a:solidFill>
                  <a:schemeClr val="tx1"/>
                </a:solidFill>
                <a:ea typeface="+mn-lt"/>
                <a:cs typeface="+mn-lt"/>
              </a:rPr>
              <a:t>Open source</a:t>
            </a:r>
            <a:r>
              <a:rPr lang="fr-FR">
                <a:solidFill>
                  <a:schemeClr val="tx1"/>
                </a:solidFill>
                <a:ea typeface="+mn-lt"/>
                <a:cs typeface="+mn-lt"/>
              </a:rPr>
              <a:t> et grande communauté</a:t>
            </a:r>
            <a:endParaRPr lang="fr-FR">
              <a:solidFill>
                <a:schemeClr val="tx1"/>
              </a:solidFill>
            </a:endParaRPr>
          </a:p>
        </p:txBody>
      </p:sp>
      <p:sp>
        <p:nvSpPr>
          <p:cNvPr id="20" name="Shape 6">
            <a:extLst>
              <a:ext uri="{FF2B5EF4-FFF2-40B4-BE49-F238E27FC236}">
                <a16:creationId xmlns:a16="http://schemas.microsoft.com/office/drawing/2014/main" id="{D0406A67-DCC5-0D37-44BC-B8863822A187}"/>
              </a:ext>
            </a:extLst>
          </p:cNvPr>
          <p:cNvSpPr/>
          <p:nvPr/>
        </p:nvSpPr>
        <p:spPr>
          <a:xfrm>
            <a:off x="4848512" y="2679258"/>
            <a:ext cx="122055" cy="848828"/>
          </a:xfrm>
          <a:prstGeom prst="rect">
            <a:avLst/>
          </a:prstGeom>
          <a:solidFill>
            <a:schemeClr val="accent6">
              <a:lumMod val="75000"/>
            </a:schemeClr>
          </a:solidFill>
          <a:ln w="12700">
            <a:solidFill>
              <a:schemeClr val="accent6">
                <a:lumMod val="60000"/>
                <a:lumOff val="40000"/>
              </a:schemeClr>
            </a:solidFill>
            <a:prstDash val="solid"/>
          </a:ln>
        </p:spPr>
      </p:sp>
      <p:sp>
        <p:nvSpPr>
          <p:cNvPr id="2" name="ZoneTexte 1">
            <a:extLst>
              <a:ext uri="{FF2B5EF4-FFF2-40B4-BE49-F238E27FC236}">
                <a16:creationId xmlns:a16="http://schemas.microsoft.com/office/drawing/2014/main" id="{8D40589A-7EF3-9B20-9EDE-A6A7D834BA82}"/>
              </a:ext>
            </a:extLst>
          </p:cNvPr>
          <p:cNvSpPr txBox="1"/>
          <p:nvPr/>
        </p:nvSpPr>
        <p:spPr>
          <a:xfrm>
            <a:off x="502311" y="747471"/>
            <a:ext cx="794518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a:ea typeface="+mn-lt"/>
                <a:cs typeface="+mn-lt"/>
              </a:rPr>
              <a:t>Avec la croissance rapide du web et du contenu numérique, la gestion manuelle des sites est devenue complexe et coûteuse.</a:t>
            </a:r>
            <a:br>
              <a:rPr lang="fr-FR" sz="1600">
                <a:ea typeface="+mn-lt"/>
                <a:cs typeface="+mn-lt"/>
              </a:rPr>
            </a:br>
            <a:r>
              <a:rPr lang="fr-FR" sz="1600">
                <a:ea typeface="+mn-lt"/>
                <a:cs typeface="+mn-lt"/>
              </a:rPr>
              <a:t> Les CMS sont apparus comme une solution permettant de simplifier la création et la maintenance des sites web, en rendant ces tâches accessibles même aux non-développeurs.</a:t>
            </a:r>
            <a:endParaRPr lang="fr-FR" sz="1600"/>
          </a:p>
        </p:txBody>
      </p:sp>
    </p:spTree>
    <p:extLst>
      <p:ext uri="{BB962C8B-B14F-4D97-AF65-F5344CB8AC3E}">
        <p14:creationId xmlns:p14="http://schemas.microsoft.com/office/powerpoint/2010/main" val="1545455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p:cNvSpPr txBox="1"/>
          <p:nvPr/>
        </p:nvSpPr>
        <p:spPr>
          <a:xfrm>
            <a:off x="2962924" y="614937"/>
            <a:ext cx="3133310" cy="830997"/>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de-DE" sz="4800">
                <a:solidFill>
                  <a:schemeClr val="bg1">
                    <a:lumMod val="50000"/>
                  </a:schemeClr>
                </a:solidFill>
                <a:latin typeface="+mj-lt"/>
              </a:rPr>
              <a:t>WordPress</a:t>
            </a:r>
            <a:endParaRPr lang="en-US" sz="4800">
              <a:solidFill>
                <a:schemeClr val="bg1">
                  <a:lumMod val="50000"/>
                </a:schemeClr>
              </a:solidFill>
              <a:latin typeface="+mj-lt"/>
            </a:endParaRPr>
          </a:p>
        </p:txBody>
      </p:sp>
      <p:cxnSp>
        <p:nvCxnSpPr>
          <p:cNvPr id="11" name="Straight Connector 10"/>
          <p:cNvCxnSpPr>
            <a:cxnSpLocks/>
          </p:cNvCxnSpPr>
          <p:nvPr/>
        </p:nvCxnSpPr>
        <p:spPr>
          <a:xfrm>
            <a:off x="4529579" y="1526299"/>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2" name="Isosceles Triangle 1"/>
          <p:cNvSpPr/>
          <p:nvPr/>
        </p:nvSpPr>
        <p:spPr>
          <a:xfrm rot="10800000">
            <a:off x="4430598" y="1420701"/>
            <a:ext cx="197963" cy="116857"/>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4" name="Oval 3"/>
          <p:cNvSpPr/>
          <p:nvPr/>
        </p:nvSpPr>
        <p:spPr>
          <a:xfrm>
            <a:off x="4487158" y="2474864"/>
            <a:ext cx="84842" cy="84842"/>
          </a:xfrm>
          <a:prstGeom prst="ellipse">
            <a:avLst/>
          </a:prstGeom>
          <a:solidFill>
            <a:schemeClr val="accent2"/>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10" name="Straight Connector 9"/>
          <p:cNvCxnSpPr>
            <a:cxnSpLocks/>
          </p:cNvCxnSpPr>
          <p:nvPr/>
        </p:nvCxnSpPr>
        <p:spPr>
          <a:xfrm>
            <a:off x="4093589" y="2531426"/>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293929" y="2136039"/>
            <a:ext cx="790773" cy="790773"/>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grpSp>
        <p:nvGrpSpPr>
          <p:cNvPr id="26" name="Group 25"/>
          <p:cNvGrpSpPr/>
          <p:nvPr/>
        </p:nvGrpSpPr>
        <p:grpSpPr>
          <a:xfrm>
            <a:off x="3522671" y="2367645"/>
            <a:ext cx="333289" cy="327561"/>
            <a:chOff x="-20638" y="1588"/>
            <a:chExt cx="2955925" cy="2905125"/>
          </a:xfrm>
          <a:solidFill>
            <a:schemeClr val="bg1"/>
          </a:solidFill>
        </p:grpSpPr>
        <p:sp>
          <p:nvSpPr>
            <p:cNvPr id="22" name="Freeform 5"/>
            <p:cNvSpPr>
              <a:spLocks/>
            </p:cNvSpPr>
            <p:nvPr/>
          </p:nvSpPr>
          <p:spPr bwMode="auto">
            <a:xfrm>
              <a:off x="1595438" y="363538"/>
              <a:ext cx="955675" cy="955675"/>
            </a:xfrm>
            <a:custGeom>
              <a:avLst/>
              <a:gdLst>
                <a:gd name="T0" fmla="*/ 229 w 254"/>
                <a:gd name="T1" fmla="*/ 242 h 254"/>
                <a:gd name="T2" fmla="*/ 229 w 254"/>
                <a:gd name="T3" fmla="*/ 242 h 254"/>
                <a:gd name="T4" fmla="*/ 241 w 254"/>
                <a:gd name="T5" fmla="*/ 254 h 254"/>
                <a:gd name="T6" fmla="*/ 254 w 254"/>
                <a:gd name="T7" fmla="*/ 242 h 254"/>
                <a:gd name="T8" fmla="*/ 253 w 254"/>
                <a:gd name="T9" fmla="*/ 242 h 254"/>
                <a:gd name="T10" fmla="*/ 13 w 254"/>
                <a:gd name="T11" fmla="*/ 1 h 254"/>
                <a:gd name="T12" fmla="*/ 12 w 254"/>
                <a:gd name="T13" fmla="*/ 0 h 254"/>
                <a:gd name="T14" fmla="*/ 0 w 254"/>
                <a:gd name="T15" fmla="*/ 13 h 254"/>
                <a:gd name="T16" fmla="*/ 12 w 254"/>
                <a:gd name="T17" fmla="*/ 25 h 254"/>
                <a:gd name="T18" fmla="*/ 12 w 254"/>
                <a:gd name="T19" fmla="*/ 25 h 254"/>
                <a:gd name="T20" fmla="*/ 229 w 254"/>
                <a:gd name="T21" fmla="*/ 24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nvGrpSpPr>
            <p:cNvPr id="25" name="Group 24"/>
            <p:cNvGrpSpPr/>
            <p:nvPr/>
          </p:nvGrpSpPr>
          <p:grpSpPr>
            <a:xfrm>
              <a:off x="-20638" y="1588"/>
              <a:ext cx="2955925" cy="2905125"/>
              <a:chOff x="-20638" y="1588"/>
              <a:chExt cx="2955925" cy="2905125"/>
            </a:xfrm>
            <a:grpFill/>
          </p:grpSpPr>
          <p:sp>
            <p:nvSpPr>
              <p:cNvPr id="23" name="Freeform 6"/>
              <p:cNvSpPr>
                <a:spLocks noEditPoints="1"/>
              </p:cNvSpPr>
              <p:nvPr/>
            </p:nvSpPr>
            <p:spPr bwMode="auto">
              <a:xfrm>
                <a:off x="-20638" y="1588"/>
                <a:ext cx="2955925" cy="2905125"/>
              </a:xfrm>
              <a:custGeom>
                <a:avLst/>
                <a:gdLst>
                  <a:gd name="T0" fmla="*/ 227 w 785"/>
                  <a:gd name="T1" fmla="*/ 21 h 772"/>
                  <a:gd name="T2" fmla="*/ 176 w 785"/>
                  <a:gd name="T3" fmla="*/ 0 h 772"/>
                  <a:gd name="T4" fmla="*/ 148 w 785"/>
                  <a:gd name="T5" fmla="*/ 6 h 772"/>
                  <a:gd name="T6" fmla="*/ 103 w 785"/>
                  <a:gd name="T7" fmla="*/ 72 h 772"/>
                  <a:gd name="T8" fmla="*/ 103 w 785"/>
                  <a:gd name="T9" fmla="*/ 404 h 772"/>
                  <a:gd name="T10" fmla="*/ 28 w 785"/>
                  <a:gd name="T11" fmla="*/ 480 h 772"/>
                  <a:gd name="T12" fmla="*/ 28 w 785"/>
                  <a:gd name="T13" fmla="*/ 582 h 772"/>
                  <a:gd name="T14" fmla="*/ 197 w 785"/>
                  <a:gd name="T15" fmla="*/ 751 h 772"/>
                  <a:gd name="T16" fmla="*/ 248 w 785"/>
                  <a:gd name="T17" fmla="*/ 772 h 772"/>
                  <a:gd name="T18" fmla="*/ 299 w 785"/>
                  <a:gd name="T19" fmla="*/ 751 h 772"/>
                  <a:gd name="T20" fmla="*/ 375 w 785"/>
                  <a:gd name="T21" fmla="*/ 675 h 772"/>
                  <a:gd name="T22" fmla="*/ 707 w 785"/>
                  <a:gd name="T23" fmla="*/ 675 h 772"/>
                  <a:gd name="T24" fmla="*/ 773 w 785"/>
                  <a:gd name="T25" fmla="*/ 631 h 772"/>
                  <a:gd name="T26" fmla="*/ 758 w 785"/>
                  <a:gd name="T27" fmla="*/ 552 h 772"/>
                  <a:gd name="T28" fmla="*/ 227 w 785"/>
                  <a:gd name="T29" fmla="*/ 21 h 772"/>
                  <a:gd name="T30" fmla="*/ 341 w 785"/>
                  <a:gd name="T31" fmla="*/ 641 h 772"/>
                  <a:gd name="T32" fmla="*/ 265 w 785"/>
                  <a:gd name="T33" fmla="*/ 717 h 772"/>
                  <a:gd name="T34" fmla="*/ 248 w 785"/>
                  <a:gd name="T35" fmla="*/ 724 h 772"/>
                  <a:gd name="T36" fmla="*/ 231 w 785"/>
                  <a:gd name="T37" fmla="*/ 717 h 772"/>
                  <a:gd name="T38" fmla="*/ 62 w 785"/>
                  <a:gd name="T39" fmla="*/ 548 h 772"/>
                  <a:gd name="T40" fmla="*/ 55 w 785"/>
                  <a:gd name="T41" fmla="*/ 531 h 772"/>
                  <a:gd name="T42" fmla="*/ 62 w 785"/>
                  <a:gd name="T43" fmla="*/ 514 h 772"/>
                  <a:gd name="T44" fmla="*/ 138 w 785"/>
                  <a:gd name="T45" fmla="*/ 438 h 772"/>
                  <a:gd name="T46" fmla="*/ 138 w 785"/>
                  <a:gd name="T47" fmla="*/ 438 h 772"/>
                  <a:gd name="T48" fmla="*/ 341 w 785"/>
                  <a:gd name="T49" fmla="*/ 641 h 772"/>
                  <a:gd name="T50" fmla="*/ 341 w 785"/>
                  <a:gd name="T51" fmla="*/ 641 h 772"/>
                  <a:gd name="T52" fmla="*/ 375 w 785"/>
                  <a:gd name="T53" fmla="*/ 627 h 772"/>
                  <a:gd name="T54" fmla="*/ 364 w 785"/>
                  <a:gd name="T55" fmla="*/ 629 h 772"/>
                  <a:gd name="T56" fmla="*/ 150 w 785"/>
                  <a:gd name="T57" fmla="*/ 415 h 772"/>
                  <a:gd name="T58" fmla="*/ 152 w 785"/>
                  <a:gd name="T59" fmla="*/ 404 h 772"/>
                  <a:gd name="T60" fmla="*/ 152 w 785"/>
                  <a:gd name="T61" fmla="*/ 114 h 772"/>
                  <a:gd name="T62" fmla="*/ 665 w 785"/>
                  <a:gd name="T63" fmla="*/ 627 h 772"/>
                  <a:gd name="T64" fmla="*/ 375 w 785"/>
                  <a:gd name="T65" fmla="*/ 627 h 772"/>
                  <a:gd name="T66" fmla="*/ 729 w 785"/>
                  <a:gd name="T67" fmla="*/ 612 h 772"/>
                  <a:gd name="T68" fmla="*/ 707 w 785"/>
                  <a:gd name="T69" fmla="*/ 627 h 772"/>
                  <a:gd name="T70" fmla="*/ 699 w 785"/>
                  <a:gd name="T71" fmla="*/ 627 h 772"/>
                  <a:gd name="T72" fmla="*/ 152 w 785"/>
                  <a:gd name="T73" fmla="*/ 80 h 772"/>
                  <a:gd name="T74" fmla="*/ 152 w 785"/>
                  <a:gd name="T75" fmla="*/ 72 h 772"/>
                  <a:gd name="T76" fmla="*/ 167 w 785"/>
                  <a:gd name="T77" fmla="*/ 50 h 772"/>
                  <a:gd name="T78" fmla="*/ 176 w 785"/>
                  <a:gd name="T79" fmla="*/ 48 h 772"/>
                  <a:gd name="T80" fmla="*/ 193 w 785"/>
                  <a:gd name="T81" fmla="*/ 55 h 772"/>
                  <a:gd name="T82" fmla="*/ 724 w 785"/>
                  <a:gd name="T83" fmla="*/ 586 h 772"/>
                  <a:gd name="T84" fmla="*/ 729 w 785"/>
                  <a:gd name="T85" fmla="*/ 61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24" name="Freeform 7"/>
              <p:cNvSpPr>
                <a:spLocks/>
              </p:cNvSpPr>
              <p:nvPr/>
            </p:nvSpPr>
            <p:spPr bwMode="auto">
              <a:xfrm>
                <a:off x="1549400" y="1588"/>
                <a:ext cx="1362075" cy="1362075"/>
              </a:xfrm>
              <a:custGeom>
                <a:avLst/>
                <a:gdLst>
                  <a:gd name="T0" fmla="*/ 24 w 362"/>
                  <a:gd name="T1" fmla="*/ 48 h 362"/>
                  <a:gd name="T2" fmla="*/ 24 w 362"/>
                  <a:gd name="T3" fmla="*/ 48 h 362"/>
                  <a:gd name="T4" fmla="*/ 314 w 362"/>
                  <a:gd name="T5" fmla="*/ 338 h 362"/>
                  <a:gd name="T6" fmla="*/ 314 w 362"/>
                  <a:gd name="T7" fmla="*/ 338 h 362"/>
                  <a:gd name="T8" fmla="*/ 338 w 362"/>
                  <a:gd name="T9" fmla="*/ 362 h 362"/>
                  <a:gd name="T10" fmla="*/ 362 w 362"/>
                  <a:gd name="T11" fmla="*/ 338 h 362"/>
                  <a:gd name="T12" fmla="*/ 362 w 362"/>
                  <a:gd name="T13" fmla="*/ 338 h 362"/>
                  <a:gd name="T14" fmla="*/ 25 w 362"/>
                  <a:gd name="T15" fmla="*/ 0 h 362"/>
                  <a:gd name="T16" fmla="*/ 24 w 362"/>
                  <a:gd name="T17" fmla="*/ 0 h 362"/>
                  <a:gd name="T18" fmla="*/ 0 w 362"/>
                  <a:gd name="T19" fmla="*/ 24 h 362"/>
                  <a:gd name="T20" fmla="*/ 24 w 362"/>
                  <a:gd name="T21" fmla="*/ 4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grpSp>
      <p:cxnSp>
        <p:nvCxnSpPr>
          <p:cNvPr id="27" name="Straight Connector 26"/>
          <p:cNvCxnSpPr>
            <a:cxnSpLocks/>
          </p:cNvCxnSpPr>
          <p:nvPr/>
        </p:nvCxnSpPr>
        <p:spPr>
          <a:xfrm>
            <a:off x="4529579" y="2566267"/>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4487158" y="3514833"/>
            <a:ext cx="84842" cy="84842"/>
          </a:xfrm>
          <a:prstGeom prst="ellipse">
            <a:avLst/>
          </a:prstGeom>
          <a:solidFill>
            <a:schemeClr val="accent3"/>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29" name="Straight Connector 28"/>
          <p:cNvCxnSpPr>
            <a:cxnSpLocks/>
          </p:cNvCxnSpPr>
          <p:nvPr/>
        </p:nvCxnSpPr>
        <p:spPr>
          <a:xfrm>
            <a:off x="4572000" y="3571394"/>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cxnSpLocks/>
          </p:cNvCxnSpPr>
          <p:nvPr/>
        </p:nvCxnSpPr>
        <p:spPr>
          <a:xfrm>
            <a:off x="4529579" y="3599674"/>
            <a:ext cx="0" cy="1543826"/>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cxnSpLocks/>
          </p:cNvCxnSpPr>
          <p:nvPr/>
        </p:nvCxnSpPr>
        <p:spPr>
          <a:xfrm>
            <a:off x="4529579" y="1"/>
            <a:ext cx="0" cy="569204"/>
          </a:xfrm>
          <a:prstGeom prst="line">
            <a:avLst/>
          </a:prstGeom>
          <a:ln w="25400">
            <a:solidFill>
              <a:schemeClr val="bg1">
                <a:lumMod val="85000"/>
              </a:schemeClr>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293929" y="2861659"/>
            <a:ext cx="790773" cy="6515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9" name="TextBox 62">
            <a:extLst>
              <a:ext uri="{FF2B5EF4-FFF2-40B4-BE49-F238E27FC236}">
                <a16:creationId xmlns:a16="http://schemas.microsoft.com/office/drawing/2014/main" id="{42F18B11-775A-1596-D583-D3D86AEEF830}"/>
              </a:ext>
            </a:extLst>
          </p:cNvPr>
          <p:cNvSpPr txBox="1"/>
          <p:nvPr/>
        </p:nvSpPr>
        <p:spPr>
          <a:xfrm>
            <a:off x="1303787" y="2371644"/>
            <a:ext cx="1961900" cy="276999"/>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200" b="1">
                <a:solidFill>
                  <a:schemeClr val="tx1">
                    <a:lumMod val="49000"/>
                    <a:lumOff val="51000"/>
                  </a:schemeClr>
                </a:solidFill>
                <a:latin typeface="Calibri Light"/>
                <a:ea typeface="Calibri Light"/>
                <a:cs typeface="Calibri Light"/>
              </a:rPr>
              <a:t>Structure de CMS Wordpress</a:t>
            </a:r>
          </a:p>
        </p:txBody>
      </p:sp>
      <p:grpSp>
        <p:nvGrpSpPr>
          <p:cNvPr id="38" name="Group 23">
            <a:extLst>
              <a:ext uri="{FF2B5EF4-FFF2-40B4-BE49-F238E27FC236}">
                <a16:creationId xmlns:a16="http://schemas.microsoft.com/office/drawing/2014/main" id="{D55F81D0-F677-CF43-F102-A74E7F82B33D}"/>
              </a:ext>
            </a:extLst>
          </p:cNvPr>
          <p:cNvGrpSpPr/>
          <p:nvPr/>
        </p:nvGrpSpPr>
        <p:grpSpPr>
          <a:xfrm>
            <a:off x="6956024" y="2618406"/>
            <a:ext cx="331427" cy="310747"/>
            <a:chOff x="6956024" y="2562277"/>
            <a:chExt cx="3867150" cy="3625850"/>
          </a:xfrm>
          <a:solidFill>
            <a:schemeClr val="bg1"/>
          </a:solidFill>
        </p:grpSpPr>
        <p:sp>
          <p:nvSpPr>
            <p:cNvPr id="47" name="Freeform 9">
              <a:extLst>
                <a:ext uri="{FF2B5EF4-FFF2-40B4-BE49-F238E27FC236}">
                  <a16:creationId xmlns:a16="http://schemas.microsoft.com/office/drawing/2014/main" id="{EC58C154-2488-3516-819F-122DD546B937}"/>
                </a:ext>
              </a:extLst>
            </p:cNvPr>
            <p:cNvSpPr>
              <a:spLocks noEditPoints="1"/>
            </p:cNvSpPr>
            <p:nvPr/>
          </p:nvSpPr>
          <p:spPr bwMode="auto">
            <a:xfrm>
              <a:off x="6956024" y="2562277"/>
              <a:ext cx="3867150" cy="3625850"/>
            </a:xfrm>
            <a:custGeom>
              <a:avLst/>
              <a:gdLst>
                <a:gd name="T0" fmla="*/ 1009 w 1028"/>
                <a:gd name="T1" fmla="*/ 212 h 964"/>
                <a:gd name="T2" fmla="*/ 817 w 1028"/>
                <a:gd name="T3" fmla="*/ 19 h 964"/>
                <a:gd name="T4" fmla="*/ 771 w 1028"/>
                <a:gd name="T5" fmla="*/ 0 h 964"/>
                <a:gd name="T6" fmla="*/ 96 w 1028"/>
                <a:gd name="T7" fmla="*/ 0 h 964"/>
                <a:gd name="T8" fmla="*/ 0 w 1028"/>
                <a:gd name="T9" fmla="*/ 96 h 964"/>
                <a:gd name="T10" fmla="*/ 0 w 1028"/>
                <a:gd name="T11" fmla="*/ 868 h 964"/>
                <a:gd name="T12" fmla="*/ 96 w 1028"/>
                <a:gd name="T13" fmla="*/ 964 h 964"/>
                <a:gd name="T14" fmla="*/ 932 w 1028"/>
                <a:gd name="T15" fmla="*/ 964 h 964"/>
                <a:gd name="T16" fmla="*/ 1028 w 1028"/>
                <a:gd name="T17" fmla="*/ 868 h 964"/>
                <a:gd name="T18" fmla="*/ 1028 w 1028"/>
                <a:gd name="T19" fmla="*/ 257 h 964"/>
                <a:gd name="T20" fmla="*/ 1009 w 1028"/>
                <a:gd name="T21" fmla="*/ 212 h 964"/>
                <a:gd name="T22" fmla="*/ 964 w 1028"/>
                <a:gd name="T23" fmla="*/ 868 h 964"/>
                <a:gd name="T24" fmla="*/ 932 w 1028"/>
                <a:gd name="T25" fmla="*/ 900 h 964"/>
                <a:gd name="T26" fmla="*/ 96 w 1028"/>
                <a:gd name="T27" fmla="*/ 900 h 964"/>
                <a:gd name="T28" fmla="*/ 64 w 1028"/>
                <a:gd name="T29" fmla="*/ 868 h 964"/>
                <a:gd name="T30" fmla="*/ 64 w 1028"/>
                <a:gd name="T31" fmla="*/ 96 h 964"/>
                <a:gd name="T32" fmla="*/ 96 w 1028"/>
                <a:gd name="T33" fmla="*/ 64 h 964"/>
                <a:gd name="T34" fmla="*/ 739 w 1028"/>
                <a:gd name="T35" fmla="*/ 64 h 964"/>
                <a:gd name="T36" fmla="*/ 739 w 1028"/>
                <a:gd name="T37" fmla="*/ 193 h 964"/>
                <a:gd name="T38" fmla="*/ 739 w 1028"/>
                <a:gd name="T39" fmla="*/ 193 h 964"/>
                <a:gd name="T40" fmla="*/ 835 w 1028"/>
                <a:gd name="T41" fmla="*/ 289 h 964"/>
                <a:gd name="T42" fmla="*/ 868 w 1028"/>
                <a:gd name="T43" fmla="*/ 289 h 964"/>
                <a:gd name="T44" fmla="*/ 964 w 1028"/>
                <a:gd name="T45" fmla="*/ 289 h 964"/>
                <a:gd name="T46" fmla="*/ 964 w 1028"/>
                <a:gd name="T47" fmla="*/ 868 h 964"/>
                <a:gd name="T48" fmla="*/ 868 w 1028"/>
                <a:gd name="T49" fmla="*/ 257 h 964"/>
                <a:gd name="T50" fmla="*/ 835 w 1028"/>
                <a:gd name="T51" fmla="*/ 257 h 964"/>
                <a:gd name="T52" fmla="*/ 771 w 1028"/>
                <a:gd name="T53" fmla="*/ 193 h 964"/>
                <a:gd name="T54" fmla="*/ 771 w 1028"/>
                <a:gd name="T55" fmla="*/ 193 h 964"/>
                <a:gd name="T56" fmla="*/ 771 w 1028"/>
                <a:gd name="T57" fmla="*/ 64 h 964"/>
                <a:gd name="T58" fmla="*/ 964 w 1028"/>
                <a:gd name="T59" fmla="*/ 257 h 964"/>
                <a:gd name="T60" fmla="*/ 868 w 1028"/>
                <a:gd name="T61" fmla="*/ 257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8" h="964">
                  <a:moveTo>
                    <a:pt x="1009" y="212"/>
                  </a:moveTo>
                  <a:cubicBezTo>
                    <a:pt x="817" y="19"/>
                    <a:pt x="817" y="19"/>
                    <a:pt x="817" y="19"/>
                  </a:cubicBezTo>
                  <a:cubicBezTo>
                    <a:pt x="805" y="7"/>
                    <a:pt x="788" y="0"/>
                    <a:pt x="771" y="0"/>
                  </a:cubicBezTo>
                  <a:cubicBezTo>
                    <a:pt x="96" y="0"/>
                    <a:pt x="96" y="0"/>
                    <a:pt x="96" y="0"/>
                  </a:cubicBezTo>
                  <a:cubicBezTo>
                    <a:pt x="43" y="0"/>
                    <a:pt x="0" y="43"/>
                    <a:pt x="0" y="96"/>
                  </a:cubicBezTo>
                  <a:cubicBezTo>
                    <a:pt x="0" y="868"/>
                    <a:pt x="0" y="868"/>
                    <a:pt x="0" y="868"/>
                  </a:cubicBezTo>
                  <a:cubicBezTo>
                    <a:pt x="0" y="921"/>
                    <a:pt x="43" y="964"/>
                    <a:pt x="96" y="964"/>
                  </a:cubicBezTo>
                  <a:cubicBezTo>
                    <a:pt x="932" y="964"/>
                    <a:pt x="932" y="964"/>
                    <a:pt x="932" y="964"/>
                  </a:cubicBezTo>
                  <a:cubicBezTo>
                    <a:pt x="985" y="964"/>
                    <a:pt x="1028" y="921"/>
                    <a:pt x="1028" y="868"/>
                  </a:cubicBezTo>
                  <a:cubicBezTo>
                    <a:pt x="1028" y="257"/>
                    <a:pt x="1028" y="257"/>
                    <a:pt x="1028" y="257"/>
                  </a:cubicBezTo>
                  <a:cubicBezTo>
                    <a:pt x="1028" y="240"/>
                    <a:pt x="1022" y="224"/>
                    <a:pt x="1009" y="212"/>
                  </a:cubicBezTo>
                  <a:close/>
                  <a:moveTo>
                    <a:pt x="964" y="868"/>
                  </a:moveTo>
                  <a:cubicBezTo>
                    <a:pt x="964" y="885"/>
                    <a:pt x="950" y="900"/>
                    <a:pt x="932" y="900"/>
                  </a:cubicBezTo>
                  <a:cubicBezTo>
                    <a:pt x="96" y="900"/>
                    <a:pt x="96" y="900"/>
                    <a:pt x="96" y="900"/>
                  </a:cubicBezTo>
                  <a:cubicBezTo>
                    <a:pt x="79" y="900"/>
                    <a:pt x="64" y="885"/>
                    <a:pt x="64" y="868"/>
                  </a:cubicBezTo>
                  <a:cubicBezTo>
                    <a:pt x="64" y="96"/>
                    <a:pt x="64" y="96"/>
                    <a:pt x="64" y="96"/>
                  </a:cubicBezTo>
                  <a:cubicBezTo>
                    <a:pt x="64" y="79"/>
                    <a:pt x="79" y="64"/>
                    <a:pt x="96" y="64"/>
                  </a:cubicBezTo>
                  <a:cubicBezTo>
                    <a:pt x="739" y="64"/>
                    <a:pt x="739" y="64"/>
                    <a:pt x="739" y="64"/>
                  </a:cubicBezTo>
                  <a:cubicBezTo>
                    <a:pt x="739" y="193"/>
                    <a:pt x="739" y="193"/>
                    <a:pt x="739" y="193"/>
                  </a:cubicBezTo>
                  <a:cubicBezTo>
                    <a:pt x="739" y="193"/>
                    <a:pt x="739" y="193"/>
                    <a:pt x="739" y="193"/>
                  </a:cubicBezTo>
                  <a:cubicBezTo>
                    <a:pt x="739" y="246"/>
                    <a:pt x="782" y="289"/>
                    <a:pt x="835" y="289"/>
                  </a:cubicBezTo>
                  <a:cubicBezTo>
                    <a:pt x="868" y="289"/>
                    <a:pt x="868" y="289"/>
                    <a:pt x="868" y="289"/>
                  </a:cubicBezTo>
                  <a:cubicBezTo>
                    <a:pt x="964" y="289"/>
                    <a:pt x="964" y="289"/>
                    <a:pt x="964" y="289"/>
                  </a:cubicBezTo>
                  <a:lnTo>
                    <a:pt x="964" y="868"/>
                  </a:lnTo>
                  <a:close/>
                  <a:moveTo>
                    <a:pt x="868" y="257"/>
                  </a:moveTo>
                  <a:cubicBezTo>
                    <a:pt x="835" y="257"/>
                    <a:pt x="835" y="257"/>
                    <a:pt x="835" y="257"/>
                  </a:cubicBezTo>
                  <a:cubicBezTo>
                    <a:pt x="800" y="257"/>
                    <a:pt x="771" y="228"/>
                    <a:pt x="771" y="193"/>
                  </a:cubicBezTo>
                  <a:cubicBezTo>
                    <a:pt x="771" y="193"/>
                    <a:pt x="771" y="193"/>
                    <a:pt x="771" y="193"/>
                  </a:cubicBezTo>
                  <a:cubicBezTo>
                    <a:pt x="771" y="64"/>
                    <a:pt x="771" y="64"/>
                    <a:pt x="771" y="64"/>
                  </a:cubicBezTo>
                  <a:cubicBezTo>
                    <a:pt x="964" y="257"/>
                    <a:pt x="964" y="257"/>
                    <a:pt x="964" y="257"/>
                  </a:cubicBezTo>
                  <a:lnTo>
                    <a:pt x="868" y="257"/>
                  </a:ln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8" name="Freeform 10">
              <a:extLst>
                <a:ext uri="{FF2B5EF4-FFF2-40B4-BE49-F238E27FC236}">
                  <a16:creationId xmlns:a16="http://schemas.microsoft.com/office/drawing/2014/main" id="{B56C6406-2BA5-F7D5-8A18-729FA49CC94F}"/>
                </a:ext>
              </a:extLst>
            </p:cNvPr>
            <p:cNvSpPr>
              <a:spLocks/>
            </p:cNvSpPr>
            <p:nvPr/>
          </p:nvSpPr>
          <p:spPr bwMode="auto">
            <a:xfrm>
              <a:off x="8768949" y="328776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9" name="Freeform 11">
              <a:extLst>
                <a:ext uri="{FF2B5EF4-FFF2-40B4-BE49-F238E27FC236}">
                  <a16:creationId xmlns:a16="http://schemas.microsoft.com/office/drawing/2014/main" id="{19F6452A-016D-EBFF-325F-793B6AC9BFE1}"/>
                </a:ext>
              </a:extLst>
            </p:cNvPr>
            <p:cNvSpPr>
              <a:spLocks/>
            </p:cNvSpPr>
            <p:nvPr/>
          </p:nvSpPr>
          <p:spPr bwMode="auto">
            <a:xfrm>
              <a:off x="8768949" y="364971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0" name="Freeform 12">
              <a:extLst>
                <a:ext uri="{FF2B5EF4-FFF2-40B4-BE49-F238E27FC236}">
                  <a16:creationId xmlns:a16="http://schemas.microsoft.com/office/drawing/2014/main" id="{5C145A6B-DA52-0D46-3950-D8BAAAA30EBF}"/>
                </a:ext>
              </a:extLst>
            </p:cNvPr>
            <p:cNvSpPr>
              <a:spLocks/>
            </p:cNvSpPr>
            <p:nvPr/>
          </p:nvSpPr>
          <p:spPr bwMode="auto">
            <a:xfrm>
              <a:off x="8768949" y="4014840"/>
              <a:ext cx="1573213" cy="120650"/>
            </a:xfrm>
            <a:custGeom>
              <a:avLst/>
              <a:gdLst>
                <a:gd name="T0" fmla="*/ 0 w 418"/>
                <a:gd name="T1" fmla="*/ 16 h 32"/>
                <a:gd name="T2" fmla="*/ 16 w 418"/>
                <a:gd name="T3" fmla="*/ 32 h 32"/>
                <a:gd name="T4" fmla="*/ 402 w 418"/>
                <a:gd name="T5" fmla="*/ 32 h 32"/>
                <a:gd name="T6" fmla="*/ 418 w 418"/>
                <a:gd name="T7" fmla="*/ 16 h 32"/>
                <a:gd name="T8" fmla="*/ 402 w 418"/>
                <a:gd name="T9" fmla="*/ 0 h 32"/>
                <a:gd name="T10" fmla="*/ 16 w 418"/>
                <a:gd name="T11" fmla="*/ 0 h 32"/>
                <a:gd name="T12" fmla="*/ 0 w 418"/>
                <a:gd name="T13" fmla="*/ 16 h 32"/>
              </a:gdLst>
              <a:ahLst/>
              <a:cxnLst>
                <a:cxn ang="0">
                  <a:pos x="T0" y="T1"/>
                </a:cxn>
                <a:cxn ang="0">
                  <a:pos x="T2" y="T3"/>
                </a:cxn>
                <a:cxn ang="0">
                  <a:pos x="T4" y="T5"/>
                </a:cxn>
                <a:cxn ang="0">
                  <a:pos x="T6" y="T7"/>
                </a:cxn>
                <a:cxn ang="0">
                  <a:pos x="T8" y="T9"/>
                </a:cxn>
                <a:cxn ang="0">
                  <a:pos x="T10" y="T11"/>
                </a:cxn>
                <a:cxn ang="0">
                  <a:pos x="T12" y="T13"/>
                </a:cxn>
              </a:cxnLst>
              <a:rect l="0" t="0" r="r" b="b"/>
              <a:pathLst>
                <a:path w="418" h="32">
                  <a:moveTo>
                    <a:pt x="0" y="16"/>
                  </a:moveTo>
                  <a:cubicBezTo>
                    <a:pt x="0" y="25"/>
                    <a:pt x="7" y="32"/>
                    <a:pt x="16" y="32"/>
                  </a:cubicBezTo>
                  <a:cubicBezTo>
                    <a:pt x="402" y="32"/>
                    <a:pt x="402" y="32"/>
                    <a:pt x="402" y="32"/>
                  </a:cubicBezTo>
                  <a:cubicBezTo>
                    <a:pt x="411" y="32"/>
                    <a:pt x="418" y="25"/>
                    <a:pt x="418" y="16"/>
                  </a:cubicBezTo>
                  <a:cubicBezTo>
                    <a:pt x="418" y="7"/>
                    <a:pt x="411" y="0"/>
                    <a:pt x="402" y="0"/>
                  </a:cubicBezTo>
                  <a:cubicBezTo>
                    <a:pt x="16" y="0"/>
                    <a:pt x="16" y="0"/>
                    <a:pt x="16" y="0"/>
                  </a:cubicBezTo>
                  <a:cubicBezTo>
                    <a:pt x="7" y="0"/>
                    <a:pt x="0" y="7"/>
                    <a:pt x="0" y="16"/>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1" name="Freeform 13">
              <a:extLst>
                <a:ext uri="{FF2B5EF4-FFF2-40B4-BE49-F238E27FC236}">
                  <a16:creationId xmlns:a16="http://schemas.microsoft.com/office/drawing/2014/main" id="{7C036B3D-C831-3929-D71C-03CD1D63FA58}"/>
                </a:ext>
              </a:extLst>
            </p:cNvPr>
            <p:cNvSpPr>
              <a:spLocks/>
            </p:cNvSpPr>
            <p:nvPr/>
          </p:nvSpPr>
          <p:spPr bwMode="auto">
            <a:xfrm>
              <a:off x="7441799" y="4737152"/>
              <a:ext cx="2900363" cy="123825"/>
            </a:xfrm>
            <a:custGeom>
              <a:avLst/>
              <a:gdLst>
                <a:gd name="T0" fmla="*/ 755 w 771"/>
                <a:gd name="T1" fmla="*/ 0 h 33"/>
                <a:gd name="T2" fmla="*/ 16 w 771"/>
                <a:gd name="T3" fmla="*/ 0 h 33"/>
                <a:gd name="T4" fmla="*/ 0 w 771"/>
                <a:gd name="T5" fmla="*/ 16 h 33"/>
                <a:gd name="T6" fmla="*/ 16 w 771"/>
                <a:gd name="T7" fmla="*/ 33 h 33"/>
                <a:gd name="T8" fmla="*/ 755 w 771"/>
                <a:gd name="T9" fmla="*/ 33 h 33"/>
                <a:gd name="T10" fmla="*/ 771 w 771"/>
                <a:gd name="T11" fmla="*/ 16 h 33"/>
                <a:gd name="T12" fmla="*/ 755 w 771"/>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771" h="33">
                  <a:moveTo>
                    <a:pt x="755" y="0"/>
                  </a:moveTo>
                  <a:cubicBezTo>
                    <a:pt x="16" y="0"/>
                    <a:pt x="16" y="0"/>
                    <a:pt x="16" y="0"/>
                  </a:cubicBezTo>
                  <a:cubicBezTo>
                    <a:pt x="7" y="0"/>
                    <a:pt x="0" y="8"/>
                    <a:pt x="0" y="16"/>
                  </a:cubicBezTo>
                  <a:cubicBezTo>
                    <a:pt x="0" y="25"/>
                    <a:pt x="7" y="33"/>
                    <a:pt x="16" y="33"/>
                  </a:cubicBezTo>
                  <a:cubicBezTo>
                    <a:pt x="755" y="33"/>
                    <a:pt x="755" y="33"/>
                    <a:pt x="755" y="33"/>
                  </a:cubicBezTo>
                  <a:cubicBezTo>
                    <a:pt x="764" y="33"/>
                    <a:pt x="771" y="25"/>
                    <a:pt x="771" y="16"/>
                  </a:cubicBezTo>
                  <a:cubicBezTo>
                    <a:pt x="771" y="8"/>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2" name="Freeform 14">
              <a:extLst>
                <a:ext uri="{FF2B5EF4-FFF2-40B4-BE49-F238E27FC236}">
                  <a16:creationId xmlns:a16="http://schemas.microsoft.com/office/drawing/2014/main" id="{DECD17AF-92EF-281E-D7FF-796B281A64BE}"/>
                </a:ext>
              </a:extLst>
            </p:cNvPr>
            <p:cNvSpPr>
              <a:spLocks/>
            </p:cNvSpPr>
            <p:nvPr/>
          </p:nvSpPr>
          <p:spPr bwMode="auto">
            <a:xfrm>
              <a:off x="7441799" y="5102277"/>
              <a:ext cx="2900363" cy="119063"/>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3" name="Freeform 15">
              <a:extLst>
                <a:ext uri="{FF2B5EF4-FFF2-40B4-BE49-F238E27FC236}">
                  <a16:creationId xmlns:a16="http://schemas.microsoft.com/office/drawing/2014/main" id="{6F63C9CF-B989-EEF6-C0A7-C23846785892}"/>
                </a:ext>
              </a:extLst>
            </p:cNvPr>
            <p:cNvSpPr>
              <a:spLocks/>
            </p:cNvSpPr>
            <p:nvPr/>
          </p:nvSpPr>
          <p:spPr bwMode="auto">
            <a:xfrm>
              <a:off x="7441799" y="5462640"/>
              <a:ext cx="2900363" cy="120650"/>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4" name="Freeform 16">
              <a:extLst>
                <a:ext uri="{FF2B5EF4-FFF2-40B4-BE49-F238E27FC236}">
                  <a16:creationId xmlns:a16="http://schemas.microsoft.com/office/drawing/2014/main" id="{60C1D522-8C42-9961-D38A-DC13A82B1776}"/>
                </a:ext>
              </a:extLst>
            </p:cNvPr>
            <p:cNvSpPr>
              <a:spLocks/>
            </p:cNvSpPr>
            <p:nvPr/>
          </p:nvSpPr>
          <p:spPr bwMode="auto">
            <a:xfrm>
              <a:off x="7441794" y="4375208"/>
              <a:ext cx="2900360" cy="120649"/>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5" name="Freeform 17">
              <a:extLst>
                <a:ext uri="{FF2B5EF4-FFF2-40B4-BE49-F238E27FC236}">
                  <a16:creationId xmlns:a16="http://schemas.microsoft.com/office/drawing/2014/main" id="{39C268DD-8F19-25F8-1D19-A4F551E97276}"/>
                </a:ext>
              </a:extLst>
            </p:cNvPr>
            <p:cNvSpPr>
              <a:spLocks noEditPoints="1"/>
            </p:cNvSpPr>
            <p:nvPr/>
          </p:nvSpPr>
          <p:spPr bwMode="auto">
            <a:xfrm>
              <a:off x="7441799" y="3168702"/>
              <a:ext cx="1087438" cy="966788"/>
            </a:xfrm>
            <a:custGeom>
              <a:avLst/>
              <a:gdLst>
                <a:gd name="T0" fmla="*/ 32 w 289"/>
                <a:gd name="T1" fmla="*/ 257 h 257"/>
                <a:gd name="T2" fmla="*/ 257 w 289"/>
                <a:gd name="T3" fmla="*/ 257 h 257"/>
                <a:gd name="T4" fmla="*/ 289 w 289"/>
                <a:gd name="T5" fmla="*/ 225 h 257"/>
                <a:gd name="T6" fmla="*/ 289 w 289"/>
                <a:gd name="T7" fmla="*/ 32 h 257"/>
                <a:gd name="T8" fmla="*/ 257 w 289"/>
                <a:gd name="T9" fmla="*/ 0 h 257"/>
                <a:gd name="T10" fmla="*/ 32 w 289"/>
                <a:gd name="T11" fmla="*/ 0 h 257"/>
                <a:gd name="T12" fmla="*/ 0 w 289"/>
                <a:gd name="T13" fmla="*/ 32 h 257"/>
                <a:gd name="T14" fmla="*/ 0 w 289"/>
                <a:gd name="T15" fmla="*/ 225 h 257"/>
                <a:gd name="T16" fmla="*/ 32 w 289"/>
                <a:gd name="T17" fmla="*/ 257 h 257"/>
                <a:gd name="T18" fmla="*/ 64 w 289"/>
                <a:gd name="T19" fmla="*/ 64 h 257"/>
                <a:gd name="T20" fmla="*/ 224 w 289"/>
                <a:gd name="T21" fmla="*/ 64 h 257"/>
                <a:gd name="T22" fmla="*/ 224 w 289"/>
                <a:gd name="T23" fmla="*/ 192 h 257"/>
                <a:gd name="T24" fmla="*/ 64 w 289"/>
                <a:gd name="T25" fmla="*/ 192 h 257"/>
                <a:gd name="T26" fmla="*/ 64 w 289"/>
                <a:gd name="T27" fmla="*/ 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257">
                  <a:moveTo>
                    <a:pt x="32" y="257"/>
                  </a:moveTo>
                  <a:cubicBezTo>
                    <a:pt x="257" y="257"/>
                    <a:pt x="257" y="257"/>
                    <a:pt x="257" y="257"/>
                  </a:cubicBezTo>
                  <a:cubicBezTo>
                    <a:pt x="274" y="257"/>
                    <a:pt x="289" y="242"/>
                    <a:pt x="289" y="225"/>
                  </a:cubicBezTo>
                  <a:cubicBezTo>
                    <a:pt x="289" y="32"/>
                    <a:pt x="289" y="32"/>
                    <a:pt x="289" y="32"/>
                  </a:cubicBezTo>
                  <a:cubicBezTo>
                    <a:pt x="289" y="14"/>
                    <a:pt x="274" y="0"/>
                    <a:pt x="257" y="0"/>
                  </a:cubicBezTo>
                  <a:cubicBezTo>
                    <a:pt x="32" y="0"/>
                    <a:pt x="32" y="0"/>
                    <a:pt x="32" y="0"/>
                  </a:cubicBezTo>
                  <a:cubicBezTo>
                    <a:pt x="14" y="0"/>
                    <a:pt x="0" y="14"/>
                    <a:pt x="0" y="32"/>
                  </a:cubicBezTo>
                  <a:cubicBezTo>
                    <a:pt x="0" y="225"/>
                    <a:pt x="0" y="225"/>
                    <a:pt x="0" y="225"/>
                  </a:cubicBezTo>
                  <a:cubicBezTo>
                    <a:pt x="0" y="242"/>
                    <a:pt x="14" y="257"/>
                    <a:pt x="32" y="257"/>
                  </a:cubicBezTo>
                  <a:close/>
                  <a:moveTo>
                    <a:pt x="64" y="64"/>
                  </a:moveTo>
                  <a:cubicBezTo>
                    <a:pt x="224" y="64"/>
                    <a:pt x="224" y="64"/>
                    <a:pt x="224" y="64"/>
                  </a:cubicBezTo>
                  <a:cubicBezTo>
                    <a:pt x="224" y="192"/>
                    <a:pt x="224" y="192"/>
                    <a:pt x="224" y="192"/>
                  </a:cubicBezTo>
                  <a:cubicBezTo>
                    <a:pt x="64" y="192"/>
                    <a:pt x="64" y="192"/>
                    <a:pt x="64" y="192"/>
                  </a:cubicBezTo>
                  <a:lnTo>
                    <a:pt x="64" y="64"/>
                  </a:ln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57" name="Rectangle 56">
            <a:extLst>
              <a:ext uri="{FF2B5EF4-FFF2-40B4-BE49-F238E27FC236}">
                <a16:creationId xmlns:a16="http://schemas.microsoft.com/office/drawing/2014/main" id="{0EEE15DD-B529-623D-8792-D7A53CE74698}"/>
              </a:ext>
            </a:extLst>
          </p:cNvPr>
          <p:cNvSpPr/>
          <p:nvPr/>
        </p:nvSpPr>
        <p:spPr>
          <a:xfrm>
            <a:off x="4974328" y="3190593"/>
            <a:ext cx="921695" cy="717588"/>
          </a:xfrm>
          <a:prstGeom prst="rect">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58" name="TextBox 36">
            <a:extLst>
              <a:ext uri="{FF2B5EF4-FFF2-40B4-BE49-F238E27FC236}">
                <a16:creationId xmlns:a16="http://schemas.microsoft.com/office/drawing/2014/main" id="{73328250-1D93-F6CC-B381-07F62FCA4BB3}"/>
              </a:ext>
            </a:extLst>
          </p:cNvPr>
          <p:cNvSpPr txBox="1"/>
          <p:nvPr/>
        </p:nvSpPr>
        <p:spPr>
          <a:xfrm>
            <a:off x="5898397" y="3370701"/>
            <a:ext cx="2242102" cy="276999"/>
          </a:xfrm>
          <a:prstGeom prst="rect">
            <a:avLst/>
          </a:prstGeom>
          <a:noFill/>
        </p:spPr>
        <p:txBody>
          <a:bodyPr wrap="square" lIns="91440" tIns="45720" rIns="91440" bIns="45720" rtlCol="0" anchor="t">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b="1" i="1" err="1">
                <a:solidFill>
                  <a:schemeClr val="bg1">
                    <a:lumMod val="50000"/>
                  </a:schemeClr>
                </a:solidFill>
                <a:latin typeface="+mj-lt"/>
                <a:ea typeface="Calibri Light"/>
                <a:cs typeface="Calibri Light"/>
              </a:rPr>
              <a:t>Roles</a:t>
            </a:r>
            <a:r>
              <a:rPr lang="fr-FR" sz="1200" b="1" i="1">
                <a:solidFill>
                  <a:schemeClr val="bg1">
                    <a:lumMod val="50000"/>
                  </a:schemeClr>
                </a:solidFill>
                <a:latin typeface="+mj-lt"/>
                <a:ea typeface="Calibri Light"/>
                <a:cs typeface="Calibri Light"/>
              </a:rPr>
              <a:t>  et Utilisateurs</a:t>
            </a:r>
          </a:p>
        </p:txBody>
      </p:sp>
      <p:grpSp>
        <p:nvGrpSpPr>
          <p:cNvPr id="60" name="Group 23">
            <a:extLst>
              <a:ext uri="{FF2B5EF4-FFF2-40B4-BE49-F238E27FC236}">
                <a16:creationId xmlns:a16="http://schemas.microsoft.com/office/drawing/2014/main" id="{D40E8068-73EC-4657-14DC-D04DBD8CD03C}"/>
              </a:ext>
            </a:extLst>
          </p:cNvPr>
          <p:cNvGrpSpPr/>
          <p:nvPr/>
        </p:nvGrpSpPr>
        <p:grpSpPr>
          <a:xfrm>
            <a:off x="5267038" y="3388911"/>
            <a:ext cx="331427" cy="310747"/>
            <a:chOff x="6956024" y="2562277"/>
            <a:chExt cx="3867150" cy="3625850"/>
          </a:xfrm>
          <a:solidFill>
            <a:schemeClr val="bg1"/>
          </a:solidFill>
        </p:grpSpPr>
        <p:sp>
          <p:nvSpPr>
            <p:cNvPr id="61" name="Freeform 9">
              <a:extLst>
                <a:ext uri="{FF2B5EF4-FFF2-40B4-BE49-F238E27FC236}">
                  <a16:creationId xmlns:a16="http://schemas.microsoft.com/office/drawing/2014/main" id="{9549F5AD-A032-35BF-C3B1-44396A28416B}"/>
                </a:ext>
              </a:extLst>
            </p:cNvPr>
            <p:cNvSpPr>
              <a:spLocks noEditPoints="1"/>
            </p:cNvSpPr>
            <p:nvPr/>
          </p:nvSpPr>
          <p:spPr bwMode="auto">
            <a:xfrm>
              <a:off x="6956024" y="2562277"/>
              <a:ext cx="3867150" cy="3625850"/>
            </a:xfrm>
            <a:custGeom>
              <a:avLst/>
              <a:gdLst>
                <a:gd name="T0" fmla="*/ 1009 w 1028"/>
                <a:gd name="T1" fmla="*/ 212 h 964"/>
                <a:gd name="T2" fmla="*/ 817 w 1028"/>
                <a:gd name="T3" fmla="*/ 19 h 964"/>
                <a:gd name="T4" fmla="*/ 771 w 1028"/>
                <a:gd name="T5" fmla="*/ 0 h 964"/>
                <a:gd name="T6" fmla="*/ 96 w 1028"/>
                <a:gd name="T7" fmla="*/ 0 h 964"/>
                <a:gd name="T8" fmla="*/ 0 w 1028"/>
                <a:gd name="T9" fmla="*/ 96 h 964"/>
                <a:gd name="T10" fmla="*/ 0 w 1028"/>
                <a:gd name="T11" fmla="*/ 868 h 964"/>
                <a:gd name="T12" fmla="*/ 96 w 1028"/>
                <a:gd name="T13" fmla="*/ 964 h 964"/>
                <a:gd name="T14" fmla="*/ 932 w 1028"/>
                <a:gd name="T15" fmla="*/ 964 h 964"/>
                <a:gd name="T16" fmla="*/ 1028 w 1028"/>
                <a:gd name="T17" fmla="*/ 868 h 964"/>
                <a:gd name="T18" fmla="*/ 1028 w 1028"/>
                <a:gd name="T19" fmla="*/ 257 h 964"/>
                <a:gd name="T20" fmla="*/ 1009 w 1028"/>
                <a:gd name="T21" fmla="*/ 212 h 964"/>
                <a:gd name="T22" fmla="*/ 964 w 1028"/>
                <a:gd name="T23" fmla="*/ 868 h 964"/>
                <a:gd name="T24" fmla="*/ 932 w 1028"/>
                <a:gd name="T25" fmla="*/ 900 h 964"/>
                <a:gd name="T26" fmla="*/ 96 w 1028"/>
                <a:gd name="T27" fmla="*/ 900 h 964"/>
                <a:gd name="T28" fmla="*/ 64 w 1028"/>
                <a:gd name="T29" fmla="*/ 868 h 964"/>
                <a:gd name="T30" fmla="*/ 64 w 1028"/>
                <a:gd name="T31" fmla="*/ 96 h 964"/>
                <a:gd name="T32" fmla="*/ 96 w 1028"/>
                <a:gd name="T33" fmla="*/ 64 h 964"/>
                <a:gd name="T34" fmla="*/ 739 w 1028"/>
                <a:gd name="T35" fmla="*/ 64 h 964"/>
                <a:gd name="T36" fmla="*/ 739 w 1028"/>
                <a:gd name="T37" fmla="*/ 193 h 964"/>
                <a:gd name="T38" fmla="*/ 739 w 1028"/>
                <a:gd name="T39" fmla="*/ 193 h 964"/>
                <a:gd name="T40" fmla="*/ 835 w 1028"/>
                <a:gd name="T41" fmla="*/ 289 h 964"/>
                <a:gd name="T42" fmla="*/ 868 w 1028"/>
                <a:gd name="T43" fmla="*/ 289 h 964"/>
                <a:gd name="T44" fmla="*/ 964 w 1028"/>
                <a:gd name="T45" fmla="*/ 289 h 964"/>
                <a:gd name="T46" fmla="*/ 964 w 1028"/>
                <a:gd name="T47" fmla="*/ 868 h 964"/>
                <a:gd name="T48" fmla="*/ 868 w 1028"/>
                <a:gd name="T49" fmla="*/ 257 h 964"/>
                <a:gd name="T50" fmla="*/ 835 w 1028"/>
                <a:gd name="T51" fmla="*/ 257 h 964"/>
                <a:gd name="T52" fmla="*/ 771 w 1028"/>
                <a:gd name="T53" fmla="*/ 193 h 964"/>
                <a:gd name="T54" fmla="*/ 771 w 1028"/>
                <a:gd name="T55" fmla="*/ 193 h 964"/>
                <a:gd name="T56" fmla="*/ 771 w 1028"/>
                <a:gd name="T57" fmla="*/ 64 h 964"/>
                <a:gd name="T58" fmla="*/ 964 w 1028"/>
                <a:gd name="T59" fmla="*/ 257 h 964"/>
                <a:gd name="T60" fmla="*/ 868 w 1028"/>
                <a:gd name="T61" fmla="*/ 257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8" h="964">
                  <a:moveTo>
                    <a:pt x="1009" y="212"/>
                  </a:moveTo>
                  <a:cubicBezTo>
                    <a:pt x="817" y="19"/>
                    <a:pt x="817" y="19"/>
                    <a:pt x="817" y="19"/>
                  </a:cubicBezTo>
                  <a:cubicBezTo>
                    <a:pt x="805" y="7"/>
                    <a:pt x="788" y="0"/>
                    <a:pt x="771" y="0"/>
                  </a:cubicBezTo>
                  <a:cubicBezTo>
                    <a:pt x="96" y="0"/>
                    <a:pt x="96" y="0"/>
                    <a:pt x="96" y="0"/>
                  </a:cubicBezTo>
                  <a:cubicBezTo>
                    <a:pt x="43" y="0"/>
                    <a:pt x="0" y="43"/>
                    <a:pt x="0" y="96"/>
                  </a:cubicBezTo>
                  <a:cubicBezTo>
                    <a:pt x="0" y="868"/>
                    <a:pt x="0" y="868"/>
                    <a:pt x="0" y="868"/>
                  </a:cubicBezTo>
                  <a:cubicBezTo>
                    <a:pt x="0" y="921"/>
                    <a:pt x="43" y="964"/>
                    <a:pt x="96" y="964"/>
                  </a:cubicBezTo>
                  <a:cubicBezTo>
                    <a:pt x="932" y="964"/>
                    <a:pt x="932" y="964"/>
                    <a:pt x="932" y="964"/>
                  </a:cubicBezTo>
                  <a:cubicBezTo>
                    <a:pt x="985" y="964"/>
                    <a:pt x="1028" y="921"/>
                    <a:pt x="1028" y="868"/>
                  </a:cubicBezTo>
                  <a:cubicBezTo>
                    <a:pt x="1028" y="257"/>
                    <a:pt x="1028" y="257"/>
                    <a:pt x="1028" y="257"/>
                  </a:cubicBezTo>
                  <a:cubicBezTo>
                    <a:pt x="1028" y="240"/>
                    <a:pt x="1022" y="224"/>
                    <a:pt x="1009" y="212"/>
                  </a:cubicBezTo>
                  <a:close/>
                  <a:moveTo>
                    <a:pt x="964" y="868"/>
                  </a:moveTo>
                  <a:cubicBezTo>
                    <a:pt x="964" y="885"/>
                    <a:pt x="950" y="900"/>
                    <a:pt x="932" y="900"/>
                  </a:cubicBezTo>
                  <a:cubicBezTo>
                    <a:pt x="96" y="900"/>
                    <a:pt x="96" y="900"/>
                    <a:pt x="96" y="900"/>
                  </a:cubicBezTo>
                  <a:cubicBezTo>
                    <a:pt x="79" y="900"/>
                    <a:pt x="64" y="885"/>
                    <a:pt x="64" y="868"/>
                  </a:cubicBezTo>
                  <a:cubicBezTo>
                    <a:pt x="64" y="96"/>
                    <a:pt x="64" y="96"/>
                    <a:pt x="64" y="96"/>
                  </a:cubicBezTo>
                  <a:cubicBezTo>
                    <a:pt x="64" y="79"/>
                    <a:pt x="79" y="64"/>
                    <a:pt x="96" y="64"/>
                  </a:cubicBezTo>
                  <a:cubicBezTo>
                    <a:pt x="739" y="64"/>
                    <a:pt x="739" y="64"/>
                    <a:pt x="739" y="64"/>
                  </a:cubicBezTo>
                  <a:cubicBezTo>
                    <a:pt x="739" y="193"/>
                    <a:pt x="739" y="193"/>
                    <a:pt x="739" y="193"/>
                  </a:cubicBezTo>
                  <a:cubicBezTo>
                    <a:pt x="739" y="193"/>
                    <a:pt x="739" y="193"/>
                    <a:pt x="739" y="193"/>
                  </a:cubicBezTo>
                  <a:cubicBezTo>
                    <a:pt x="739" y="246"/>
                    <a:pt x="782" y="289"/>
                    <a:pt x="835" y="289"/>
                  </a:cubicBezTo>
                  <a:cubicBezTo>
                    <a:pt x="868" y="289"/>
                    <a:pt x="868" y="289"/>
                    <a:pt x="868" y="289"/>
                  </a:cubicBezTo>
                  <a:cubicBezTo>
                    <a:pt x="964" y="289"/>
                    <a:pt x="964" y="289"/>
                    <a:pt x="964" y="289"/>
                  </a:cubicBezTo>
                  <a:lnTo>
                    <a:pt x="964" y="868"/>
                  </a:lnTo>
                  <a:close/>
                  <a:moveTo>
                    <a:pt x="868" y="257"/>
                  </a:moveTo>
                  <a:cubicBezTo>
                    <a:pt x="835" y="257"/>
                    <a:pt x="835" y="257"/>
                    <a:pt x="835" y="257"/>
                  </a:cubicBezTo>
                  <a:cubicBezTo>
                    <a:pt x="800" y="257"/>
                    <a:pt x="771" y="228"/>
                    <a:pt x="771" y="193"/>
                  </a:cubicBezTo>
                  <a:cubicBezTo>
                    <a:pt x="771" y="193"/>
                    <a:pt x="771" y="193"/>
                    <a:pt x="771" y="193"/>
                  </a:cubicBezTo>
                  <a:cubicBezTo>
                    <a:pt x="771" y="64"/>
                    <a:pt x="771" y="64"/>
                    <a:pt x="771" y="64"/>
                  </a:cubicBezTo>
                  <a:cubicBezTo>
                    <a:pt x="964" y="257"/>
                    <a:pt x="964" y="257"/>
                    <a:pt x="964" y="257"/>
                  </a:cubicBezTo>
                  <a:lnTo>
                    <a:pt x="868" y="257"/>
                  </a:ln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2" name="Freeform 10">
              <a:extLst>
                <a:ext uri="{FF2B5EF4-FFF2-40B4-BE49-F238E27FC236}">
                  <a16:creationId xmlns:a16="http://schemas.microsoft.com/office/drawing/2014/main" id="{0964B6A3-550D-A966-3010-D3906CC1F3EB}"/>
                </a:ext>
              </a:extLst>
            </p:cNvPr>
            <p:cNvSpPr>
              <a:spLocks/>
            </p:cNvSpPr>
            <p:nvPr/>
          </p:nvSpPr>
          <p:spPr bwMode="auto">
            <a:xfrm>
              <a:off x="8768949" y="328776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3" name="Freeform 11">
              <a:extLst>
                <a:ext uri="{FF2B5EF4-FFF2-40B4-BE49-F238E27FC236}">
                  <a16:creationId xmlns:a16="http://schemas.microsoft.com/office/drawing/2014/main" id="{DF07C7B2-A5A4-2395-EC3C-5B9DC5B530F3}"/>
                </a:ext>
              </a:extLst>
            </p:cNvPr>
            <p:cNvSpPr>
              <a:spLocks/>
            </p:cNvSpPr>
            <p:nvPr/>
          </p:nvSpPr>
          <p:spPr bwMode="auto">
            <a:xfrm>
              <a:off x="8768949" y="364971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4" name="Freeform 12">
              <a:extLst>
                <a:ext uri="{FF2B5EF4-FFF2-40B4-BE49-F238E27FC236}">
                  <a16:creationId xmlns:a16="http://schemas.microsoft.com/office/drawing/2014/main" id="{8793FA3E-2AE4-7C20-C116-37356508E499}"/>
                </a:ext>
              </a:extLst>
            </p:cNvPr>
            <p:cNvSpPr>
              <a:spLocks/>
            </p:cNvSpPr>
            <p:nvPr/>
          </p:nvSpPr>
          <p:spPr bwMode="auto">
            <a:xfrm>
              <a:off x="8768949" y="4014840"/>
              <a:ext cx="1573213" cy="120650"/>
            </a:xfrm>
            <a:custGeom>
              <a:avLst/>
              <a:gdLst>
                <a:gd name="T0" fmla="*/ 0 w 418"/>
                <a:gd name="T1" fmla="*/ 16 h 32"/>
                <a:gd name="T2" fmla="*/ 16 w 418"/>
                <a:gd name="T3" fmla="*/ 32 h 32"/>
                <a:gd name="T4" fmla="*/ 402 w 418"/>
                <a:gd name="T5" fmla="*/ 32 h 32"/>
                <a:gd name="T6" fmla="*/ 418 w 418"/>
                <a:gd name="T7" fmla="*/ 16 h 32"/>
                <a:gd name="T8" fmla="*/ 402 w 418"/>
                <a:gd name="T9" fmla="*/ 0 h 32"/>
                <a:gd name="T10" fmla="*/ 16 w 418"/>
                <a:gd name="T11" fmla="*/ 0 h 32"/>
                <a:gd name="T12" fmla="*/ 0 w 418"/>
                <a:gd name="T13" fmla="*/ 16 h 32"/>
              </a:gdLst>
              <a:ahLst/>
              <a:cxnLst>
                <a:cxn ang="0">
                  <a:pos x="T0" y="T1"/>
                </a:cxn>
                <a:cxn ang="0">
                  <a:pos x="T2" y="T3"/>
                </a:cxn>
                <a:cxn ang="0">
                  <a:pos x="T4" y="T5"/>
                </a:cxn>
                <a:cxn ang="0">
                  <a:pos x="T6" y="T7"/>
                </a:cxn>
                <a:cxn ang="0">
                  <a:pos x="T8" y="T9"/>
                </a:cxn>
                <a:cxn ang="0">
                  <a:pos x="T10" y="T11"/>
                </a:cxn>
                <a:cxn ang="0">
                  <a:pos x="T12" y="T13"/>
                </a:cxn>
              </a:cxnLst>
              <a:rect l="0" t="0" r="r" b="b"/>
              <a:pathLst>
                <a:path w="418" h="32">
                  <a:moveTo>
                    <a:pt x="0" y="16"/>
                  </a:moveTo>
                  <a:cubicBezTo>
                    <a:pt x="0" y="25"/>
                    <a:pt x="7" y="32"/>
                    <a:pt x="16" y="32"/>
                  </a:cubicBezTo>
                  <a:cubicBezTo>
                    <a:pt x="402" y="32"/>
                    <a:pt x="402" y="32"/>
                    <a:pt x="402" y="32"/>
                  </a:cubicBezTo>
                  <a:cubicBezTo>
                    <a:pt x="411" y="32"/>
                    <a:pt x="418" y="25"/>
                    <a:pt x="418" y="16"/>
                  </a:cubicBezTo>
                  <a:cubicBezTo>
                    <a:pt x="418" y="7"/>
                    <a:pt x="411" y="0"/>
                    <a:pt x="402" y="0"/>
                  </a:cubicBezTo>
                  <a:cubicBezTo>
                    <a:pt x="16" y="0"/>
                    <a:pt x="16" y="0"/>
                    <a:pt x="16" y="0"/>
                  </a:cubicBezTo>
                  <a:cubicBezTo>
                    <a:pt x="7" y="0"/>
                    <a:pt x="0" y="7"/>
                    <a:pt x="0" y="16"/>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5" name="Freeform 13">
              <a:extLst>
                <a:ext uri="{FF2B5EF4-FFF2-40B4-BE49-F238E27FC236}">
                  <a16:creationId xmlns:a16="http://schemas.microsoft.com/office/drawing/2014/main" id="{82774CE5-9B89-EBE3-30B1-61D914797864}"/>
                </a:ext>
              </a:extLst>
            </p:cNvPr>
            <p:cNvSpPr>
              <a:spLocks/>
            </p:cNvSpPr>
            <p:nvPr/>
          </p:nvSpPr>
          <p:spPr bwMode="auto">
            <a:xfrm>
              <a:off x="7441799" y="4737152"/>
              <a:ext cx="2900363" cy="123825"/>
            </a:xfrm>
            <a:custGeom>
              <a:avLst/>
              <a:gdLst>
                <a:gd name="T0" fmla="*/ 755 w 771"/>
                <a:gd name="T1" fmla="*/ 0 h 33"/>
                <a:gd name="T2" fmla="*/ 16 w 771"/>
                <a:gd name="T3" fmla="*/ 0 h 33"/>
                <a:gd name="T4" fmla="*/ 0 w 771"/>
                <a:gd name="T5" fmla="*/ 16 h 33"/>
                <a:gd name="T6" fmla="*/ 16 w 771"/>
                <a:gd name="T7" fmla="*/ 33 h 33"/>
                <a:gd name="T8" fmla="*/ 755 w 771"/>
                <a:gd name="T9" fmla="*/ 33 h 33"/>
                <a:gd name="T10" fmla="*/ 771 w 771"/>
                <a:gd name="T11" fmla="*/ 16 h 33"/>
                <a:gd name="T12" fmla="*/ 755 w 771"/>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771" h="33">
                  <a:moveTo>
                    <a:pt x="755" y="0"/>
                  </a:moveTo>
                  <a:cubicBezTo>
                    <a:pt x="16" y="0"/>
                    <a:pt x="16" y="0"/>
                    <a:pt x="16" y="0"/>
                  </a:cubicBezTo>
                  <a:cubicBezTo>
                    <a:pt x="7" y="0"/>
                    <a:pt x="0" y="8"/>
                    <a:pt x="0" y="16"/>
                  </a:cubicBezTo>
                  <a:cubicBezTo>
                    <a:pt x="0" y="25"/>
                    <a:pt x="7" y="33"/>
                    <a:pt x="16" y="33"/>
                  </a:cubicBezTo>
                  <a:cubicBezTo>
                    <a:pt x="755" y="33"/>
                    <a:pt x="755" y="33"/>
                    <a:pt x="755" y="33"/>
                  </a:cubicBezTo>
                  <a:cubicBezTo>
                    <a:pt x="764" y="33"/>
                    <a:pt x="771" y="25"/>
                    <a:pt x="771" y="16"/>
                  </a:cubicBezTo>
                  <a:cubicBezTo>
                    <a:pt x="771" y="8"/>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6" name="Freeform 14">
              <a:extLst>
                <a:ext uri="{FF2B5EF4-FFF2-40B4-BE49-F238E27FC236}">
                  <a16:creationId xmlns:a16="http://schemas.microsoft.com/office/drawing/2014/main" id="{0143E057-F5A4-C4F9-030A-D718811C7EE9}"/>
                </a:ext>
              </a:extLst>
            </p:cNvPr>
            <p:cNvSpPr>
              <a:spLocks/>
            </p:cNvSpPr>
            <p:nvPr/>
          </p:nvSpPr>
          <p:spPr bwMode="auto">
            <a:xfrm>
              <a:off x="7441799" y="5102277"/>
              <a:ext cx="2900363" cy="119063"/>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7" name="Freeform 15">
              <a:extLst>
                <a:ext uri="{FF2B5EF4-FFF2-40B4-BE49-F238E27FC236}">
                  <a16:creationId xmlns:a16="http://schemas.microsoft.com/office/drawing/2014/main" id="{7A040F0D-0166-CC45-8CBA-3CAEACE28CEF}"/>
                </a:ext>
              </a:extLst>
            </p:cNvPr>
            <p:cNvSpPr>
              <a:spLocks/>
            </p:cNvSpPr>
            <p:nvPr/>
          </p:nvSpPr>
          <p:spPr bwMode="auto">
            <a:xfrm>
              <a:off x="7441799" y="5462640"/>
              <a:ext cx="2900363" cy="120650"/>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8" name="Freeform 16">
              <a:extLst>
                <a:ext uri="{FF2B5EF4-FFF2-40B4-BE49-F238E27FC236}">
                  <a16:creationId xmlns:a16="http://schemas.microsoft.com/office/drawing/2014/main" id="{8AA7C673-28A4-9719-9341-DE9698CC0CAA}"/>
                </a:ext>
              </a:extLst>
            </p:cNvPr>
            <p:cNvSpPr>
              <a:spLocks/>
            </p:cNvSpPr>
            <p:nvPr/>
          </p:nvSpPr>
          <p:spPr bwMode="auto">
            <a:xfrm>
              <a:off x="7441794" y="4375208"/>
              <a:ext cx="2900360" cy="120649"/>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9" name="Freeform 17">
              <a:extLst>
                <a:ext uri="{FF2B5EF4-FFF2-40B4-BE49-F238E27FC236}">
                  <a16:creationId xmlns:a16="http://schemas.microsoft.com/office/drawing/2014/main" id="{84030B4D-D266-BC22-E5D7-B264EDD808CD}"/>
                </a:ext>
              </a:extLst>
            </p:cNvPr>
            <p:cNvSpPr>
              <a:spLocks noEditPoints="1"/>
            </p:cNvSpPr>
            <p:nvPr/>
          </p:nvSpPr>
          <p:spPr bwMode="auto">
            <a:xfrm>
              <a:off x="7441799" y="3168702"/>
              <a:ext cx="1087438" cy="966788"/>
            </a:xfrm>
            <a:custGeom>
              <a:avLst/>
              <a:gdLst>
                <a:gd name="T0" fmla="*/ 32 w 289"/>
                <a:gd name="T1" fmla="*/ 257 h 257"/>
                <a:gd name="T2" fmla="*/ 257 w 289"/>
                <a:gd name="T3" fmla="*/ 257 h 257"/>
                <a:gd name="T4" fmla="*/ 289 w 289"/>
                <a:gd name="T5" fmla="*/ 225 h 257"/>
                <a:gd name="T6" fmla="*/ 289 w 289"/>
                <a:gd name="T7" fmla="*/ 32 h 257"/>
                <a:gd name="T8" fmla="*/ 257 w 289"/>
                <a:gd name="T9" fmla="*/ 0 h 257"/>
                <a:gd name="T10" fmla="*/ 32 w 289"/>
                <a:gd name="T11" fmla="*/ 0 h 257"/>
                <a:gd name="T12" fmla="*/ 0 w 289"/>
                <a:gd name="T13" fmla="*/ 32 h 257"/>
                <a:gd name="T14" fmla="*/ 0 w 289"/>
                <a:gd name="T15" fmla="*/ 225 h 257"/>
                <a:gd name="T16" fmla="*/ 32 w 289"/>
                <a:gd name="T17" fmla="*/ 257 h 257"/>
                <a:gd name="T18" fmla="*/ 64 w 289"/>
                <a:gd name="T19" fmla="*/ 64 h 257"/>
                <a:gd name="T20" fmla="*/ 224 w 289"/>
                <a:gd name="T21" fmla="*/ 64 h 257"/>
                <a:gd name="T22" fmla="*/ 224 w 289"/>
                <a:gd name="T23" fmla="*/ 192 h 257"/>
                <a:gd name="T24" fmla="*/ 64 w 289"/>
                <a:gd name="T25" fmla="*/ 192 h 257"/>
                <a:gd name="T26" fmla="*/ 64 w 289"/>
                <a:gd name="T27" fmla="*/ 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257">
                  <a:moveTo>
                    <a:pt x="32" y="257"/>
                  </a:moveTo>
                  <a:cubicBezTo>
                    <a:pt x="257" y="257"/>
                    <a:pt x="257" y="257"/>
                    <a:pt x="257" y="257"/>
                  </a:cubicBezTo>
                  <a:cubicBezTo>
                    <a:pt x="274" y="257"/>
                    <a:pt x="289" y="242"/>
                    <a:pt x="289" y="225"/>
                  </a:cubicBezTo>
                  <a:cubicBezTo>
                    <a:pt x="289" y="32"/>
                    <a:pt x="289" y="32"/>
                    <a:pt x="289" y="32"/>
                  </a:cubicBezTo>
                  <a:cubicBezTo>
                    <a:pt x="289" y="14"/>
                    <a:pt x="274" y="0"/>
                    <a:pt x="257" y="0"/>
                  </a:cubicBezTo>
                  <a:cubicBezTo>
                    <a:pt x="32" y="0"/>
                    <a:pt x="32" y="0"/>
                    <a:pt x="32" y="0"/>
                  </a:cubicBezTo>
                  <a:cubicBezTo>
                    <a:pt x="14" y="0"/>
                    <a:pt x="0" y="14"/>
                    <a:pt x="0" y="32"/>
                  </a:cubicBezTo>
                  <a:cubicBezTo>
                    <a:pt x="0" y="225"/>
                    <a:pt x="0" y="225"/>
                    <a:pt x="0" y="225"/>
                  </a:cubicBezTo>
                  <a:cubicBezTo>
                    <a:pt x="0" y="242"/>
                    <a:pt x="14" y="257"/>
                    <a:pt x="32" y="257"/>
                  </a:cubicBezTo>
                  <a:close/>
                  <a:moveTo>
                    <a:pt x="64" y="64"/>
                  </a:moveTo>
                  <a:cubicBezTo>
                    <a:pt x="224" y="64"/>
                    <a:pt x="224" y="64"/>
                    <a:pt x="224" y="64"/>
                  </a:cubicBezTo>
                  <a:cubicBezTo>
                    <a:pt x="224" y="192"/>
                    <a:pt x="224" y="192"/>
                    <a:pt x="224" y="192"/>
                  </a:cubicBezTo>
                  <a:cubicBezTo>
                    <a:pt x="64" y="192"/>
                    <a:pt x="64" y="192"/>
                    <a:pt x="64" y="192"/>
                  </a:cubicBezTo>
                  <a:lnTo>
                    <a:pt x="64" y="64"/>
                  </a:lnTo>
                  <a:close/>
                </a:path>
              </a:pathLst>
            </a:custGeom>
            <a:grpFill/>
            <a:ln>
              <a:noFill/>
            </a:ln>
            <a:extLst>
              <a:ext uri="{91240B29-F687-4f45-9708-019B960494DF}">
                <a14:hiddenLine xmlns="" xmlns:lc="http://schemas.openxmlformats.org/drawingml/2006/lockedCanva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Tree>
    <p:extLst>
      <p:ext uri="{BB962C8B-B14F-4D97-AF65-F5344CB8AC3E}">
        <p14:creationId xmlns:p14="http://schemas.microsoft.com/office/powerpoint/2010/main" val="17023949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par>
                          <p:cTn id="18" fill="hold">
                            <p:stCondLst>
                              <p:cond delay="1500"/>
                            </p:stCondLst>
                            <p:childTnLst>
                              <p:par>
                                <p:cTn id="19" presetID="53" presetClass="entr" presetSubtype="16"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par>
                          <p:cTn id="24" fill="hold">
                            <p:stCondLst>
                              <p:cond delay="2000"/>
                            </p:stCondLst>
                            <p:childTnLst>
                              <p:par>
                                <p:cTn id="25" presetID="22" presetClass="entr" presetSubtype="2"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right)">
                                      <p:cBhvr>
                                        <p:cTn id="27" dur="500"/>
                                        <p:tgtEl>
                                          <p:spTgt spid="10"/>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26"/>
                                        </p:tgtEl>
                                        <p:attrNameLst>
                                          <p:attrName>style.visibility</p:attrName>
                                        </p:attrNameLst>
                                      </p:cBhvr>
                                      <p:to>
                                        <p:strVal val="visible"/>
                                      </p:to>
                                    </p:set>
                                    <p:anim calcmode="lin" valueType="num">
                                      <p:cBhvr>
                                        <p:cTn id="38" dur="500" fill="hold"/>
                                        <p:tgtEl>
                                          <p:spTgt spid="26"/>
                                        </p:tgtEl>
                                        <p:attrNameLst>
                                          <p:attrName>ppt_w</p:attrName>
                                        </p:attrNameLst>
                                      </p:cBhvr>
                                      <p:tavLst>
                                        <p:tav tm="0">
                                          <p:val>
                                            <p:fltVal val="0"/>
                                          </p:val>
                                        </p:tav>
                                        <p:tav tm="100000">
                                          <p:val>
                                            <p:strVal val="#ppt_w"/>
                                          </p:val>
                                        </p:tav>
                                      </p:tavLst>
                                    </p:anim>
                                    <p:anim calcmode="lin" valueType="num">
                                      <p:cBhvr>
                                        <p:cTn id="39" dur="500" fill="hold"/>
                                        <p:tgtEl>
                                          <p:spTgt spid="26"/>
                                        </p:tgtEl>
                                        <p:attrNameLst>
                                          <p:attrName>ppt_h</p:attrName>
                                        </p:attrNameLst>
                                      </p:cBhvr>
                                      <p:tavLst>
                                        <p:tav tm="0">
                                          <p:val>
                                            <p:fltVal val="0"/>
                                          </p:val>
                                        </p:tav>
                                        <p:tav tm="100000">
                                          <p:val>
                                            <p:strVal val="#ppt_h"/>
                                          </p:val>
                                        </p:tav>
                                      </p:tavLst>
                                    </p:anim>
                                    <p:animEffect transition="in" filter="fade">
                                      <p:cBhvr>
                                        <p:cTn id="40" dur="500"/>
                                        <p:tgtEl>
                                          <p:spTgt spid="26"/>
                                        </p:tgtEl>
                                      </p:cBhvr>
                                    </p:animEffect>
                                  </p:childTnLst>
                                </p:cTn>
                              </p:par>
                            </p:childTnLst>
                          </p:cTn>
                        </p:par>
                        <p:par>
                          <p:cTn id="41" fill="hold">
                            <p:stCondLst>
                              <p:cond delay="3500"/>
                            </p:stCondLst>
                            <p:childTnLst>
                              <p:par>
                                <p:cTn id="42" presetID="22" presetClass="entr" presetSubtype="1"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up)">
                                      <p:cBhvr>
                                        <p:cTn id="44" dur="500"/>
                                        <p:tgtEl>
                                          <p:spTgt spid="27"/>
                                        </p:tgtEl>
                                      </p:cBhvr>
                                    </p:animEffect>
                                  </p:childTnLst>
                                </p:cTn>
                              </p:par>
                            </p:childTnLst>
                          </p:cTn>
                        </p:par>
                        <p:par>
                          <p:cTn id="45" fill="hold">
                            <p:stCondLst>
                              <p:cond delay="4000"/>
                            </p:stCondLst>
                            <p:childTnLst>
                              <p:par>
                                <p:cTn id="46" presetID="53" presetClass="entr" presetSubtype="16" fill="hold" grpId="0" nodeType="after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p:cTn id="48" dur="500" fill="hold"/>
                                        <p:tgtEl>
                                          <p:spTgt spid="28"/>
                                        </p:tgtEl>
                                        <p:attrNameLst>
                                          <p:attrName>ppt_w</p:attrName>
                                        </p:attrNameLst>
                                      </p:cBhvr>
                                      <p:tavLst>
                                        <p:tav tm="0">
                                          <p:val>
                                            <p:fltVal val="0"/>
                                          </p:val>
                                        </p:tav>
                                        <p:tav tm="100000">
                                          <p:val>
                                            <p:strVal val="#ppt_w"/>
                                          </p:val>
                                        </p:tav>
                                      </p:tavLst>
                                    </p:anim>
                                    <p:anim calcmode="lin" valueType="num">
                                      <p:cBhvr>
                                        <p:cTn id="49" dur="500" fill="hold"/>
                                        <p:tgtEl>
                                          <p:spTgt spid="28"/>
                                        </p:tgtEl>
                                        <p:attrNameLst>
                                          <p:attrName>ppt_h</p:attrName>
                                        </p:attrNameLst>
                                      </p:cBhvr>
                                      <p:tavLst>
                                        <p:tav tm="0">
                                          <p:val>
                                            <p:fltVal val="0"/>
                                          </p:val>
                                        </p:tav>
                                        <p:tav tm="100000">
                                          <p:val>
                                            <p:strVal val="#ppt_h"/>
                                          </p:val>
                                        </p:tav>
                                      </p:tavLst>
                                    </p:anim>
                                    <p:animEffect transition="in" filter="fade">
                                      <p:cBhvr>
                                        <p:cTn id="50" dur="500"/>
                                        <p:tgtEl>
                                          <p:spTgt spid="28"/>
                                        </p:tgtEl>
                                      </p:cBhvr>
                                    </p:animEffect>
                                  </p:childTnLst>
                                </p:cTn>
                              </p:par>
                            </p:childTnLst>
                          </p:cTn>
                        </p:par>
                        <p:par>
                          <p:cTn id="51" fill="hold">
                            <p:stCondLst>
                              <p:cond delay="4500"/>
                            </p:stCondLst>
                            <p:childTnLst>
                              <p:par>
                                <p:cTn id="52" presetID="22" presetClass="entr" presetSubtype="8" fill="hold"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500"/>
                                        <p:tgtEl>
                                          <p:spTgt spid="29"/>
                                        </p:tgtEl>
                                      </p:cBhvr>
                                    </p:animEffect>
                                  </p:childTnLst>
                                </p:cTn>
                              </p:par>
                            </p:childTnLst>
                          </p:cTn>
                        </p:par>
                        <p:par>
                          <p:cTn id="55" fill="hold">
                            <p:stCondLst>
                              <p:cond delay="5000"/>
                            </p:stCondLst>
                            <p:childTnLst>
                              <p:par>
                                <p:cTn id="56" presetID="22" presetClass="entr" presetSubtype="1" fill="hold"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up)">
                                      <p:cBhvr>
                                        <p:cTn id="58" dur="5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4" grpId="0" animBg="1"/>
      <p:bldP spid="14" grpId="0" animBg="1"/>
      <p:bldP spid="28" grpId="0" animBg="1"/>
      <p:bldP spid="5"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5DEDEE2A-96E8-DA0D-A2B0-60B9E0A8C179}"/>
              </a:ext>
            </a:extLst>
          </p:cNvPr>
          <p:cNvSpPr txBox="1"/>
          <p:nvPr/>
        </p:nvSpPr>
        <p:spPr>
          <a:xfrm>
            <a:off x="547996" y="353902"/>
            <a:ext cx="56661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u="sng">
                <a:solidFill>
                  <a:schemeClr val="accent1"/>
                </a:solidFill>
                <a:latin typeface="Bookman Old Style"/>
                <a:ea typeface="+mn-lt"/>
                <a:cs typeface="+mn-lt"/>
              </a:rPr>
              <a:t> Structure des dossiers WordPress       :</a:t>
            </a:r>
            <a:endParaRPr lang="fr-FR" sz="2000" b="1" u="sng">
              <a:solidFill>
                <a:schemeClr val="accent1"/>
              </a:solidFill>
              <a:latin typeface="Bookman Old Style"/>
            </a:endParaRPr>
          </a:p>
        </p:txBody>
      </p:sp>
      <p:sp>
        <p:nvSpPr>
          <p:cNvPr id="5" name="ZoneTexte 4">
            <a:extLst>
              <a:ext uri="{FF2B5EF4-FFF2-40B4-BE49-F238E27FC236}">
                <a16:creationId xmlns:a16="http://schemas.microsoft.com/office/drawing/2014/main" id="{589EA07E-113E-6A0B-0FDB-B96B4BA585DC}"/>
              </a:ext>
            </a:extLst>
          </p:cNvPr>
          <p:cNvSpPr txBox="1"/>
          <p:nvPr/>
        </p:nvSpPr>
        <p:spPr>
          <a:xfrm>
            <a:off x="296933" y="754069"/>
            <a:ext cx="858756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a:ea typeface="+mn-lt"/>
                <a:cs typeface="+mn-lt"/>
              </a:rPr>
              <a:t>Quand tu installes WordPress, tu trouves </a:t>
            </a:r>
            <a:r>
              <a:rPr lang="fr-FR" sz="2000" b="1">
                <a:solidFill>
                  <a:schemeClr val="accent2">
                    <a:lumMod val="49000"/>
                  </a:schemeClr>
                </a:solidFill>
                <a:ea typeface="+mn-lt"/>
                <a:cs typeface="+mn-lt"/>
              </a:rPr>
              <a:t>3 dossiers</a:t>
            </a:r>
            <a:r>
              <a:rPr lang="fr-FR" sz="2000">
                <a:ea typeface="+mn-lt"/>
                <a:cs typeface="+mn-lt"/>
              </a:rPr>
              <a:t> principaux :</a:t>
            </a:r>
            <a:endParaRPr lang="fr-FR" sz="2000">
              <a:ea typeface="Calibri"/>
              <a:cs typeface="Calibri"/>
            </a:endParaRPr>
          </a:p>
          <a:p>
            <a:pPr algn="l"/>
            <a:endParaRPr lang="fr-FR">
              <a:ea typeface="Calibri"/>
              <a:cs typeface="Calibri"/>
            </a:endParaRPr>
          </a:p>
          <a:p>
            <a:r>
              <a:rPr lang="fr-FR" dirty="0">
                <a:ea typeface="Calibri"/>
                <a:cs typeface="Calibri"/>
              </a:rPr>
              <a:t>   </a:t>
            </a:r>
            <a:endParaRPr lang="fr-FR" sz="2000" dirty="0">
              <a:latin typeface="Calibri"/>
              <a:ea typeface="Calibri"/>
              <a:cs typeface="Calibri"/>
            </a:endParaRPr>
          </a:p>
          <a:p>
            <a:endParaRPr lang="fr-FR" sz="2000">
              <a:latin typeface="Calibri Light"/>
              <a:ea typeface="Calibri Light"/>
              <a:cs typeface="Calibri Light"/>
            </a:endParaRPr>
          </a:p>
          <a:p>
            <a:endParaRPr lang="fr-FR" sz="2000" dirty="0">
              <a:ea typeface="Calibri"/>
              <a:cs typeface="Calibri"/>
            </a:endParaRPr>
          </a:p>
        </p:txBody>
      </p:sp>
      <p:graphicFrame>
        <p:nvGraphicFramePr>
          <p:cNvPr id="7" name="Tableau 6">
            <a:extLst>
              <a:ext uri="{FF2B5EF4-FFF2-40B4-BE49-F238E27FC236}">
                <a16:creationId xmlns:a16="http://schemas.microsoft.com/office/drawing/2014/main" id="{405DBFF4-F1F0-11DB-1F22-2024F47C9451}"/>
              </a:ext>
            </a:extLst>
          </p:cNvPr>
          <p:cNvGraphicFramePr>
            <a:graphicFrameLocks noGrp="1"/>
          </p:cNvGraphicFramePr>
          <p:nvPr>
            <p:extLst>
              <p:ext uri="{D42A27DB-BD31-4B8C-83A1-F6EECF244321}">
                <p14:modId xmlns:p14="http://schemas.microsoft.com/office/powerpoint/2010/main" val="1549617678"/>
              </p:ext>
            </p:extLst>
          </p:nvPr>
        </p:nvGraphicFramePr>
        <p:xfrm>
          <a:off x="7375584" y="4981754"/>
          <a:ext cx="1771519" cy="370840"/>
        </p:xfrm>
        <a:graphic>
          <a:graphicData uri="http://schemas.openxmlformats.org/drawingml/2006/table">
            <a:tbl>
              <a:tblPr firstRow="1" bandRow="1">
                <a:tableStyleId>{5C22544A-7EE6-4342-B048-85BDC9FD1C3A}</a:tableStyleId>
              </a:tblPr>
              <a:tblGrid>
                <a:gridCol w="1771519">
                  <a:extLst>
                    <a:ext uri="{9D8B030D-6E8A-4147-A177-3AD203B41FA5}">
                      <a16:colId xmlns:a16="http://schemas.microsoft.com/office/drawing/2014/main" val="2604836803"/>
                    </a:ext>
                  </a:extLst>
                </a:gridCol>
              </a:tblGrid>
              <a:tr h="370840">
                <a:tc>
                  <a:txBody>
                    <a:bodyPr/>
                    <a:lstStyle/>
                    <a:p>
                      <a:endParaRPr lang="fr-FR"/>
                    </a:p>
                  </a:txBody>
                  <a:tcPr/>
                </a:tc>
                <a:extLst>
                  <a:ext uri="{0D108BD9-81ED-4DB2-BD59-A6C34878D82A}">
                    <a16:rowId xmlns:a16="http://schemas.microsoft.com/office/drawing/2014/main" val="1259848818"/>
                  </a:ext>
                </a:extLst>
              </a:tr>
            </a:tbl>
          </a:graphicData>
        </a:graphic>
      </p:graphicFrame>
      <p:graphicFrame>
        <p:nvGraphicFramePr>
          <p:cNvPr id="8" name="Tableau 7">
            <a:extLst>
              <a:ext uri="{FF2B5EF4-FFF2-40B4-BE49-F238E27FC236}">
                <a16:creationId xmlns:a16="http://schemas.microsoft.com/office/drawing/2014/main" id="{9464BE78-D0C6-F2E5-F30E-A2D68969CCEC}"/>
              </a:ext>
            </a:extLst>
          </p:cNvPr>
          <p:cNvGraphicFramePr>
            <a:graphicFrameLocks noGrp="1"/>
          </p:cNvGraphicFramePr>
          <p:nvPr>
            <p:extLst>
              <p:ext uri="{D42A27DB-BD31-4B8C-83A1-F6EECF244321}">
                <p14:modId xmlns:p14="http://schemas.microsoft.com/office/powerpoint/2010/main" val="3214333736"/>
              </p:ext>
            </p:extLst>
          </p:nvPr>
        </p:nvGraphicFramePr>
        <p:xfrm>
          <a:off x="4826048" y="4981668"/>
          <a:ext cx="2550056" cy="370840"/>
        </p:xfrm>
        <a:graphic>
          <a:graphicData uri="http://schemas.openxmlformats.org/drawingml/2006/table">
            <a:tbl>
              <a:tblPr firstRow="1" bandRow="1">
                <a:tableStyleId>{327F97BB-C833-4FB7-BDE5-3F7075034690}</a:tableStyleId>
              </a:tblPr>
              <a:tblGrid>
                <a:gridCol w="2550056">
                  <a:extLst>
                    <a:ext uri="{9D8B030D-6E8A-4147-A177-3AD203B41FA5}">
                      <a16:colId xmlns:a16="http://schemas.microsoft.com/office/drawing/2014/main" val="413563161"/>
                    </a:ext>
                  </a:extLst>
                </a:gridCol>
              </a:tblGrid>
              <a:tr h="370840">
                <a:tc>
                  <a:txBody>
                    <a:bodyPr/>
                    <a:lstStyle/>
                    <a:p>
                      <a:endParaRPr lang="fr-FR"/>
                    </a:p>
                  </a:txBody>
                  <a:tcPr/>
                </a:tc>
                <a:extLst>
                  <a:ext uri="{0D108BD9-81ED-4DB2-BD59-A6C34878D82A}">
                    <a16:rowId xmlns:a16="http://schemas.microsoft.com/office/drawing/2014/main" val="4289991237"/>
                  </a:ext>
                </a:extLst>
              </a:tr>
            </a:tbl>
          </a:graphicData>
        </a:graphic>
      </p:graphicFrame>
      <p:graphicFrame>
        <p:nvGraphicFramePr>
          <p:cNvPr id="9" name="Tableau 8">
            <a:extLst>
              <a:ext uri="{FF2B5EF4-FFF2-40B4-BE49-F238E27FC236}">
                <a16:creationId xmlns:a16="http://schemas.microsoft.com/office/drawing/2014/main" id="{FA98F044-10A3-F5F2-030E-8FC94D1261F6}"/>
              </a:ext>
            </a:extLst>
          </p:cNvPr>
          <p:cNvGraphicFramePr>
            <a:graphicFrameLocks noGrp="1"/>
          </p:cNvGraphicFramePr>
          <p:nvPr>
            <p:extLst>
              <p:ext uri="{D42A27DB-BD31-4B8C-83A1-F6EECF244321}">
                <p14:modId xmlns:p14="http://schemas.microsoft.com/office/powerpoint/2010/main" val="1537598718"/>
              </p:ext>
            </p:extLst>
          </p:nvPr>
        </p:nvGraphicFramePr>
        <p:xfrm>
          <a:off x="2281256" y="4981668"/>
          <a:ext cx="2550056" cy="370840"/>
        </p:xfrm>
        <a:graphic>
          <a:graphicData uri="http://schemas.openxmlformats.org/drawingml/2006/table">
            <a:tbl>
              <a:tblPr firstRow="1" bandRow="1">
                <a:tableStyleId>{69012ECD-51FC-41F1-AA8D-1B2483CD663E}</a:tableStyleId>
              </a:tblPr>
              <a:tblGrid>
                <a:gridCol w="2550056">
                  <a:extLst>
                    <a:ext uri="{9D8B030D-6E8A-4147-A177-3AD203B41FA5}">
                      <a16:colId xmlns:a16="http://schemas.microsoft.com/office/drawing/2014/main" val="2913215545"/>
                    </a:ext>
                  </a:extLst>
                </a:gridCol>
              </a:tblGrid>
              <a:tr h="370840">
                <a:tc>
                  <a:txBody>
                    <a:bodyPr/>
                    <a:lstStyle/>
                    <a:p>
                      <a:endParaRPr lang="fr-FR"/>
                    </a:p>
                  </a:txBody>
                  <a:tcPr/>
                </a:tc>
                <a:extLst>
                  <a:ext uri="{0D108BD9-81ED-4DB2-BD59-A6C34878D82A}">
                    <a16:rowId xmlns:a16="http://schemas.microsoft.com/office/drawing/2014/main" val="2714108553"/>
                  </a:ext>
                </a:extLst>
              </a:tr>
            </a:tbl>
          </a:graphicData>
        </a:graphic>
      </p:graphicFrame>
      <p:graphicFrame>
        <p:nvGraphicFramePr>
          <p:cNvPr id="10" name="Tableau 9">
            <a:extLst>
              <a:ext uri="{FF2B5EF4-FFF2-40B4-BE49-F238E27FC236}">
                <a16:creationId xmlns:a16="http://schemas.microsoft.com/office/drawing/2014/main" id="{F4F7C6A4-E13F-C090-B08B-E7565DCCB18C}"/>
              </a:ext>
            </a:extLst>
          </p:cNvPr>
          <p:cNvGraphicFramePr>
            <a:graphicFrameLocks noGrp="1"/>
          </p:cNvGraphicFramePr>
          <p:nvPr>
            <p:extLst>
              <p:ext uri="{D42A27DB-BD31-4B8C-83A1-F6EECF244321}">
                <p14:modId xmlns:p14="http://schemas.microsoft.com/office/powerpoint/2010/main" val="3493230095"/>
              </p:ext>
            </p:extLst>
          </p:nvPr>
        </p:nvGraphicFramePr>
        <p:xfrm>
          <a:off x="-323491" y="4981754"/>
          <a:ext cx="2612373" cy="365760"/>
        </p:xfrm>
        <a:graphic>
          <a:graphicData uri="http://schemas.openxmlformats.org/drawingml/2006/table">
            <a:tbl>
              <a:tblPr firstRow="1" bandRow="1">
                <a:tableStyleId>{5A111915-BE36-4E01-A7E5-04B1672EAD32}</a:tableStyleId>
              </a:tblPr>
              <a:tblGrid>
                <a:gridCol w="2612373">
                  <a:extLst>
                    <a:ext uri="{9D8B030D-6E8A-4147-A177-3AD203B41FA5}">
                      <a16:colId xmlns:a16="http://schemas.microsoft.com/office/drawing/2014/main" val="784039394"/>
                    </a:ext>
                  </a:extLst>
                </a:gridCol>
              </a:tblGrid>
              <a:tr h="137085">
                <a:tc>
                  <a:txBody>
                    <a:bodyPr/>
                    <a:lstStyle/>
                    <a:p>
                      <a:endParaRPr lang="fr-FR"/>
                    </a:p>
                  </a:txBody>
                  <a:tcPr/>
                </a:tc>
                <a:extLst>
                  <a:ext uri="{0D108BD9-81ED-4DB2-BD59-A6C34878D82A}">
                    <a16:rowId xmlns:a16="http://schemas.microsoft.com/office/drawing/2014/main" val="3291483238"/>
                  </a:ext>
                </a:extLst>
              </a:tr>
            </a:tbl>
          </a:graphicData>
        </a:graphic>
      </p:graphicFrame>
      <p:pic>
        <p:nvPicPr>
          <p:cNvPr id="11" name="Image 10" descr="Une image contenant logo, symbole, Graphique, Police&#10;&#10;Le contenu généré par l’IA peut être incorrect.">
            <a:extLst>
              <a:ext uri="{FF2B5EF4-FFF2-40B4-BE49-F238E27FC236}">
                <a16:creationId xmlns:a16="http://schemas.microsoft.com/office/drawing/2014/main" id="{F2662FAE-6BC1-A906-9B3F-CEC4466BE840}"/>
              </a:ext>
            </a:extLst>
          </p:cNvPr>
          <p:cNvPicPr>
            <a:picLocks noChangeAspect="1"/>
          </p:cNvPicPr>
          <p:nvPr/>
        </p:nvPicPr>
        <p:blipFill>
          <a:blip r:embed="rId2"/>
          <a:stretch>
            <a:fillRect/>
          </a:stretch>
        </p:blipFill>
        <p:spPr>
          <a:xfrm flipV="1">
            <a:off x="5170457" y="237228"/>
            <a:ext cx="593067" cy="625415"/>
          </a:xfrm>
          <a:prstGeom prst="rect">
            <a:avLst/>
          </a:prstGeom>
          <a:ln>
            <a:noFill/>
          </a:ln>
          <a:effectLst>
            <a:softEdge rad="112500"/>
          </a:effectLst>
        </p:spPr>
      </p:pic>
      <p:sp>
        <p:nvSpPr>
          <p:cNvPr id="12" name="Rectangle 11">
            <a:extLst>
              <a:ext uri="{FF2B5EF4-FFF2-40B4-BE49-F238E27FC236}">
                <a16:creationId xmlns:a16="http://schemas.microsoft.com/office/drawing/2014/main" id="{F20FFB1F-5F37-F78D-C667-A256CB6E09AB}"/>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4" name="ZoneTexte 13">
            <a:extLst>
              <a:ext uri="{FF2B5EF4-FFF2-40B4-BE49-F238E27FC236}">
                <a16:creationId xmlns:a16="http://schemas.microsoft.com/office/drawing/2014/main" id="{D5113CAE-AF48-2F33-DD56-1C1BCC26E9FB}"/>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10</a:t>
            </a:r>
          </a:p>
        </p:txBody>
      </p:sp>
      <p:graphicFrame>
        <p:nvGraphicFramePr>
          <p:cNvPr id="6" name="Tableau 5">
            <a:extLst>
              <a:ext uri="{FF2B5EF4-FFF2-40B4-BE49-F238E27FC236}">
                <a16:creationId xmlns:a16="http://schemas.microsoft.com/office/drawing/2014/main" id="{F54D70BA-1E52-A8BE-7AFF-0642067138C6}"/>
              </a:ext>
            </a:extLst>
          </p:cNvPr>
          <p:cNvGraphicFramePr>
            <a:graphicFrameLocks noGrp="1"/>
          </p:cNvGraphicFramePr>
          <p:nvPr>
            <p:extLst>
              <p:ext uri="{D42A27DB-BD31-4B8C-83A1-F6EECF244321}">
                <p14:modId xmlns:p14="http://schemas.microsoft.com/office/powerpoint/2010/main" val="315127553"/>
              </p:ext>
            </p:extLst>
          </p:nvPr>
        </p:nvGraphicFramePr>
        <p:xfrm>
          <a:off x="299357" y="1433285"/>
          <a:ext cx="2575625" cy="3382797"/>
        </p:xfrm>
        <a:graphic>
          <a:graphicData uri="http://schemas.openxmlformats.org/drawingml/2006/table">
            <a:tbl>
              <a:tblPr firstRow="1" bandRow="1">
                <a:tableStyleId>{69012ECD-51FC-41F1-AA8D-1B2483CD663E}</a:tableStyleId>
              </a:tblPr>
              <a:tblGrid>
                <a:gridCol w="2575625">
                  <a:extLst>
                    <a:ext uri="{9D8B030D-6E8A-4147-A177-3AD203B41FA5}">
                      <a16:colId xmlns:a16="http://schemas.microsoft.com/office/drawing/2014/main" val="4236567728"/>
                    </a:ext>
                  </a:extLst>
                </a:gridCol>
              </a:tblGrid>
              <a:tr h="447817">
                <a:tc>
                  <a:txBody>
                    <a:bodyPr/>
                    <a:lstStyle/>
                    <a:p>
                      <a:r>
                        <a:rPr lang="fr-FR" dirty="0"/>
                        <a:t>      </a:t>
                      </a:r>
                      <a:r>
                        <a:rPr lang="fr-FR" dirty="0">
                          <a:solidFill>
                            <a:schemeClr val="bg1"/>
                          </a:solidFill>
                        </a:rPr>
                        <a:t> </a:t>
                      </a:r>
                      <a:r>
                        <a:rPr lang="fr-FR" dirty="0" err="1">
                          <a:solidFill>
                            <a:schemeClr val="bg1"/>
                          </a:solidFill>
                        </a:rPr>
                        <a:t>Wp_includes</a:t>
                      </a:r>
                    </a:p>
                  </a:txBody>
                  <a:tcPr/>
                </a:tc>
                <a:extLst>
                  <a:ext uri="{0D108BD9-81ED-4DB2-BD59-A6C34878D82A}">
                    <a16:rowId xmlns:a16="http://schemas.microsoft.com/office/drawing/2014/main" val="1510694515"/>
                  </a:ext>
                </a:extLst>
              </a:tr>
              <a:tr h="2934980">
                <a:tc>
                  <a:txBody>
                    <a:bodyPr/>
                    <a:lstStyle/>
                    <a:p>
                      <a:pPr lvl="0" algn="l">
                        <a:lnSpc>
                          <a:spcPct val="100000"/>
                        </a:lnSpc>
                        <a:spcBef>
                          <a:spcPts val="0"/>
                        </a:spcBef>
                        <a:spcAft>
                          <a:spcPts val="0"/>
                        </a:spcAft>
                        <a:buNone/>
                      </a:pPr>
                      <a:endParaRPr lang="fr-FR" sz="1000" u="none" strike="noStrike" noProof="0" dirty="0"/>
                    </a:p>
                    <a:p>
                      <a:pPr lvl="0" algn="l">
                        <a:lnSpc>
                          <a:spcPct val="100000"/>
                        </a:lnSpc>
                        <a:spcBef>
                          <a:spcPts val="0"/>
                        </a:spcBef>
                        <a:spcAft>
                          <a:spcPts val="0"/>
                        </a:spcAft>
                        <a:buNone/>
                      </a:pPr>
                      <a:r>
                        <a:rPr lang="fr-FR" sz="1500" u="none" strike="noStrike" noProof="0"/>
                        <a:t>Fonctions et classes principales (ne pas modifier).</a:t>
                      </a:r>
                      <a:endParaRPr lang="fr-FR"/>
                    </a:p>
                    <a:p>
                      <a:pPr marL="285750" lvl="0" indent="-285750" algn="l">
                        <a:lnSpc>
                          <a:spcPct val="100000"/>
                        </a:lnSpc>
                        <a:spcBef>
                          <a:spcPts val="0"/>
                        </a:spcBef>
                        <a:spcAft>
                          <a:spcPts val="0"/>
                        </a:spcAft>
                        <a:buFont typeface="Arial"/>
                        <a:buChar char="•"/>
                      </a:pPr>
                      <a:r>
                        <a:rPr lang="fr-FR" sz="1500" u="none" strike="noStrike" noProof="0"/>
                        <a:t>blocks : blocs Gutenberg </a:t>
                      </a:r>
                      <a:endParaRPr lang="fr-FR"/>
                    </a:p>
                    <a:p>
                      <a:pPr marL="285750" lvl="0" indent="-285750" algn="l">
                        <a:lnSpc>
                          <a:spcPct val="100000"/>
                        </a:lnSpc>
                        <a:spcBef>
                          <a:spcPts val="0"/>
                        </a:spcBef>
                        <a:spcAft>
                          <a:spcPts val="0"/>
                        </a:spcAft>
                        <a:buFont typeface="Arial"/>
                        <a:buChar char="•"/>
                      </a:pPr>
                      <a:r>
                        <a:rPr lang="fr-FR" sz="1500" u="none" strike="noStrike" noProof="0" dirty="0" err="1"/>
                        <a:t>css</a:t>
                      </a:r>
                      <a:r>
                        <a:rPr lang="fr-FR" sz="1500" u="none" strike="noStrike" noProof="0" dirty="0"/>
                        <a:t>/</a:t>
                      </a:r>
                      <a:r>
                        <a:rPr lang="fr-FR" sz="1500" u="none" strike="noStrike" noProof="0" dirty="0" err="1"/>
                        <a:t>js</a:t>
                      </a:r>
                      <a:r>
                        <a:rPr lang="fr-FR" sz="1500" u="none" strike="noStrike" noProof="0" dirty="0"/>
                        <a:t> : ressources </a:t>
                      </a:r>
                      <a:endParaRPr lang="fr-FR" dirty="0"/>
                    </a:p>
                    <a:p>
                      <a:pPr marL="285750" lvl="0" indent="-285750" algn="l">
                        <a:lnSpc>
                          <a:spcPct val="100000"/>
                        </a:lnSpc>
                        <a:spcBef>
                          <a:spcPts val="0"/>
                        </a:spcBef>
                        <a:spcAft>
                          <a:spcPts val="0"/>
                        </a:spcAft>
                        <a:buFont typeface="Arial"/>
                        <a:buChar char="•"/>
                      </a:pPr>
                      <a:r>
                        <a:rPr lang="fr-FR" sz="1500" u="none" strike="noStrike" noProof="0" dirty="0" err="1"/>
                        <a:t>functions.php</a:t>
                      </a:r>
                      <a:r>
                        <a:rPr lang="fr-FR" sz="1500" u="none" strike="noStrike" noProof="0" dirty="0"/>
                        <a:t> : fonctions globales </a:t>
                      </a:r>
                      <a:endParaRPr lang="fr-FR" dirty="0"/>
                    </a:p>
                    <a:p>
                      <a:pPr marL="285750" lvl="0" indent="-285750" algn="l">
                        <a:lnSpc>
                          <a:spcPct val="100000"/>
                        </a:lnSpc>
                        <a:spcBef>
                          <a:spcPts val="0"/>
                        </a:spcBef>
                        <a:spcAft>
                          <a:spcPts val="0"/>
                        </a:spcAft>
                        <a:buFont typeface="Arial"/>
                        <a:buChar char="•"/>
                      </a:pPr>
                      <a:r>
                        <a:rPr lang="fr-FR" sz="1500" u="none" strike="noStrike" noProof="0" dirty="0"/>
                        <a:t>class-</a:t>
                      </a:r>
                      <a:r>
                        <a:rPr lang="fr-FR" sz="1500" u="none" strike="noStrike" noProof="0" dirty="0" err="1"/>
                        <a:t>wp.php</a:t>
                      </a:r>
                      <a:r>
                        <a:rPr lang="fr-FR" sz="1500" u="none" strike="noStrike" noProof="0" dirty="0"/>
                        <a:t> : gestion des requêtes </a:t>
                      </a:r>
                      <a:endParaRPr lang="fr-FR" dirty="0"/>
                    </a:p>
                    <a:p>
                      <a:pPr marL="285750" lvl="0" indent="-285750" algn="l">
                        <a:lnSpc>
                          <a:spcPct val="100000"/>
                        </a:lnSpc>
                        <a:spcBef>
                          <a:spcPts val="0"/>
                        </a:spcBef>
                        <a:spcAft>
                          <a:spcPts val="0"/>
                        </a:spcAft>
                        <a:buFont typeface="Arial"/>
                        <a:buChar char="•"/>
                      </a:pPr>
                      <a:r>
                        <a:rPr lang="fr-FR" sz="1500" u="none" strike="noStrike" noProof="0" dirty="0" err="1"/>
                        <a:t>query.php</a:t>
                      </a:r>
                      <a:r>
                        <a:rPr lang="fr-FR" sz="1500" u="none" strike="noStrike" noProof="0" dirty="0"/>
                        <a:t> : </a:t>
                      </a:r>
                      <a:r>
                        <a:rPr lang="fr-FR" sz="1500" u="none" strike="noStrike" noProof="0" dirty="0" err="1"/>
                        <a:t>WP_Query</a:t>
                      </a:r>
                      <a:r>
                        <a:rPr lang="fr-FR" sz="1500" u="none" strike="noStrike" noProof="0" dirty="0"/>
                        <a:t> </a:t>
                      </a:r>
                      <a:endParaRPr lang="fr-FR" dirty="0"/>
                    </a:p>
                    <a:p>
                      <a:pPr marL="285750" lvl="0" indent="-285750" algn="l">
                        <a:lnSpc>
                          <a:spcPct val="100000"/>
                        </a:lnSpc>
                        <a:spcBef>
                          <a:spcPts val="0"/>
                        </a:spcBef>
                        <a:spcAft>
                          <a:spcPts val="0"/>
                        </a:spcAft>
                        <a:buFont typeface="Arial"/>
                        <a:buChar char="•"/>
                      </a:pPr>
                      <a:r>
                        <a:rPr lang="fr-FR" sz="1500" u="none" strike="noStrike" noProof="0" dirty="0" err="1"/>
                        <a:t>plugin.php</a:t>
                      </a:r>
                      <a:r>
                        <a:rPr lang="fr-FR" sz="1500" u="none" strike="noStrike" noProof="0" dirty="0"/>
                        <a:t> : </a:t>
                      </a:r>
                      <a:r>
                        <a:rPr lang="fr-FR" sz="1500" u="none" strike="noStrike" noProof="0" dirty="0" err="1"/>
                        <a:t>hooks</a:t>
                      </a:r>
                      <a:r>
                        <a:rPr lang="fr-FR" sz="1500" u="none" strike="noStrike" noProof="0" dirty="0"/>
                        <a:t> </a:t>
                      </a:r>
                      <a:endParaRPr lang="fr-FR" dirty="0"/>
                    </a:p>
                    <a:p>
                      <a:pPr marL="285750" lvl="0" indent="-285750" algn="l">
                        <a:lnSpc>
                          <a:spcPct val="100000"/>
                        </a:lnSpc>
                        <a:spcBef>
                          <a:spcPts val="0"/>
                        </a:spcBef>
                        <a:spcAft>
                          <a:spcPts val="0"/>
                        </a:spcAft>
                        <a:buFont typeface="Arial"/>
                        <a:buChar char="•"/>
                      </a:pPr>
                      <a:r>
                        <a:rPr lang="fr-FR" sz="1500" u="none" strike="noStrike" noProof="0" err="1"/>
                        <a:t>post.php</a:t>
                      </a:r>
                      <a:r>
                        <a:rPr lang="fr-FR" sz="1500" u="none" strike="noStrike" noProof="0"/>
                        <a:t> : contenus</a:t>
                      </a:r>
                      <a:endParaRPr lang="fr-FR"/>
                    </a:p>
                  </a:txBody>
                  <a:tcPr/>
                </a:tc>
                <a:extLst>
                  <a:ext uri="{0D108BD9-81ED-4DB2-BD59-A6C34878D82A}">
                    <a16:rowId xmlns:a16="http://schemas.microsoft.com/office/drawing/2014/main" val="125800317"/>
                  </a:ext>
                </a:extLst>
              </a:tr>
            </a:tbl>
          </a:graphicData>
        </a:graphic>
      </p:graphicFrame>
      <p:graphicFrame>
        <p:nvGraphicFramePr>
          <p:cNvPr id="13" name="Tableau 12">
            <a:extLst>
              <a:ext uri="{FF2B5EF4-FFF2-40B4-BE49-F238E27FC236}">
                <a16:creationId xmlns:a16="http://schemas.microsoft.com/office/drawing/2014/main" id="{D1D0ED77-74F2-E158-1801-CCFC21CD9F35}"/>
              </a:ext>
            </a:extLst>
          </p:cNvPr>
          <p:cNvGraphicFramePr>
            <a:graphicFrameLocks noGrp="1"/>
          </p:cNvGraphicFramePr>
          <p:nvPr>
            <p:extLst>
              <p:ext uri="{D42A27DB-BD31-4B8C-83A1-F6EECF244321}">
                <p14:modId xmlns:p14="http://schemas.microsoft.com/office/powerpoint/2010/main" val="45150978"/>
              </p:ext>
            </p:extLst>
          </p:nvPr>
        </p:nvGraphicFramePr>
        <p:xfrm>
          <a:off x="3184071" y="1433284"/>
          <a:ext cx="2575625" cy="3328177"/>
        </p:xfrm>
        <a:graphic>
          <a:graphicData uri="http://schemas.openxmlformats.org/drawingml/2006/table">
            <a:tbl>
              <a:tblPr firstRow="1" bandRow="1">
                <a:tableStyleId>{69012ECD-51FC-41F1-AA8D-1B2483CD663E}</a:tableStyleId>
              </a:tblPr>
              <a:tblGrid>
                <a:gridCol w="2575625">
                  <a:extLst>
                    <a:ext uri="{9D8B030D-6E8A-4147-A177-3AD203B41FA5}">
                      <a16:colId xmlns:a16="http://schemas.microsoft.com/office/drawing/2014/main" val="4236567728"/>
                    </a:ext>
                  </a:extLst>
                </a:gridCol>
              </a:tblGrid>
              <a:tr h="447817">
                <a:tc>
                  <a:txBody>
                    <a:bodyPr/>
                    <a:lstStyle/>
                    <a:p>
                      <a:r>
                        <a:rPr lang="fr-FR" dirty="0"/>
                        <a:t>            </a:t>
                      </a:r>
                      <a:r>
                        <a:rPr lang="fr-FR" dirty="0" err="1"/>
                        <a:t>Wp_admin</a:t>
                      </a:r>
                    </a:p>
                  </a:txBody>
                  <a:tcPr/>
                </a:tc>
                <a:extLst>
                  <a:ext uri="{0D108BD9-81ED-4DB2-BD59-A6C34878D82A}">
                    <a16:rowId xmlns:a16="http://schemas.microsoft.com/office/drawing/2014/main" val="1510694515"/>
                  </a:ext>
                </a:extLst>
              </a:tr>
              <a:tr h="2438082">
                <a:tc>
                  <a:txBody>
                    <a:bodyPr/>
                    <a:lstStyle/>
                    <a:p>
                      <a:pPr lvl="0" algn="l">
                        <a:lnSpc>
                          <a:spcPct val="100000"/>
                        </a:lnSpc>
                        <a:spcBef>
                          <a:spcPts val="0"/>
                        </a:spcBef>
                        <a:spcAft>
                          <a:spcPts val="0"/>
                        </a:spcAft>
                        <a:buNone/>
                      </a:pPr>
                      <a:endParaRPr lang="fr-FR" sz="1500" u="none" strike="noStrike" noProof="0" dirty="0"/>
                    </a:p>
                    <a:p>
                      <a:pPr lvl="0" algn="l">
                        <a:lnSpc>
                          <a:spcPct val="100000"/>
                        </a:lnSpc>
                        <a:spcBef>
                          <a:spcPts val="0"/>
                        </a:spcBef>
                        <a:spcAft>
                          <a:spcPts val="0"/>
                        </a:spcAft>
                        <a:buNone/>
                      </a:pPr>
                      <a:r>
                        <a:rPr lang="fr-FR" sz="1500" u="none" strike="noStrike" noProof="0"/>
                        <a:t>Interface d’administration (ne pas modifier).</a:t>
                      </a:r>
                      <a:endParaRPr lang="fr-FR" sz="1500"/>
                    </a:p>
                    <a:p>
                      <a:pPr marL="285750" lvl="0" indent="-285750" algn="l">
                        <a:lnSpc>
                          <a:spcPct val="100000"/>
                        </a:lnSpc>
                        <a:spcBef>
                          <a:spcPts val="0"/>
                        </a:spcBef>
                        <a:spcAft>
                          <a:spcPts val="0"/>
                        </a:spcAft>
                        <a:buFont typeface="Arial"/>
                        <a:buChar char="•"/>
                      </a:pPr>
                      <a:r>
                        <a:rPr lang="fr-FR" sz="1500" u="none" strike="noStrike" noProof="0" dirty="0" err="1"/>
                        <a:t>css</a:t>
                      </a:r>
                      <a:r>
                        <a:rPr lang="fr-FR" sz="1500" u="none" strike="noStrike" noProof="0" dirty="0"/>
                        <a:t>/</a:t>
                      </a:r>
                      <a:r>
                        <a:rPr lang="fr-FR" sz="1500" u="none" strike="noStrike" noProof="0" dirty="0" err="1"/>
                        <a:t>js</a:t>
                      </a:r>
                      <a:r>
                        <a:rPr lang="fr-FR" sz="1500" u="none" strike="noStrike" noProof="0" dirty="0"/>
                        <a:t> : styles et scripts </a:t>
                      </a:r>
                      <a:endParaRPr lang="fr-FR" sz="1500" dirty="0"/>
                    </a:p>
                    <a:p>
                      <a:pPr marL="285750" lvl="0" indent="-285750" algn="l">
                        <a:lnSpc>
                          <a:spcPct val="100000"/>
                        </a:lnSpc>
                        <a:spcBef>
                          <a:spcPts val="0"/>
                        </a:spcBef>
                        <a:spcAft>
                          <a:spcPts val="0"/>
                        </a:spcAft>
                        <a:buFont typeface="Arial"/>
                        <a:buChar char="•"/>
                      </a:pPr>
                      <a:r>
                        <a:rPr lang="fr-FR" sz="1500" u="none" strike="noStrike" noProof="0" dirty="0" err="1"/>
                        <a:t>includes</a:t>
                      </a:r>
                      <a:r>
                        <a:rPr lang="fr-FR" sz="1500" u="none" strike="noStrike" noProof="0" dirty="0"/>
                        <a:t> : fonctions admin </a:t>
                      </a:r>
                      <a:endParaRPr lang="fr-FR" sz="1500" dirty="0"/>
                    </a:p>
                    <a:p>
                      <a:pPr marL="285750" lvl="0" indent="-285750" algn="l">
                        <a:lnSpc>
                          <a:spcPct val="100000"/>
                        </a:lnSpc>
                        <a:spcBef>
                          <a:spcPts val="0"/>
                        </a:spcBef>
                        <a:spcAft>
                          <a:spcPts val="0"/>
                        </a:spcAft>
                        <a:buFont typeface="Arial"/>
                        <a:buChar char="•"/>
                      </a:pPr>
                      <a:r>
                        <a:rPr lang="fr-FR" sz="1500" u="none" strike="noStrike" noProof="0" dirty="0" err="1"/>
                        <a:t>admin.php</a:t>
                      </a:r>
                      <a:r>
                        <a:rPr lang="fr-FR" sz="1500" u="none" strike="noStrike" noProof="0" dirty="0"/>
                        <a:t> : entrée principale </a:t>
                      </a:r>
                      <a:endParaRPr lang="fr-FR" sz="1500" dirty="0"/>
                    </a:p>
                    <a:p>
                      <a:pPr marL="285750" lvl="0" indent="-285750" algn="l">
                        <a:lnSpc>
                          <a:spcPct val="100000"/>
                        </a:lnSpc>
                        <a:spcBef>
                          <a:spcPts val="0"/>
                        </a:spcBef>
                        <a:spcAft>
                          <a:spcPts val="0"/>
                        </a:spcAft>
                        <a:buFont typeface="Arial"/>
                        <a:buChar char="•"/>
                      </a:pPr>
                      <a:r>
                        <a:rPr lang="fr-FR" sz="1500" u="none" strike="noStrike" noProof="0" dirty="0" err="1"/>
                        <a:t>menu.php</a:t>
                      </a:r>
                      <a:r>
                        <a:rPr lang="fr-FR" sz="1500" u="none" strike="noStrike" noProof="0" dirty="0"/>
                        <a:t> : menu latéral </a:t>
                      </a:r>
                      <a:endParaRPr lang="fr-FR" sz="1500" dirty="0"/>
                    </a:p>
                    <a:p>
                      <a:pPr marL="285750" lvl="0" indent="-285750" algn="l">
                        <a:lnSpc>
                          <a:spcPct val="100000"/>
                        </a:lnSpc>
                        <a:spcBef>
                          <a:spcPts val="0"/>
                        </a:spcBef>
                        <a:spcAft>
                          <a:spcPts val="0"/>
                        </a:spcAft>
                        <a:buFont typeface="Arial"/>
                        <a:buChar char="•"/>
                      </a:pPr>
                      <a:r>
                        <a:rPr lang="fr-FR" sz="1500" u="none" strike="noStrike" noProof="0" dirty="0" err="1"/>
                        <a:t>options.php</a:t>
                      </a:r>
                      <a:r>
                        <a:rPr lang="fr-FR" sz="1500" u="none" strike="noStrike" noProof="0" dirty="0"/>
                        <a:t> : réglages </a:t>
                      </a:r>
                      <a:endParaRPr lang="fr-FR" sz="1500" dirty="0"/>
                    </a:p>
                    <a:p>
                      <a:pPr marL="285750" lvl="0" indent="-285750" algn="l">
                        <a:lnSpc>
                          <a:spcPct val="100000"/>
                        </a:lnSpc>
                        <a:spcBef>
                          <a:spcPts val="0"/>
                        </a:spcBef>
                        <a:spcAft>
                          <a:spcPts val="0"/>
                        </a:spcAft>
                        <a:buFont typeface="Arial"/>
                        <a:buChar char="•"/>
                      </a:pPr>
                      <a:r>
                        <a:rPr lang="fr-FR" sz="1500" u="none" strike="noStrike" noProof="0" dirty="0"/>
                        <a:t>user-</a:t>
                      </a:r>
                      <a:r>
                        <a:rPr lang="fr-FR" sz="1500" u="none" strike="noStrike" noProof="0" dirty="0" err="1"/>
                        <a:t>new.php</a:t>
                      </a:r>
                      <a:r>
                        <a:rPr lang="fr-FR" sz="1500" u="none" strike="noStrike" noProof="0" dirty="0"/>
                        <a:t> : ajout utilisateur</a:t>
                      </a:r>
                      <a:endParaRPr lang="fr-FR" sz="1500" dirty="0"/>
                    </a:p>
                    <a:p>
                      <a:pPr lvl="0">
                        <a:buNone/>
                      </a:pPr>
                      <a:endParaRPr lang="fr-FR" dirty="0"/>
                    </a:p>
                  </a:txBody>
                  <a:tcPr/>
                </a:tc>
                <a:extLst>
                  <a:ext uri="{0D108BD9-81ED-4DB2-BD59-A6C34878D82A}">
                    <a16:rowId xmlns:a16="http://schemas.microsoft.com/office/drawing/2014/main" val="125800317"/>
                  </a:ext>
                </a:extLst>
              </a:tr>
            </a:tbl>
          </a:graphicData>
        </a:graphic>
      </p:graphicFrame>
      <p:graphicFrame>
        <p:nvGraphicFramePr>
          <p:cNvPr id="15" name="Tableau 14">
            <a:extLst>
              <a:ext uri="{FF2B5EF4-FFF2-40B4-BE49-F238E27FC236}">
                <a16:creationId xmlns:a16="http://schemas.microsoft.com/office/drawing/2014/main" id="{2E858142-2B32-A84E-FC26-D18A19B0CE28}"/>
              </a:ext>
            </a:extLst>
          </p:cNvPr>
          <p:cNvGraphicFramePr>
            <a:graphicFrameLocks noGrp="1"/>
          </p:cNvGraphicFramePr>
          <p:nvPr>
            <p:extLst>
              <p:ext uri="{D42A27DB-BD31-4B8C-83A1-F6EECF244321}">
                <p14:modId xmlns:p14="http://schemas.microsoft.com/office/powerpoint/2010/main" val="1577496107"/>
              </p:ext>
            </p:extLst>
          </p:nvPr>
        </p:nvGraphicFramePr>
        <p:xfrm>
          <a:off x="6105071" y="1433284"/>
          <a:ext cx="2575625" cy="3301044"/>
        </p:xfrm>
        <a:graphic>
          <a:graphicData uri="http://schemas.openxmlformats.org/drawingml/2006/table">
            <a:tbl>
              <a:tblPr firstRow="1" bandRow="1">
                <a:tableStyleId>{69012ECD-51FC-41F1-AA8D-1B2483CD663E}</a:tableStyleId>
              </a:tblPr>
              <a:tblGrid>
                <a:gridCol w="2575625">
                  <a:extLst>
                    <a:ext uri="{9D8B030D-6E8A-4147-A177-3AD203B41FA5}">
                      <a16:colId xmlns:a16="http://schemas.microsoft.com/office/drawing/2014/main" val="4236567728"/>
                    </a:ext>
                  </a:extLst>
                </a:gridCol>
              </a:tblGrid>
              <a:tr h="523337">
                <a:tc>
                  <a:txBody>
                    <a:bodyPr/>
                    <a:lstStyle/>
                    <a:p>
                      <a:r>
                        <a:rPr lang="fr-FR" dirty="0"/>
                        <a:t>            </a:t>
                      </a:r>
                      <a:r>
                        <a:rPr lang="fr-FR" dirty="0" err="1"/>
                        <a:t>Wp_content</a:t>
                      </a:r>
                      <a:r>
                        <a:rPr lang="fr-FR" dirty="0"/>
                        <a:t> </a:t>
                      </a:r>
                      <a:endParaRPr lang="fr-FR"/>
                    </a:p>
                  </a:txBody>
                  <a:tcPr/>
                </a:tc>
                <a:extLst>
                  <a:ext uri="{0D108BD9-81ED-4DB2-BD59-A6C34878D82A}">
                    <a16:rowId xmlns:a16="http://schemas.microsoft.com/office/drawing/2014/main" val="1510694515"/>
                  </a:ext>
                </a:extLst>
              </a:tr>
              <a:tr h="2777707">
                <a:tc>
                  <a:txBody>
                    <a:bodyPr/>
                    <a:lstStyle/>
                    <a:p>
                      <a:pPr lvl="0" algn="l">
                        <a:lnSpc>
                          <a:spcPct val="100000"/>
                        </a:lnSpc>
                        <a:spcBef>
                          <a:spcPts val="0"/>
                        </a:spcBef>
                        <a:spcAft>
                          <a:spcPts val="0"/>
                        </a:spcAft>
                        <a:buNone/>
                      </a:pPr>
                      <a:endParaRPr lang="fr-FR" sz="1500" u="none" strike="noStrike" noProof="0" dirty="0"/>
                    </a:p>
                    <a:p>
                      <a:pPr lvl="0" algn="l">
                        <a:lnSpc>
                          <a:spcPct val="100000"/>
                        </a:lnSpc>
                        <a:spcBef>
                          <a:spcPts val="0"/>
                        </a:spcBef>
                        <a:spcAft>
                          <a:spcPts val="0"/>
                        </a:spcAft>
                        <a:buNone/>
                      </a:pPr>
                      <a:r>
                        <a:rPr lang="fr-FR" sz="1500" u="none" strike="noStrike" noProof="0"/>
                        <a:t>Dossier modifiable.</a:t>
                      </a:r>
                      <a:endParaRPr lang="fr-FR" sz="1500"/>
                    </a:p>
                    <a:p>
                      <a:pPr marL="285750" lvl="0" indent="-285750" algn="l">
                        <a:lnSpc>
                          <a:spcPct val="100000"/>
                        </a:lnSpc>
                        <a:spcBef>
                          <a:spcPts val="0"/>
                        </a:spcBef>
                        <a:spcAft>
                          <a:spcPts val="0"/>
                        </a:spcAft>
                        <a:buFont typeface="Arial"/>
                        <a:buChar char="•"/>
                      </a:pPr>
                      <a:r>
                        <a:rPr lang="fr-FR" sz="1500" u="none" strike="noStrike" noProof="0" dirty="0" err="1"/>
                        <a:t>themes</a:t>
                      </a:r>
                      <a:r>
                        <a:rPr lang="fr-FR" sz="1500" u="none" strike="noStrike" noProof="0" dirty="0"/>
                        <a:t> : thèmes </a:t>
                      </a:r>
                      <a:endParaRPr lang="fr-FR" sz="1500" dirty="0"/>
                    </a:p>
                    <a:p>
                      <a:pPr marL="285750" lvl="0" indent="-285750" algn="l">
                        <a:lnSpc>
                          <a:spcPct val="100000"/>
                        </a:lnSpc>
                        <a:spcBef>
                          <a:spcPts val="0"/>
                        </a:spcBef>
                        <a:spcAft>
                          <a:spcPts val="0"/>
                        </a:spcAft>
                        <a:buFont typeface="Arial"/>
                        <a:buChar char="•"/>
                      </a:pPr>
                      <a:r>
                        <a:rPr lang="fr-FR" sz="1500" u="none" strike="noStrike" noProof="0"/>
                        <a:t>plugins : extensions </a:t>
                      </a:r>
                      <a:endParaRPr lang="fr-FR" sz="1500"/>
                    </a:p>
                    <a:p>
                      <a:pPr marL="285750" lvl="0" indent="-285750" algn="l">
                        <a:lnSpc>
                          <a:spcPct val="100000"/>
                        </a:lnSpc>
                        <a:spcBef>
                          <a:spcPts val="0"/>
                        </a:spcBef>
                        <a:spcAft>
                          <a:spcPts val="0"/>
                        </a:spcAft>
                        <a:buFont typeface="Arial"/>
                        <a:buChar char="•"/>
                      </a:pPr>
                      <a:r>
                        <a:rPr lang="fr-FR" sz="1500" u="none" strike="noStrike" noProof="0" dirty="0" err="1"/>
                        <a:t>uploads</a:t>
                      </a:r>
                      <a:r>
                        <a:rPr lang="fr-FR" sz="1500" u="none" strike="noStrike" noProof="0" dirty="0"/>
                        <a:t> : médias</a:t>
                      </a:r>
                      <a:endParaRPr lang="fr-FR" sz="1500" dirty="0"/>
                    </a:p>
                    <a:p>
                      <a:pPr lvl="0" algn="l">
                        <a:lnSpc>
                          <a:spcPct val="100000"/>
                        </a:lnSpc>
                        <a:spcBef>
                          <a:spcPts val="0"/>
                        </a:spcBef>
                        <a:spcAft>
                          <a:spcPts val="0"/>
                        </a:spcAft>
                        <a:buNone/>
                      </a:pPr>
                      <a:endParaRPr lang="fr-FR" sz="1100" u="none" strike="noStrike" noProof="0" dirty="0"/>
                    </a:p>
                  </a:txBody>
                  <a:tcPr/>
                </a:tc>
                <a:extLst>
                  <a:ext uri="{0D108BD9-81ED-4DB2-BD59-A6C34878D82A}">
                    <a16:rowId xmlns:a16="http://schemas.microsoft.com/office/drawing/2014/main" val="125800317"/>
                  </a:ext>
                </a:extLst>
              </a:tr>
            </a:tbl>
          </a:graphicData>
        </a:graphic>
      </p:graphicFrame>
    </p:spTree>
    <p:extLst>
      <p:ext uri="{BB962C8B-B14F-4D97-AF65-F5344CB8AC3E}">
        <p14:creationId xmlns:p14="http://schemas.microsoft.com/office/powerpoint/2010/main" val="199329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3BA9394-2441-AACF-17B5-E82C3E13F04D}"/>
              </a:ext>
            </a:extLst>
          </p:cNvPr>
          <p:cNvSpPr txBox="1"/>
          <p:nvPr/>
        </p:nvSpPr>
        <p:spPr>
          <a:xfrm>
            <a:off x="390369" y="280093"/>
            <a:ext cx="63282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u="sng">
                <a:solidFill>
                  <a:schemeClr val="accent1"/>
                </a:solidFill>
                <a:latin typeface="Bookman Old Style"/>
                <a:ea typeface="+mn-lt"/>
                <a:cs typeface="+mn-lt"/>
              </a:rPr>
              <a:t> Vue globale de l’architecture WordPress :</a:t>
            </a:r>
            <a:endParaRPr lang="fr-FR" sz="2000" b="1" u="sng">
              <a:solidFill>
                <a:schemeClr val="accent1"/>
              </a:solidFill>
              <a:latin typeface="Bookman Old Style"/>
            </a:endParaRPr>
          </a:p>
        </p:txBody>
      </p:sp>
      <p:sp>
        <p:nvSpPr>
          <p:cNvPr id="3" name="ZoneTexte 2">
            <a:extLst>
              <a:ext uri="{FF2B5EF4-FFF2-40B4-BE49-F238E27FC236}">
                <a16:creationId xmlns:a16="http://schemas.microsoft.com/office/drawing/2014/main" id="{CB164087-CCCD-4507-C1FD-002CAC1DB23F}"/>
              </a:ext>
            </a:extLst>
          </p:cNvPr>
          <p:cNvSpPr txBox="1"/>
          <p:nvPr/>
        </p:nvSpPr>
        <p:spPr>
          <a:xfrm>
            <a:off x="385003" y="840120"/>
            <a:ext cx="8377992"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t>🌐 </a:t>
            </a:r>
            <a:r>
              <a:rPr lang="fr-FR" sz="1600" b="1">
                <a:solidFill>
                  <a:schemeClr val="accent2">
                    <a:lumMod val="49000"/>
                  </a:schemeClr>
                </a:solidFill>
              </a:rPr>
              <a:t>Couche Navigateur:</a:t>
            </a:r>
          </a:p>
          <a:p>
            <a:r>
              <a:rPr lang="fr-FR" sz="1500">
                <a:ea typeface="+mn-lt"/>
                <a:cs typeface="+mn-lt"/>
              </a:rPr>
              <a:t>La couche navigateur est le point de départ. L’utilisateur envoie une requête HTTP depuis son navigateur pour accéder au site. WordPress traite cette demande et renvoie une page HTML générée dynamiquement, que le navigateur affiche.</a:t>
            </a:r>
          </a:p>
          <a:p>
            <a:endParaRPr lang="fr-FR" sz="1500">
              <a:solidFill>
                <a:srgbClr val="000000"/>
              </a:solidFill>
              <a:ea typeface="Calibri"/>
              <a:cs typeface="Calibri"/>
            </a:endParaRPr>
          </a:p>
          <a:p>
            <a:r>
              <a:rPr lang="fr-FR"/>
              <a:t>🎨</a:t>
            </a:r>
            <a:r>
              <a:rPr lang="fr-FR" sz="1600" b="1">
                <a:solidFill>
                  <a:schemeClr val="accent2">
                    <a:lumMod val="49000"/>
                  </a:schemeClr>
                </a:solidFill>
              </a:rPr>
              <a:t> Couche Frontend:</a:t>
            </a:r>
            <a:endParaRPr lang="fr-FR" sz="1600" b="1">
              <a:solidFill>
                <a:schemeClr val="accent2">
                  <a:lumMod val="49000"/>
                </a:schemeClr>
              </a:solidFill>
              <a:ea typeface="Calibri"/>
              <a:cs typeface="Calibri"/>
            </a:endParaRPr>
          </a:p>
          <a:p>
            <a:r>
              <a:rPr lang="fr-FR" sz="1500">
                <a:solidFill>
                  <a:srgbClr val="000000"/>
                </a:solidFill>
                <a:ea typeface="+mn-lt"/>
                <a:cs typeface="+mn-lt"/>
              </a:rPr>
              <a:t>Cette couche représente l’apparence du site. Le thème contient des fichiers PHP, CSS et JavaScript qui définissent le design et l’affichage. Le fichier </a:t>
            </a:r>
            <a:r>
              <a:rPr lang="fr-FR" sz="1500" err="1">
                <a:solidFill>
                  <a:srgbClr val="000000"/>
                </a:solidFill>
                <a:latin typeface="Consolas"/>
                <a:ea typeface="Calibri"/>
                <a:cs typeface="Calibri"/>
              </a:rPr>
              <a:t>functions.php</a:t>
            </a:r>
            <a:r>
              <a:rPr lang="fr-FR" sz="1500">
                <a:solidFill>
                  <a:srgbClr val="000000"/>
                </a:solidFill>
                <a:ea typeface="+mn-lt"/>
                <a:cs typeface="+mn-lt"/>
              </a:rPr>
              <a:t> permet aussi d’ajouter des fonctionnalités au thème.</a:t>
            </a:r>
            <a:endParaRPr lang="fr-FR"/>
          </a:p>
          <a:p>
            <a:pPr algn="l"/>
            <a:endParaRPr lang="fr-FR" sz="1500">
              <a:solidFill>
                <a:srgbClr val="000000"/>
              </a:solidFill>
              <a:ea typeface="Calibri"/>
              <a:cs typeface="Calibri"/>
            </a:endParaRPr>
          </a:p>
          <a:p>
            <a:endParaRPr lang="fr-FR" sz="2000" b="1">
              <a:solidFill>
                <a:srgbClr val="813B0B"/>
              </a:solidFill>
              <a:ea typeface="Calibri"/>
              <a:cs typeface="Calibri"/>
            </a:endParaRPr>
          </a:p>
          <a:p>
            <a:endParaRPr lang="fr-FR">
              <a:ea typeface="Calibri"/>
              <a:cs typeface="Calibri"/>
            </a:endParaRPr>
          </a:p>
        </p:txBody>
      </p:sp>
      <p:graphicFrame>
        <p:nvGraphicFramePr>
          <p:cNvPr id="4" name="Tableau 3">
            <a:extLst>
              <a:ext uri="{FF2B5EF4-FFF2-40B4-BE49-F238E27FC236}">
                <a16:creationId xmlns:a16="http://schemas.microsoft.com/office/drawing/2014/main" id="{DB0C7529-18A9-371E-2095-F9F6AD1E1CEA}"/>
              </a:ext>
            </a:extLst>
          </p:cNvPr>
          <p:cNvGraphicFramePr>
            <a:graphicFrameLocks noGrp="1"/>
          </p:cNvGraphicFramePr>
          <p:nvPr>
            <p:extLst>
              <p:ext uri="{D42A27DB-BD31-4B8C-83A1-F6EECF244321}">
                <p14:modId xmlns:p14="http://schemas.microsoft.com/office/powerpoint/2010/main" val="2561170141"/>
              </p:ext>
            </p:extLst>
          </p:nvPr>
        </p:nvGraphicFramePr>
        <p:xfrm>
          <a:off x="4782916" y="4399385"/>
          <a:ext cx="2596794" cy="743137"/>
        </p:xfrm>
        <a:graphic>
          <a:graphicData uri="http://schemas.openxmlformats.org/drawingml/2006/table">
            <a:tbl>
              <a:tblPr firstRow="1" bandRow="1">
                <a:tableStyleId>{5C22544A-7EE6-4342-B048-85BDC9FD1C3A}</a:tableStyleId>
              </a:tblPr>
              <a:tblGrid>
                <a:gridCol w="2596794">
                  <a:extLst>
                    <a:ext uri="{9D8B030D-6E8A-4147-A177-3AD203B41FA5}">
                      <a16:colId xmlns:a16="http://schemas.microsoft.com/office/drawing/2014/main" val="672659087"/>
                    </a:ext>
                  </a:extLst>
                </a:gridCol>
              </a:tblGrid>
              <a:tr h="743137">
                <a:tc>
                  <a:txBody>
                    <a:bodyPr/>
                    <a:lstStyle/>
                    <a:p>
                      <a:endParaRPr lang="fr-FR"/>
                    </a:p>
                  </a:txBody>
                  <a:tcPr/>
                </a:tc>
                <a:extLst>
                  <a:ext uri="{0D108BD9-81ED-4DB2-BD59-A6C34878D82A}">
                    <a16:rowId xmlns:a16="http://schemas.microsoft.com/office/drawing/2014/main" val="3556602051"/>
                  </a:ext>
                </a:extLst>
              </a:tr>
            </a:tbl>
          </a:graphicData>
        </a:graphic>
      </p:graphicFrame>
      <p:graphicFrame>
        <p:nvGraphicFramePr>
          <p:cNvPr id="5" name="Tableau 4">
            <a:extLst>
              <a:ext uri="{FF2B5EF4-FFF2-40B4-BE49-F238E27FC236}">
                <a16:creationId xmlns:a16="http://schemas.microsoft.com/office/drawing/2014/main" id="{D76159CF-4C8D-FD07-34E0-68CE2D10BE12}"/>
              </a:ext>
            </a:extLst>
          </p:cNvPr>
          <p:cNvGraphicFramePr>
            <a:graphicFrameLocks noGrp="1"/>
          </p:cNvGraphicFramePr>
          <p:nvPr>
            <p:extLst>
              <p:ext uri="{D42A27DB-BD31-4B8C-83A1-F6EECF244321}">
                <p14:modId xmlns:p14="http://schemas.microsoft.com/office/powerpoint/2010/main" val="2468864643"/>
              </p:ext>
            </p:extLst>
          </p:nvPr>
        </p:nvGraphicFramePr>
        <p:xfrm>
          <a:off x="0" y="4690613"/>
          <a:ext cx="2534477" cy="450648"/>
        </p:xfrm>
        <a:graphic>
          <a:graphicData uri="http://schemas.openxmlformats.org/drawingml/2006/table">
            <a:tbl>
              <a:tblPr firstRow="1" bandRow="1">
                <a:tableStyleId>{D113A9D2-9D6B-4929-AA2D-F23B5EE8CBE7}</a:tableStyleId>
              </a:tblPr>
              <a:tblGrid>
                <a:gridCol w="2534477">
                  <a:extLst>
                    <a:ext uri="{9D8B030D-6E8A-4147-A177-3AD203B41FA5}">
                      <a16:colId xmlns:a16="http://schemas.microsoft.com/office/drawing/2014/main" val="3358463059"/>
                    </a:ext>
                  </a:extLst>
                </a:gridCol>
              </a:tblGrid>
              <a:tr h="450648">
                <a:tc>
                  <a:txBody>
                    <a:bodyPr/>
                    <a:lstStyle/>
                    <a:p>
                      <a:endParaRPr lang="fr-FR"/>
                    </a:p>
                  </a:txBody>
                  <a:tcPr/>
                </a:tc>
                <a:extLst>
                  <a:ext uri="{0D108BD9-81ED-4DB2-BD59-A6C34878D82A}">
                    <a16:rowId xmlns:a16="http://schemas.microsoft.com/office/drawing/2014/main" val="6777975"/>
                  </a:ext>
                </a:extLst>
              </a:tr>
            </a:tbl>
          </a:graphicData>
        </a:graphic>
      </p:graphicFrame>
      <p:graphicFrame>
        <p:nvGraphicFramePr>
          <p:cNvPr id="7" name="Tableau 6">
            <a:extLst>
              <a:ext uri="{FF2B5EF4-FFF2-40B4-BE49-F238E27FC236}">
                <a16:creationId xmlns:a16="http://schemas.microsoft.com/office/drawing/2014/main" id="{71EB3649-79A0-3037-52FA-D82685516787}"/>
              </a:ext>
            </a:extLst>
          </p:cNvPr>
          <p:cNvGraphicFramePr>
            <a:graphicFrameLocks noGrp="1"/>
          </p:cNvGraphicFramePr>
          <p:nvPr>
            <p:extLst>
              <p:ext uri="{D42A27DB-BD31-4B8C-83A1-F6EECF244321}">
                <p14:modId xmlns:p14="http://schemas.microsoft.com/office/powerpoint/2010/main" val="1339453447"/>
              </p:ext>
            </p:extLst>
          </p:nvPr>
        </p:nvGraphicFramePr>
        <p:xfrm>
          <a:off x="7397150" y="4787660"/>
          <a:ext cx="1739926" cy="365760"/>
        </p:xfrm>
        <a:graphic>
          <a:graphicData uri="http://schemas.openxmlformats.org/drawingml/2006/table">
            <a:tbl>
              <a:tblPr firstRow="1" bandRow="1">
                <a:tableStyleId>{7DF18680-E054-41AD-8BC1-D1AEF772440D}</a:tableStyleId>
              </a:tblPr>
              <a:tblGrid>
                <a:gridCol w="1739926">
                  <a:extLst>
                    <a:ext uri="{9D8B030D-6E8A-4147-A177-3AD203B41FA5}">
                      <a16:colId xmlns:a16="http://schemas.microsoft.com/office/drawing/2014/main" val="1831708272"/>
                    </a:ext>
                  </a:extLst>
                </a:gridCol>
              </a:tblGrid>
              <a:tr h="309440">
                <a:tc>
                  <a:txBody>
                    <a:bodyPr/>
                    <a:lstStyle/>
                    <a:p>
                      <a:endParaRPr lang="fr-FR"/>
                    </a:p>
                  </a:txBody>
                  <a:tcPr/>
                </a:tc>
                <a:extLst>
                  <a:ext uri="{0D108BD9-81ED-4DB2-BD59-A6C34878D82A}">
                    <a16:rowId xmlns:a16="http://schemas.microsoft.com/office/drawing/2014/main" val="1802768671"/>
                  </a:ext>
                </a:extLst>
              </a:tr>
            </a:tbl>
          </a:graphicData>
        </a:graphic>
      </p:graphicFrame>
      <p:graphicFrame>
        <p:nvGraphicFramePr>
          <p:cNvPr id="8" name="Tableau 7">
            <a:extLst>
              <a:ext uri="{FF2B5EF4-FFF2-40B4-BE49-F238E27FC236}">
                <a16:creationId xmlns:a16="http://schemas.microsoft.com/office/drawing/2014/main" id="{BAE92B72-3667-33EA-A0DF-0289B766FFF1}"/>
              </a:ext>
            </a:extLst>
          </p:cNvPr>
          <p:cNvGraphicFramePr>
            <a:graphicFrameLocks noGrp="1"/>
          </p:cNvGraphicFramePr>
          <p:nvPr>
            <p:extLst>
              <p:ext uri="{D42A27DB-BD31-4B8C-83A1-F6EECF244321}">
                <p14:modId xmlns:p14="http://schemas.microsoft.com/office/powerpoint/2010/main" val="1195045365"/>
              </p:ext>
            </p:extLst>
          </p:nvPr>
        </p:nvGraphicFramePr>
        <p:xfrm>
          <a:off x="2432218" y="3978848"/>
          <a:ext cx="2627953" cy="1165614"/>
        </p:xfrm>
        <a:graphic>
          <a:graphicData uri="http://schemas.openxmlformats.org/drawingml/2006/table">
            <a:tbl>
              <a:tblPr firstRow="1" bandRow="1">
                <a:tableStyleId>{7DF18680-E054-41AD-8BC1-D1AEF772440D}</a:tableStyleId>
              </a:tblPr>
              <a:tblGrid>
                <a:gridCol w="2627953">
                  <a:extLst>
                    <a:ext uri="{9D8B030D-6E8A-4147-A177-3AD203B41FA5}">
                      <a16:colId xmlns:a16="http://schemas.microsoft.com/office/drawing/2014/main" val="925244958"/>
                    </a:ext>
                  </a:extLst>
                </a:gridCol>
              </a:tblGrid>
              <a:tr h="1165614">
                <a:tc>
                  <a:txBody>
                    <a:bodyPr/>
                    <a:lstStyle/>
                    <a:p>
                      <a:endParaRPr lang="fr-FR"/>
                    </a:p>
                  </a:txBody>
                  <a:tcPr/>
                </a:tc>
                <a:extLst>
                  <a:ext uri="{0D108BD9-81ED-4DB2-BD59-A6C34878D82A}">
                    <a16:rowId xmlns:a16="http://schemas.microsoft.com/office/drawing/2014/main" val="2360961995"/>
                  </a:ext>
                </a:extLst>
              </a:tr>
            </a:tbl>
          </a:graphicData>
        </a:graphic>
      </p:graphicFrame>
      <p:pic>
        <p:nvPicPr>
          <p:cNvPr id="9" name="Image 8" descr="Une image contenant Police, Graphique, logo, texte&#10;&#10;Le contenu généré par l’IA peut être incorrect.">
            <a:extLst>
              <a:ext uri="{FF2B5EF4-FFF2-40B4-BE49-F238E27FC236}">
                <a16:creationId xmlns:a16="http://schemas.microsoft.com/office/drawing/2014/main" id="{52F7B289-D305-5B7A-C08A-DE562C418DE9}"/>
              </a:ext>
            </a:extLst>
          </p:cNvPr>
          <p:cNvPicPr>
            <a:picLocks noChangeAspect="1"/>
          </p:cNvPicPr>
          <p:nvPr/>
        </p:nvPicPr>
        <p:blipFill>
          <a:blip r:embed="rId2"/>
          <a:stretch>
            <a:fillRect/>
          </a:stretch>
        </p:blipFill>
        <p:spPr>
          <a:xfrm>
            <a:off x="5068600" y="2426180"/>
            <a:ext cx="3999337" cy="2135038"/>
          </a:xfrm>
          <a:prstGeom prst="rect">
            <a:avLst/>
          </a:prstGeom>
        </p:spPr>
      </p:pic>
      <p:sp>
        <p:nvSpPr>
          <p:cNvPr id="10" name="Rectangle 9">
            <a:extLst>
              <a:ext uri="{FF2B5EF4-FFF2-40B4-BE49-F238E27FC236}">
                <a16:creationId xmlns:a16="http://schemas.microsoft.com/office/drawing/2014/main" id="{E3C7FA2F-C668-E764-F4A3-E33383D30AF0}"/>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2" name="ZoneTexte 11">
            <a:extLst>
              <a:ext uri="{FF2B5EF4-FFF2-40B4-BE49-F238E27FC236}">
                <a16:creationId xmlns:a16="http://schemas.microsoft.com/office/drawing/2014/main" id="{6E792CCD-38CA-1505-7D0D-49D17EA4D6AE}"/>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11</a:t>
            </a:r>
          </a:p>
        </p:txBody>
      </p:sp>
    </p:spTree>
    <p:extLst>
      <p:ext uri="{BB962C8B-B14F-4D97-AF65-F5344CB8AC3E}">
        <p14:creationId xmlns:p14="http://schemas.microsoft.com/office/powerpoint/2010/main" val="84622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950F-D240-680A-E488-C3ACF9AFB78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29D4044-1AE8-61C8-D408-56D63DAABF51}"/>
              </a:ext>
            </a:extLst>
          </p:cNvPr>
          <p:cNvSpPr txBox="1"/>
          <p:nvPr/>
        </p:nvSpPr>
        <p:spPr>
          <a:xfrm>
            <a:off x="390369" y="280093"/>
            <a:ext cx="63282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u="sng">
                <a:solidFill>
                  <a:schemeClr val="accent1"/>
                </a:solidFill>
                <a:latin typeface="Bookman Old Style"/>
                <a:ea typeface="+mn-lt"/>
                <a:cs typeface="+mn-lt"/>
              </a:rPr>
              <a:t> Vue globale de l’architecture WordPress :</a:t>
            </a:r>
            <a:endParaRPr lang="fr-FR" sz="2000" b="1" u="sng">
              <a:solidFill>
                <a:schemeClr val="accent1"/>
              </a:solidFill>
              <a:latin typeface="Bookman Old Style"/>
            </a:endParaRPr>
          </a:p>
        </p:txBody>
      </p:sp>
      <p:sp>
        <p:nvSpPr>
          <p:cNvPr id="3" name="ZoneTexte 2">
            <a:extLst>
              <a:ext uri="{FF2B5EF4-FFF2-40B4-BE49-F238E27FC236}">
                <a16:creationId xmlns:a16="http://schemas.microsoft.com/office/drawing/2014/main" id="{78F6D529-0DB1-B2AA-A7A6-F16814D8D984}"/>
              </a:ext>
            </a:extLst>
          </p:cNvPr>
          <p:cNvSpPr txBox="1"/>
          <p:nvPr/>
        </p:nvSpPr>
        <p:spPr>
          <a:xfrm>
            <a:off x="385003" y="840120"/>
            <a:ext cx="837799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t>⚙️ </a:t>
            </a:r>
            <a:r>
              <a:rPr lang="fr-FR" sz="1600" b="1">
                <a:solidFill>
                  <a:schemeClr val="accent2">
                    <a:lumMod val="49000"/>
                  </a:schemeClr>
                </a:solidFill>
              </a:rPr>
              <a:t>Couche Backend — le </a:t>
            </a:r>
            <a:r>
              <a:rPr lang="fr-FR" sz="1600" b="1" err="1">
                <a:solidFill>
                  <a:schemeClr val="accent2">
                    <a:lumMod val="49000"/>
                  </a:schemeClr>
                </a:solidFill>
              </a:rPr>
              <a:t>Core</a:t>
            </a:r>
            <a:r>
              <a:rPr lang="fr-FR" sz="1600" b="1">
                <a:solidFill>
                  <a:schemeClr val="accent2">
                    <a:lumMod val="49000"/>
                  </a:schemeClr>
                </a:solidFill>
              </a:rPr>
              <a:t> :</a:t>
            </a:r>
            <a:endParaRPr lang="fr-FR" sz="1600" b="1" err="1">
              <a:solidFill>
                <a:schemeClr val="accent2">
                  <a:lumMod val="49000"/>
                </a:schemeClr>
              </a:solidFill>
              <a:ea typeface="Calibri"/>
              <a:cs typeface="Calibri"/>
            </a:endParaRPr>
          </a:p>
          <a:p>
            <a:r>
              <a:rPr lang="fr-FR" sz="1500">
                <a:ea typeface="+mn-lt"/>
                <a:cs typeface="+mn-lt"/>
              </a:rPr>
              <a:t>Le </a:t>
            </a:r>
            <a:r>
              <a:rPr lang="fr-FR" sz="1500" err="1">
                <a:ea typeface="+mn-lt"/>
                <a:cs typeface="+mn-lt"/>
              </a:rPr>
              <a:t>core</a:t>
            </a:r>
            <a:r>
              <a:rPr lang="fr-FR" sz="1500">
                <a:ea typeface="+mn-lt"/>
                <a:cs typeface="+mn-lt"/>
              </a:rPr>
              <a:t> de </a:t>
            </a:r>
            <a:r>
              <a:rPr lang="fr-FR" sz="1500" b="1">
                <a:ea typeface="+mn-lt"/>
                <a:cs typeface="+mn-lt"/>
              </a:rPr>
              <a:t>WordPress</a:t>
            </a:r>
            <a:r>
              <a:rPr lang="fr-FR" sz="1500">
                <a:ea typeface="+mn-lt"/>
                <a:cs typeface="+mn-lt"/>
              </a:rPr>
              <a:t> gère toute la logique du site. Il s’occupe du tableau de bord, du contenu, des utilisateurs et utilise des </a:t>
            </a:r>
            <a:r>
              <a:rPr lang="fr-FR" sz="1500" err="1">
                <a:ea typeface="+mn-lt"/>
                <a:cs typeface="+mn-lt"/>
              </a:rPr>
              <a:t>hooks</a:t>
            </a:r>
            <a:r>
              <a:rPr lang="fr-FR" sz="1500">
                <a:ea typeface="+mn-lt"/>
                <a:cs typeface="+mn-lt"/>
              </a:rPr>
              <a:t> (actions et filtres) pour permettre la personnalisation sans modifier le code principal.</a:t>
            </a:r>
          </a:p>
          <a:p>
            <a:endParaRPr lang="fr-FR" sz="1600" b="1">
              <a:solidFill>
                <a:schemeClr val="accent2">
                  <a:lumMod val="49000"/>
                </a:schemeClr>
              </a:solidFill>
              <a:ea typeface="+mn-lt"/>
              <a:cs typeface="+mn-lt"/>
            </a:endParaRPr>
          </a:p>
          <a:p>
            <a:r>
              <a:rPr lang="fr-FR" sz="1600" b="1">
                <a:solidFill>
                  <a:schemeClr val="accent2">
                    <a:lumMod val="49000"/>
                  </a:schemeClr>
                </a:solidFill>
              </a:rPr>
              <a:t>🗄️ Base de données (MySQL) :</a:t>
            </a:r>
            <a:endParaRPr lang="fr-FR" sz="1600" b="1">
              <a:solidFill>
                <a:schemeClr val="accent2">
                  <a:lumMod val="49000"/>
                </a:schemeClr>
              </a:solidFill>
              <a:ea typeface="Calibri"/>
              <a:cs typeface="Calibri"/>
            </a:endParaRPr>
          </a:p>
          <a:p>
            <a:r>
              <a:rPr lang="fr-FR" sz="1500">
                <a:solidFill>
                  <a:srgbClr val="000000"/>
                </a:solidFill>
                <a:ea typeface="+mn-lt"/>
                <a:cs typeface="+mn-lt"/>
              </a:rPr>
              <a:t>La base de données stocke toutes les informations du site dans des tables comme </a:t>
            </a:r>
            <a:r>
              <a:rPr lang="fr-FR" sz="1500" err="1">
                <a:solidFill>
                  <a:srgbClr val="000000"/>
                </a:solidFill>
                <a:latin typeface="Consolas"/>
                <a:ea typeface="Calibri"/>
                <a:cs typeface="Calibri"/>
              </a:rPr>
              <a:t>wp_posts</a:t>
            </a:r>
            <a:r>
              <a:rPr lang="fr-FR" sz="1500">
                <a:solidFill>
                  <a:srgbClr val="000000"/>
                </a:solidFill>
                <a:ea typeface="+mn-lt"/>
                <a:cs typeface="+mn-lt"/>
              </a:rPr>
              <a:t>, </a:t>
            </a:r>
            <a:r>
              <a:rPr lang="fr-FR" sz="1500" err="1">
                <a:solidFill>
                  <a:srgbClr val="000000"/>
                </a:solidFill>
                <a:latin typeface="Consolas"/>
                <a:ea typeface="Calibri"/>
                <a:cs typeface="Calibri"/>
              </a:rPr>
              <a:t>wp_users</a:t>
            </a:r>
            <a:r>
              <a:rPr lang="fr-FR" sz="1500">
                <a:solidFill>
                  <a:srgbClr val="000000"/>
                </a:solidFill>
                <a:ea typeface="+mn-lt"/>
                <a:cs typeface="+mn-lt"/>
              </a:rPr>
              <a:t> et </a:t>
            </a:r>
            <a:r>
              <a:rPr lang="fr-FR" sz="1500" err="1">
                <a:solidFill>
                  <a:srgbClr val="000000"/>
                </a:solidFill>
                <a:latin typeface="Consolas"/>
                <a:ea typeface="Calibri"/>
                <a:cs typeface="Calibri"/>
              </a:rPr>
              <a:t>wp_options</a:t>
            </a:r>
            <a:r>
              <a:rPr lang="fr-FR" sz="1500">
                <a:solidFill>
                  <a:srgbClr val="000000"/>
                </a:solidFill>
                <a:ea typeface="+mn-lt"/>
                <a:cs typeface="+mn-lt"/>
              </a:rPr>
              <a:t>. Elle permet de sauvegarder et récupérer les données nécessaires à chaque affichage.</a:t>
            </a:r>
            <a:endParaRPr lang="fr-FR"/>
          </a:p>
          <a:p>
            <a:endParaRPr lang="fr-FR" sz="1500">
              <a:solidFill>
                <a:srgbClr val="000000"/>
              </a:solidFill>
              <a:ea typeface="Calibri"/>
              <a:cs typeface="Calibri"/>
            </a:endParaRPr>
          </a:p>
          <a:p>
            <a:endParaRPr lang="fr-FR" sz="2000" b="1">
              <a:solidFill>
                <a:srgbClr val="813B0B"/>
              </a:solidFill>
              <a:ea typeface="Calibri"/>
              <a:cs typeface="Calibri"/>
            </a:endParaRPr>
          </a:p>
          <a:p>
            <a:endParaRPr lang="fr-FR">
              <a:ea typeface="Calibri"/>
              <a:cs typeface="Calibri"/>
            </a:endParaRPr>
          </a:p>
        </p:txBody>
      </p:sp>
      <p:graphicFrame>
        <p:nvGraphicFramePr>
          <p:cNvPr id="4" name="Tableau 3">
            <a:extLst>
              <a:ext uri="{FF2B5EF4-FFF2-40B4-BE49-F238E27FC236}">
                <a16:creationId xmlns:a16="http://schemas.microsoft.com/office/drawing/2014/main" id="{06472AD4-7811-7FCF-1822-2AE68E1A7200}"/>
              </a:ext>
            </a:extLst>
          </p:cNvPr>
          <p:cNvGraphicFramePr>
            <a:graphicFrameLocks noGrp="1"/>
          </p:cNvGraphicFramePr>
          <p:nvPr/>
        </p:nvGraphicFramePr>
        <p:xfrm>
          <a:off x="4782916" y="4399385"/>
          <a:ext cx="2596794" cy="743137"/>
        </p:xfrm>
        <a:graphic>
          <a:graphicData uri="http://schemas.openxmlformats.org/drawingml/2006/table">
            <a:tbl>
              <a:tblPr firstRow="1" bandRow="1">
                <a:tableStyleId>{5C22544A-7EE6-4342-B048-85BDC9FD1C3A}</a:tableStyleId>
              </a:tblPr>
              <a:tblGrid>
                <a:gridCol w="2596794">
                  <a:extLst>
                    <a:ext uri="{9D8B030D-6E8A-4147-A177-3AD203B41FA5}">
                      <a16:colId xmlns:a16="http://schemas.microsoft.com/office/drawing/2014/main" val="672659087"/>
                    </a:ext>
                  </a:extLst>
                </a:gridCol>
              </a:tblGrid>
              <a:tr h="743137">
                <a:tc>
                  <a:txBody>
                    <a:bodyPr/>
                    <a:lstStyle/>
                    <a:p>
                      <a:endParaRPr lang="fr-FR"/>
                    </a:p>
                  </a:txBody>
                  <a:tcPr/>
                </a:tc>
                <a:extLst>
                  <a:ext uri="{0D108BD9-81ED-4DB2-BD59-A6C34878D82A}">
                    <a16:rowId xmlns:a16="http://schemas.microsoft.com/office/drawing/2014/main" val="3556602051"/>
                  </a:ext>
                </a:extLst>
              </a:tr>
            </a:tbl>
          </a:graphicData>
        </a:graphic>
      </p:graphicFrame>
      <p:graphicFrame>
        <p:nvGraphicFramePr>
          <p:cNvPr id="5" name="Tableau 4">
            <a:extLst>
              <a:ext uri="{FF2B5EF4-FFF2-40B4-BE49-F238E27FC236}">
                <a16:creationId xmlns:a16="http://schemas.microsoft.com/office/drawing/2014/main" id="{51E8CF80-6B88-4F30-40D3-BFCF41CF3C9B}"/>
              </a:ext>
            </a:extLst>
          </p:cNvPr>
          <p:cNvGraphicFramePr>
            <a:graphicFrameLocks noGrp="1"/>
          </p:cNvGraphicFramePr>
          <p:nvPr/>
        </p:nvGraphicFramePr>
        <p:xfrm>
          <a:off x="0" y="4690613"/>
          <a:ext cx="2534477" cy="450648"/>
        </p:xfrm>
        <a:graphic>
          <a:graphicData uri="http://schemas.openxmlformats.org/drawingml/2006/table">
            <a:tbl>
              <a:tblPr firstRow="1" bandRow="1">
                <a:tableStyleId>{D113A9D2-9D6B-4929-AA2D-F23B5EE8CBE7}</a:tableStyleId>
              </a:tblPr>
              <a:tblGrid>
                <a:gridCol w="2534477">
                  <a:extLst>
                    <a:ext uri="{9D8B030D-6E8A-4147-A177-3AD203B41FA5}">
                      <a16:colId xmlns:a16="http://schemas.microsoft.com/office/drawing/2014/main" val="3358463059"/>
                    </a:ext>
                  </a:extLst>
                </a:gridCol>
              </a:tblGrid>
              <a:tr h="450648">
                <a:tc>
                  <a:txBody>
                    <a:bodyPr/>
                    <a:lstStyle/>
                    <a:p>
                      <a:endParaRPr lang="fr-FR"/>
                    </a:p>
                  </a:txBody>
                  <a:tcPr/>
                </a:tc>
                <a:extLst>
                  <a:ext uri="{0D108BD9-81ED-4DB2-BD59-A6C34878D82A}">
                    <a16:rowId xmlns:a16="http://schemas.microsoft.com/office/drawing/2014/main" val="6777975"/>
                  </a:ext>
                </a:extLst>
              </a:tr>
            </a:tbl>
          </a:graphicData>
        </a:graphic>
      </p:graphicFrame>
      <p:graphicFrame>
        <p:nvGraphicFramePr>
          <p:cNvPr id="7" name="Tableau 6">
            <a:extLst>
              <a:ext uri="{FF2B5EF4-FFF2-40B4-BE49-F238E27FC236}">
                <a16:creationId xmlns:a16="http://schemas.microsoft.com/office/drawing/2014/main" id="{A979614C-900D-5DA4-2738-45C8A36DEBEE}"/>
              </a:ext>
            </a:extLst>
          </p:cNvPr>
          <p:cNvGraphicFramePr>
            <a:graphicFrameLocks noGrp="1"/>
          </p:cNvGraphicFramePr>
          <p:nvPr/>
        </p:nvGraphicFramePr>
        <p:xfrm>
          <a:off x="7397150" y="4787660"/>
          <a:ext cx="1739926" cy="365760"/>
        </p:xfrm>
        <a:graphic>
          <a:graphicData uri="http://schemas.openxmlformats.org/drawingml/2006/table">
            <a:tbl>
              <a:tblPr firstRow="1" bandRow="1">
                <a:tableStyleId>{7DF18680-E054-41AD-8BC1-D1AEF772440D}</a:tableStyleId>
              </a:tblPr>
              <a:tblGrid>
                <a:gridCol w="1739926">
                  <a:extLst>
                    <a:ext uri="{9D8B030D-6E8A-4147-A177-3AD203B41FA5}">
                      <a16:colId xmlns:a16="http://schemas.microsoft.com/office/drawing/2014/main" val="1831708272"/>
                    </a:ext>
                  </a:extLst>
                </a:gridCol>
              </a:tblGrid>
              <a:tr h="309440">
                <a:tc>
                  <a:txBody>
                    <a:bodyPr/>
                    <a:lstStyle/>
                    <a:p>
                      <a:endParaRPr lang="fr-FR"/>
                    </a:p>
                  </a:txBody>
                  <a:tcPr/>
                </a:tc>
                <a:extLst>
                  <a:ext uri="{0D108BD9-81ED-4DB2-BD59-A6C34878D82A}">
                    <a16:rowId xmlns:a16="http://schemas.microsoft.com/office/drawing/2014/main" val="1802768671"/>
                  </a:ext>
                </a:extLst>
              </a:tr>
            </a:tbl>
          </a:graphicData>
        </a:graphic>
      </p:graphicFrame>
      <p:graphicFrame>
        <p:nvGraphicFramePr>
          <p:cNvPr id="8" name="Tableau 7">
            <a:extLst>
              <a:ext uri="{FF2B5EF4-FFF2-40B4-BE49-F238E27FC236}">
                <a16:creationId xmlns:a16="http://schemas.microsoft.com/office/drawing/2014/main" id="{A856E9BD-0037-C570-F07F-F0F11A0678F5}"/>
              </a:ext>
            </a:extLst>
          </p:cNvPr>
          <p:cNvGraphicFramePr>
            <a:graphicFrameLocks noGrp="1"/>
          </p:cNvGraphicFramePr>
          <p:nvPr/>
        </p:nvGraphicFramePr>
        <p:xfrm>
          <a:off x="2432218" y="3978848"/>
          <a:ext cx="2627953" cy="1165614"/>
        </p:xfrm>
        <a:graphic>
          <a:graphicData uri="http://schemas.openxmlformats.org/drawingml/2006/table">
            <a:tbl>
              <a:tblPr firstRow="1" bandRow="1">
                <a:tableStyleId>{7DF18680-E054-41AD-8BC1-D1AEF772440D}</a:tableStyleId>
              </a:tblPr>
              <a:tblGrid>
                <a:gridCol w="2627953">
                  <a:extLst>
                    <a:ext uri="{9D8B030D-6E8A-4147-A177-3AD203B41FA5}">
                      <a16:colId xmlns:a16="http://schemas.microsoft.com/office/drawing/2014/main" val="925244958"/>
                    </a:ext>
                  </a:extLst>
                </a:gridCol>
              </a:tblGrid>
              <a:tr h="1165614">
                <a:tc>
                  <a:txBody>
                    <a:bodyPr/>
                    <a:lstStyle/>
                    <a:p>
                      <a:endParaRPr lang="fr-FR"/>
                    </a:p>
                  </a:txBody>
                  <a:tcPr/>
                </a:tc>
                <a:extLst>
                  <a:ext uri="{0D108BD9-81ED-4DB2-BD59-A6C34878D82A}">
                    <a16:rowId xmlns:a16="http://schemas.microsoft.com/office/drawing/2014/main" val="2360961995"/>
                  </a:ext>
                </a:extLst>
              </a:tr>
            </a:tbl>
          </a:graphicData>
        </a:graphic>
      </p:graphicFrame>
      <p:pic>
        <p:nvPicPr>
          <p:cNvPr id="9" name="Image 8" descr="Une image contenant Police, Graphique, logo, texte&#10;&#10;Le contenu généré par l’IA peut être incorrect.">
            <a:extLst>
              <a:ext uri="{FF2B5EF4-FFF2-40B4-BE49-F238E27FC236}">
                <a16:creationId xmlns:a16="http://schemas.microsoft.com/office/drawing/2014/main" id="{0A0E3FE8-F3DA-D8BA-AA8A-8F588EAA515B}"/>
              </a:ext>
            </a:extLst>
          </p:cNvPr>
          <p:cNvPicPr>
            <a:picLocks noChangeAspect="1"/>
          </p:cNvPicPr>
          <p:nvPr/>
        </p:nvPicPr>
        <p:blipFill>
          <a:blip r:embed="rId2"/>
          <a:stretch>
            <a:fillRect/>
          </a:stretch>
        </p:blipFill>
        <p:spPr>
          <a:xfrm>
            <a:off x="5068600" y="2426180"/>
            <a:ext cx="3999337" cy="2135038"/>
          </a:xfrm>
          <a:prstGeom prst="rect">
            <a:avLst/>
          </a:prstGeom>
        </p:spPr>
      </p:pic>
      <p:sp>
        <p:nvSpPr>
          <p:cNvPr id="10" name="Rectangle 9">
            <a:extLst>
              <a:ext uri="{FF2B5EF4-FFF2-40B4-BE49-F238E27FC236}">
                <a16:creationId xmlns:a16="http://schemas.microsoft.com/office/drawing/2014/main" id="{6E9E874A-E382-AC84-22E1-91C41D76558F}"/>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2" name="ZoneTexte 11">
            <a:extLst>
              <a:ext uri="{FF2B5EF4-FFF2-40B4-BE49-F238E27FC236}">
                <a16:creationId xmlns:a16="http://schemas.microsoft.com/office/drawing/2014/main" id="{B06FC198-7579-C5E5-F4BD-7F1030DD2FA0}"/>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12</a:t>
            </a:r>
          </a:p>
        </p:txBody>
      </p:sp>
    </p:spTree>
    <p:extLst>
      <p:ext uri="{BB962C8B-B14F-4D97-AF65-F5344CB8AC3E}">
        <p14:creationId xmlns:p14="http://schemas.microsoft.com/office/powerpoint/2010/main" val="89670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CA66-7DEB-F4EA-2233-1449D2F20351}"/>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CFFF6958-64F0-67BC-9F41-C704DE3C5966}"/>
              </a:ext>
            </a:extLst>
          </p:cNvPr>
          <p:cNvSpPr txBox="1"/>
          <p:nvPr/>
        </p:nvSpPr>
        <p:spPr>
          <a:xfrm>
            <a:off x="440166" y="289203"/>
            <a:ext cx="53103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u="sng">
                <a:solidFill>
                  <a:schemeClr val="accent1"/>
                </a:solidFill>
                <a:latin typeface="Bookman Old Style"/>
                <a:ea typeface="+mn-lt"/>
                <a:cs typeface="+mn-lt"/>
              </a:rPr>
              <a:t> Comment fonctionne WordPress:</a:t>
            </a:r>
            <a:endParaRPr lang="fr-FR" sz="2000" b="1" u="sng">
              <a:solidFill>
                <a:schemeClr val="accent1"/>
              </a:solidFill>
              <a:latin typeface="Bookman Old Style"/>
            </a:endParaRPr>
          </a:p>
        </p:txBody>
      </p:sp>
      <p:graphicFrame>
        <p:nvGraphicFramePr>
          <p:cNvPr id="7" name="Tableau 6">
            <a:extLst>
              <a:ext uri="{FF2B5EF4-FFF2-40B4-BE49-F238E27FC236}">
                <a16:creationId xmlns:a16="http://schemas.microsoft.com/office/drawing/2014/main" id="{00A87836-5958-22B1-F158-08270B448A31}"/>
              </a:ext>
            </a:extLst>
          </p:cNvPr>
          <p:cNvGraphicFramePr>
            <a:graphicFrameLocks noGrp="1"/>
          </p:cNvGraphicFramePr>
          <p:nvPr/>
        </p:nvGraphicFramePr>
        <p:xfrm>
          <a:off x="7375584" y="4981754"/>
          <a:ext cx="1771519" cy="370840"/>
        </p:xfrm>
        <a:graphic>
          <a:graphicData uri="http://schemas.openxmlformats.org/drawingml/2006/table">
            <a:tbl>
              <a:tblPr firstRow="1" bandRow="1">
                <a:tableStyleId>{5C22544A-7EE6-4342-B048-85BDC9FD1C3A}</a:tableStyleId>
              </a:tblPr>
              <a:tblGrid>
                <a:gridCol w="1771519">
                  <a:extLst>
                    <a:ext uri="{9D8B030D-6E8A-4147-A177-3AD203B41FA5}">
                      <a16:colId xmlns:a16="http://schemas.microsoft.com/office/drawing/2014/main" val="2604836803"/>
                    </a:ext>
                  </a:extLst>
                </a:gridCol>
              </a:tblGrid>
              <a:tr h="370840">
                <a:tc>
                  <a:txBody>
                    <a:bodyPr/>
                    <a:lstStyle/>
                    <a:p>
                      <a:endParaRPr lang="fr-FR"/>
                    </a:p>
                  </a:txBody>
                  <a:tcPr/>
                </a:tc>
                <a:extLst>
                  <a:ext uri="{0D108BD9-81ED-4DB2-BD59-A6C34878D82A}">
                    <a16:rowId xmlns:a16="http://schemas.microsoft.com/office/drawing/2014/main" val="1259848818"/>
                  </a:ext>
                </a:extLst>
              </a:tr>
            </a:tbl>
          </a:graphicData>
        </a:graphic>
      </p:graphicFrame>
      <p:graphicFrame>
        <p:nvGraphicFramePr>
          <p:cNvPr id="8" name="Tableau 7">
            <a:extLst>
              <a:ext uri="{FF2B5EF4-FFF2-40B4-BE49-F238E27FC236}">
                <a16:creationId xmlns:a16="http://schemas.microsoft.com/office/drawing/2014/main" id="{543BAE1C-ACAE-DC01-43DF-24AA6EE7037E}"/>
              </a:ext>
            </a:extLst>
          </p:cNvPr>
          <p:cNvGraphicFramePr>
            <a:graphicFrameLocks noGrp="1"/>
          </p:cNvGraphicFramePr>
          <p:nvPr/>
        </p:nvGraphicFramePr>
        <p:xfrm>
          <a:off x="4826048" y="4981668"/>
          <a:ext cx="2550056" cy="370840"/>
        </p:xfrm>
        <a:graphic>
          <a:graphicData uri="http://schemas.openxmlformats.org/drawingml/2006/table">
            <a:tbl>
              <a:tblPr firstRow="1" bandRow="1">
                <a:tableStyleId>{327F97BB-C833-4FB7-BDE5-3F7075034690}</a:tableStyleId>
              </a:tblPr>
              <a:tblGrid>
                <a:gridCol w="2550056">
                  <a:extLst>
                    <a:ext uri="{9D8B030D-6E8A-4147-A177-3AD203B41FA5}">
                      <a16:colId xmlns:a16="http://schemas.microsoft.com/office/drawing/2014/main" val="413563161"/>
                    </a:ext>
                  </a:extLst>
                </a:gridCol>
              </a:tblGrid>
              <a:tr h="370840">
                <a:tc>
                  <a:txBody>
                    <a:bodyPr/>
                    <a:lstStyle/>
                    <a:p>
                      <a:endParaRPr lang="fr-FR"/>
                    </a:p>
                  </a:txBody>
                  <a:tcPr/>
                </a:tc>
                <a:extLst>
                  <a:ext uri="{0D108BD9-81ED-4DB2-BD59-A6C34878D82A}">
                    <a16:rowId xmlns:a16="http://schemas.microsoft.com/office/drawing/2014/main" val="4289991237"/>
                  </a:ext>
                </a:extLst>
              </a:tr>
            </a:tbl>
          </a:graphicData>
        </a:graphic>
      </p:graphicFrame>
      <p:graphicFrame>
        <p:nvGraphicFramePr>
          <p:cNvPr id="9" name="Tableau 8">
            <a:extLst>
              <a:ext uri="{FF2B5EF4-FFF2-40B4-BE49-F238E27FC236}">
                <a16:creationId xmlns:a16="http://schemas.microsoft.com/office/drawing/2014/main" id="{BB195A35-8F24-00B1-C3AB-F5E18ABF3E70}"/>
              </a:ext>
            </a:extLst>
          </p:cNvPr>
          <p:cNvGraphicFramePr>
            <a:graphicFrameLocks noGrp="1"/>
          </p:cNvGraphicFramePr>
          <p:nvPr/>
        </p:nvGraphicFramePr>
        <p:xfrm>
          <a:off x="2281256" y="4981668"/>
          <a:ext cx="2550056" cy="370840"/>
        </p:xfrm>
        <a:graphic>
          <a:graphicData uri="http://schemas.openxmlformats.org/drawingml/2006/table">
            <a:tbl>
              <a:tblPr firstRow="1" bandRow="1">
                <a:tableStyleId>{69012ECD-51FC-41F1-AA8D-1B2483CD663E}</a:tableStyleId>
              </a:tblPr>
              <a:tblGrid>
                <a:gridCol w="2550056">
                  <a:extLst>
                    <a:ext uri="{9D8B030D-6E8A-4147-A177-3AD203B41FA5}">
                      <a16:colId xmlns:a16="http://schemas.microsoft.com/office/drawing/2014/main" val="2913215545"/>
                    </a:ext>
                  </a:extLst>
                </a:gridCol>
              </a:tblGrid>
              <a:tr h="370840">
                <a:tc>
                  <a:txBody>
                    <a:bodyPr/>
                    <a:lstStyle/>
                    <a:p>
                      <a:endParaRPr lang="fr-FR"/>
                    </a:p>
                  </a:txBody>
                  <a:tcPr/>
                </a:tc>
                <a:extLst>
                  <a:ext uri="{0D108BD9-81ED-4DB2-BD59-A6C34878D82A}">
                    <a16:rowId xmlns:a16="http://schemas.microsoft.com/office/drawing/2014/main" val="2714108553"/>
                  </a:ext>
                </a:extLst>
              </a:tr>
            </a:tbl>
          </a:graphicData>
        </a:graphic>
      </p:graphicFrame>
      <p:graphicFrame>
        <p:nvGraphicFramePr>
          <p:cNvPr id="10" name="Tableau 9">
            <a:extLst>
              <a:ext uri="{FF2B5EF4-FFF2-40B4-BE49-F238E27FC236}">
                <a16:creationId xmlns:a16="http://schemas.microsoft.com/office/drawing/2014/main" id="{948690FB-0668-454E-01FF-3B31A984C255}"/>
              </a:ext>
            </a:extLst>
          </p:cNvPr>
          <p:cNvGraphicFramePr>
            <a:graphicFrameLocks noGrp="1"/>
          </p:cNvGraphicFramePr>
          <p:nvPr/>
        </p:nvGraphicFramePr>
        <p:xfrm>
          <a:off x="-323491" y="4981754"/>
          <a:ext cx="2612373" cy="365760"/>
        </p:xfrm>
        <a:graphic>
          <a:graphicData uri="http://schemas.openxmlformats.org/drawingml/2006/table">
            <a:tbl>
              <a:tblPr firstRow="1" bandRow="1">
                <a:tableStyleId>{5A111915-BE36-4E01-A7E5-04B1672EAD32}</a:tableStyleId>
              </a:tblPr>
              <a:tblGrid>
                <a:gridCol w="2612373">
                  <a:extLst>
                    <a:ext uri="{9D8B030D-6E8A-4147-A177-3AD203B41FA5}">
                      <a16:colId xmlns:a16="http://schemas.microsoft.com/office/drawing/2014/main" val="784039394"/>
                    </a:ext>
                  </a:extLst>
                </a:gridCol>
              </a:tblGrid>
              <a:tr h="137085">
                <a:tc>
                  <a:txBody>
                    <a:bodyPr/>
                    <a:lstStyle/>
                    <a:p>
                      <a:endParaRPr lang="fr-FR"/>
                    </a:p>
                  </a:txBody>
                  <a:tcPr/>
                </a:tc>
                <a:extLst>
                  <a:ext uri="{0D108BD9-81ED-4DB2-BD59-A6C34878D82A}">
                    <a16:rowId xmlns:a16="http://schemas.microsoft.com/office/drawing/2014/main" val="3291483238"/>
                  </a:ext>
                </a:extLst>
              </a:tr>
            </a:tbl>
          </a:graphicData>
        </a:graphic>
      </p:graphicFrame>
      <p:graphicFrame>
        <p:nvGraphicFramePr>
          <p:cNvPr id="2" name="Tableau 1">
            <a:extLst>
              <a:ext uri="{FF2B5EF4-FFF2-40B4-BE49-F238E27FC236}">
                <a16:creationId xmlns:a16="http://schemas.microsoft.com/office/drawing/2014/main" id="{DB198F29-F775-66C1-FB0A-C645CC69223F}"/>
              </a:ext>
            </a:extLst>
          </p:cNvPr>
          <p:cNvGraphicFramePr>
            <a:graphicFrameLocks noGrp="1"/>
          </p:cNvGraphicFramePr>
          <p:nvPr>
            <p:extLst>
              <p:ext uri="{D42A27DB-BD31-4B8C-83A1-F6EECF244321}">
                <p14:modId xmlns:p14="http://schemas.microsoft.com/office/powerpoint/2010/main" val="2019136422"/>
              </p:ext>
            </p:extLst>
          </p:nvPr>
        </p:nvGraphicFramePr>
        <p:xfrm>
          <a:off x="442104" y="1056735"/>
          <a:ext cx="2156339" cy="405027"/>
        </p:xfrm>
        <a:graphic>
          <a:graphicData uri="http://schemas.openxmlformats.org/drawingml/2006/table">
            <a:tbl>
              <a:tblPr firstRow="1" bandRow="1">
                <a:tableStyleId>{7DF18680-E054-41AD-8BC1-D1AEF772440D}</a:tableStyleId>
              </a:tblPr>
              <a:tblGrid>
                <a:gridCol w="2156339">
                  <a:extLst>
                    <a:ext uri="{9D8B030D-6E8A-4147-A177-3AD203B41FA5}">
                      <a16:colId xmlns:a16="http://schemas.microsoft.com/office/drawing/2014/main" val="3315554831"/>
                    </a:ext>
                  </a:extLst>
                </a:gridCol>
              </a:tblGrid>
              <a:tr h="405027">
                <a:tc>
                  <a:txBody>
                    <a:bodyPr/>
                    <a:lstStyle/>
                    <a:p>
                      <a:r>
                        <a:rPr lang="fr-FR" sz="1600"/>
                        <a:t>Utilisateur /Navigateur</a:t>
                      </a:r>
                    </a:p>
                  </a:txBody>
                  <a:tcPr/>
                </a:tc>
                <a:extLst>
                  <a:ext uri="{0D108BD9-81ED-4DB2-BD59-A6C34878D82A}">
                    <a16:rowId xmlns:a16="http://schemas.microsoft.com/office/drawing/2014/main" val="3467685442"/>
                  </a:ext>
                </a:extLst>
              </a:tr>
            </a:tbl>
          </a:graphicData>
        </a:graphic>
      </p:graphicFrame>
      <p:graphicFrame>
        <p:nvGraphicFramePr>
          <p:cNvPr id="3" name="Tableau 2">
            <a:extLst>
              <a:ext uri="{FF2B5EF4-FFF2-40B4-BE49-F238E27FC236}">
                <a16:creationId xmlns:a16="http://schemas.microsoft.com/office/drawing/2014/main" id="{11543E28-5159-D3D5-8724-992D5A888B1C}"/>
              </a:ext>
            </a:extLst>
          </p:cNvPr>
          <p:cNvGraphicFramePr>
            <a:graphicFrameLocks noGrp="1"/>
          </p:cNvGraphicFramePr>
          <p:nvPr>
            <p:extLst>
              <p:ext uri="{D42A27DB-BD31-4B8C-83A1-F6EECF244321}">
                <p14:modId xmlns:p14="http://schemas.microsoft.com/office/powerpoint/2010/main" val="3513398716"/>
              </p:ext>
            </p:extLst>
          </p:nvPr>
        </p:nvGraphicFramePr>
        <p:xfrm>
          <a:off x="4362378" y="1056650"/>
          <a:ext cx="1450004" cy="370840"/>
        </p:xfrm>
        <a:graphic>
          <a:graphicData uri="http://schemas.openxmlformats.org/drawingml/2006/table">
            <a:tbl>
              <a:tblPr firstRow="1" bandRow="1">
                <a:tableStyleId>{08FB837D-C827-4EFA-A057-4D05807E0F7C}</a:tableStyleId>
              </a:tblPr>
              <a:tblGrid>
                <a:gridCol w="1450004">
                  <a:extLst>
                    <a:ext uri="{9D8B030D-6E8A-4147-A177-3AD203B41FA5}">
                      <a16:colId xmlns:a16="http://schemas.microsoft.com/office/drawing/2014/main" val="2378026968"/>
                    </a:ext>
                  </a:extLst>
                </a:gridCol>
              </a:tblGrid>
              <a:tr h="370840">
                <a:tc>
                  <a:txBody>
                    <a:bodyPr/>
                    <a:lstStyle/>
                    <a:p>
                      <a:pPr lvl="0">
                        <a:buNone/>
                      </a:pPr>
                      <a:r>
                        <a:rPr lang="fr-FR" sz="1600"/>
                        <a:t>Serveur web</a:t>
                      </a:r>
                    </a:p>
                  </a:txBody>
                  <a:tcPr>
                    <a:solidFill>
                      <a:schemeClr val="tx1">
                        <a:lumMod val="65000"/>
                        <a:lumOff val="35000"/>
                      </a:schemeClr>
                    </a:solidFill>
                  </a:tcPr>
                </a:tc>
                <a:extLst>
                  <a:ext uri="{0D108BD9-81ED-4DB2-BD59-A6C34878D82A}">
                    <a16:rowId xmlns:a16="http://schemas.microsoft.com/office/drawing/2014/main" val="3221928678"/>
                  </a:ext>
                </a:extLst>
              </a:tr>
            </a:tbl>
          </a:graphicData>
        </a:graphic>
      </p:graphicFrame>
      <p:graphicFrame>
        <p:nvGraphicFramePr>
          <p:cNvPr id="5" name="Tableau 4">
            <a:extLst>
              <a:ext uri="{FF2B5EF4-FFF2-40B4-BE49-F238E27FC236}">
                <a16:creationId xmlns:a16="http://schemas.microsoft.com/office/drawing/2014/main" id="{BC90FB03-EE16-D86D-1D64-800679555D0E}"/>
              </a:ext>
            </a:extLst>
          </p:cNvPr>
          <p:cNvGraphicFramePr>
            <a:graphicFrameLocks noGrp="1"/>
          </p:cNvGraphicFramePr>
          <p:nvPr>
            <p:extLst>
              <p:ext uri="{D42A27DB-BD31-4B8C-83A1-F6EECF244321}">
                <p14:modId xmlns:p14="http://schemas.microsoft.com/office/powerpoint/2010/main" val="2104448812"/>
              </p:ext>
            </p:extLst>
          </p:nvPr>
        </p:nvGraphicFramePr>
        <p:xfrm>
          <a:off x="6098445" y="2145735"/>
          <a:ext cx="2040553" cy="370840"/>
        </p:xfrm>
        <a:graphic>
          <a:graphicData uri="http://schemas.openxmlformats.org/drawingml/2006/table">
            <a:tbl>
              <a:tblPr firstRow="1" bandRow="1">
                <a:tableStyleId>{3C2FFA5D-87B4-456A-9821-1D502468CF0F}</a:tableStyleId>
              </a:tblPr>
              <a:tblGrid>
                <a:gridCol w="2040553">
                  <a:extLst>
                    <a:ext uri="{9D8B030D-6E8A-4147-A177-3AD203B41FA5}">
                      <a16:colId xmlns:a16="http://schemas.microsoft.com/office/drawing/2014/main" val="3222017986"/>
                    </a:ext>
                  </a:extLst>
                </a:gridCol>
              </a:tblGrid>
              <a:tr h="370840">
                <a:tc>
                  <a:txBody>
                    <a:bodyPr/>
                    <a:lstStyle/>
                    <a:p>
                      <a:r>
                        <a:rPr lang="fr-FR" sz="1600" err="1"/>
                        <a:t>Core</a:t>
                      </a:r>
                      <a:r>
                        <a:rPr lang="fr-FR" sz="1600"/>
                        <a:t> Wordpress (</a:t>
                      </a:r>
                      <a:r>
                        <a:rPr lang="fr-FR" sz="1600" err="1"/>
                        <a:t>php</a:t>
                      </a:r>
                      <a:r>
                        <a:rPr lang="fr-FR" sz="1600"/>
                        <a:t>)</a:t>
                      </a:r>
                    </a:p>
                  </a:txBody>
                  <a:tcPr/>
                </a:tc>
                <a:extLst>
                  <a:ext uri="{0D108BD9-81ED-4DB2-BD59-A6C34878D82A}">
                    <a16:rowId xmlns:a16="http://schemas.microsoft.com/office/drawing/2014/main" val="3128725664"/>
                  </a:ext>
                </a:extLst>
              </a:tr>
            </a:tbl>
          </a:graphicData>
        </a:graphic>
      </p:graphicFrame>
      <p:graphicFrame>
        <p:nvGraphicFramePr>
          <p:cNvPr id="11" name="Tableau 10">
            <a:extLst>
              <a:ext uri="{FF2B5EF4-FFF2-40B4-BE49-F238E27FC236}">
                <a16:creationId xmlns:a16="http://schemas.microsoft.com/office/drawing/2014/main" id="{F66D6745-3266-315C-2BB1-036B35EB343D}"/>
              </a:ext>
            </a:extLst>
          </p:cNvPr>
          <p:cNvGraphicFramePr>
            <a:graphicFrameLocks noGrp="1"/>
          </p:cNvGraphicFramePr>
          <p:nvPr>
            <p:extLst>
              <p:ext uri="{D42A27DB-BD31-4B8C-83A1-F6EECF244321}">
                <p14:modId xmlns:p14="http://schemas.microsoft.com/office/powerpoint/2010/main" val="1953216974"/>
              </p:ext>
            </p:extLst>
          </p:nvPr>
        </p:nvGraphicFramePr>
        <p:xfrm>
          <a:off x="5429897" y="3256386"/>
          <a:ext cx="1693195" cy="370840"/>
        </p:xfrm>
        <a:graphic>
          <a:graphicData uri="http://schemas.openxmlformats.org/drawingml/2006/table">
            <a:tbl>
              <a:tblPr firstRow="1" bandRow="1">
                <a:tableStyleId>{35758FB7-9AC5-4552-8A53-C91805E547FA}</a:tableStyleId>
              </a:tblPr>
              <a:tblGrid>
                <a:gridCol w="1693195">
                  <a:extLst>
                    <a:ext uri="{9D8B030D-6E8A-4147-A177-3AD203B41FA5}">
                      <a16:colId xmlns:a16="http://schemas.microsoft.com/office/drawing/2014/main" val="3256965974"/>
                    </a:ext>
                  </a:extLst>
                </a:gridCol>
              </a:tblGrid>
              <a:tr h="370840">
                <a:tc>
                  <a:txBody>
                    <a:bodyPr/>
                    <a:lstStyle/>
                    <a:p>
                      <a:r>
                        <a:rPr lang="fr-FR" sz="1600"/>
                        <a:t>Base de </a:t>
                      </a:r>
                      <a:r>
                        <a:rPr lang="fr-FR" sz="1600" err="1"/>
                        <a:t>donnees</a:t>
                      </a:r>
                      <a:r>
                        <a:rPr lang="fr-FR" sz="1600"/>
                        <a:t> </a:t>
                      </a:r>
                    </a:p>
                  </a:txBody>
                  <a:tcPr/>
                </a:tc>
                <a:extLst>
                  <a:ext uri="{0D108BD9-81ED-4DB2-BD59-A6C34878D82A}">
                    <a16:rowId xmlns:a16="http://schemas.microsoft.com/office/drawing/2014/main" val="2967759629"/>
                  </a:ext>
                </a:extLst>
              </a:tr>
            </a:tbl>
          </a:graphicData>
        </a:graphic>
      </p:graphicFrame>
      <p:graphicFrame>
        <p:nvGraphicFramePr>
          <p:cNvPr id="12" name="Tableau 11">
            <a:extLst>
              <a:ext uri="{FF2B5EF4-FFF2-40B4-BE49-F238E27FC236}">
                <a16:creationId xmlns:a16="http://schemas.microsoft.com/office/drawing/2014/main" id="{040B4B7F-C81F-ABB6-C444-267A663078D3}"/>
              </a:ext>
            </a:extLst>
          </p:cNvPr>
          <p:cNvGraphicFramePr>
            <a:graphicFrameLocks noGrp="1"/>
          </p:cNvGraphicFramePr>
          <p:nvPr>
            <p:extLst>
              <p:ext uri="{D42A27DB-BD31-4B8C-83A1-F6EECF244321}">
                <p14:modId xmlns:p14="http://schemas.microsoft.com/office/powerpoint/2010/main" val="3025000126"/>
              </p:ext>
            </p:extLst>
          </p:nvPr>
        </p:nvGraphicFramePr>
        <p:xfrm>
          <a:off x="7575718" y="3256386"/>
          <a:ext cx="847914" cy="370840"/>
        </p:xfrm>
        <a:graphic>
          <a:graphicData uri="http://schemas.openxmlformats.org/drawingml/2006/table">
            <a:tbl>
              <a:tblPr firstRow="1" bandRow="1">
                <a:tableStyleId>{69C7853C-536D-4A76-A0AE-DD22124D55A5}</a:tableStyleId>
              </a:tblPr>
              <a:tblGrid>
                <a:gridCol w="847914">
                  <a:extLst>
                    <a:ext uri="{9D8B030D-6E8A-4147-A177-3AD203B41FA5}">
                      <a16:colId xmlns:a16="http://schemas.microsoft.com/office/drawing/2014/main" val="1001014287"/>
                    </a:ext>
                  </a:extLst>
                </a:gridCol>
              </a:tblGrid>
              <a:tr h="370840">
                <a:tc>
                  <a:txBody>
                    <a:bodyPr/>
                    <a:lstStyle/>
                    <a:p>
                      <a:r>
                        <a:rPr lang="fr-FR" sz="1600" err="1"/>
                        <a:t>Hooks</a:t>
                      </a:r>
                    </a:p>
                  </a:txBody>
                  <a:tcPr/>
                </a:tc>
                <a:extLst>
                  <a:ext uri="{0D108BD9-81ED-4DB2-BD59-A6C34878D82A}">
                    <a16:rowId xmlns:a16="http://schemas.microsoft.com/office/drawing/2014/main" val="2217463875"/>
                  </a:ext>
                </a:extLst>
              </a:tr>
            </a:tbl>
          </a:graphicData>
        </a:graphic>
      </p:graphicFrame>
      <p:graphicFrame>
        <p:nvGraphicFramePr>
          <p:cNvPr id="13" name="Tableau 12">
            <a:extLst>
              <a:ext uri="{FF2B5EF4-FFF2-40B4-BE49-F238E27FC236}">
                <a16:creationId xmlns:a16="http://schemas.microsoft.com/office/drawing/2014/main" id="{92F005FD-3BD1-1A16-87B8-EC90C3730194}"/>
              </a:ext>
            </a:extLst>
          </p:cNvPr>
          <p:cNvGraphicFramePr>
            <a:graphicFrameLocks noGrp="1"/>
          </p:cNvGraphicFramePr>
          <p:nvPr>
            <p:extLst>
              <p:ext uri="{D42A27DB-BD31-4B8C-83A1-F6EECF244321}">
                <p14:modId xmlns:p14="http://schemas.microsoft.com/office/powerpoint/2010/main" val="3680422454"/>
              </p:ext>
            </p:extLst>
          </p:nvPr>
        </p:nvGraphicFramePr>
        <p:xfrm>
          <a:off x="3197812" y="4248423"/>
          <a:ext cx="1901621" cy="370840"/>
        </p:xfrm>
        <a:graphic>
          <a:graphicData uri="http://schemas.openxmlformats.org/drawingml/2006/table">
            <a:tbl>
              <a:tblPr firstRow="1" bandRow="1">
                <a:tableStyleId>{D7AC3CCA-C797-4891-BE02-D94E43425B78}</a:tableStyleId>
              </a:tblPr>
              <a:tblGrid>
                <a:gridCol w="1901621">
                  <a:extLst>
                    <a:ext uri="{9D8B030D-6E8A-4147-A177-3AD203B41FA5}">
                      <a16:colId xmlns:a16="http://schemas.microsoft.com/office/drawing/2014/main" val="945342394"/>
                    </a:ext>
                  </a:extLst>
                </a:gridCol>
              </a:tblGrid>
              <a:tr h="370840">
                <a:tc>
                  <a:txBody>
                    <a:bodyPr/>
                    <a:lstStyle/>
                    <a:p>
                      <a:r>
                        <a:rPr lang="fr-FR" sz="1600" err="1">
                          <a:solidFill>
                            <a:schemeClr val="bg1"/>
                          </a:solidFill>
                        </a:rPr>
                        <a:t>Theme</a:t>
                      </a:r>
                      <a:r>
                        <a:rPr lang="fr-FR" sz="1600">
                          <a:solidFill>
                            <a:schemeClr val="bg1"/>
                          </a:solidFill>
                        </a:rPr>
                        <a:t> ( Frontend)</a:t>
                      </a:r>
                    </a:p>
                  </a:txBody>
                  <a:tcPr>
                    <a:solidFill>
                      <a:schemeClr val="bg1">
                        <a:lumMod val="50000"/>
                      </a:schemeClr>
                    </a:solidFill>
                  </a:tcPr>
                </a:tc>
                <a:extLst>
                  <a:ext uri="{0D108BD9-81ED-4DB2-BD59-A6C34878D82A}">
                    <a16:rowId xmlns:a16="http://schemas.microsoft.com/office/drawing/2014/main" val="1947969319"/>
                  </a:ext>
                </a:extLst>
              </a:tr>
            </a:tbl>
          </a:graphicData>
        </a:graphic>
      </p:graphicFrame>
      <p:graphicFrame>
        <p:nvGraphicFramePr>
          <p:cNvPr id="14" name="Tableau 13">
            <a:extLst>
              <a:ext uri="{FF2B5EF4-FFF2-40B4-BE49-F238E27FC236}">
                <a16:creationId xmlns:a16="http://schemas.microsoft.com/office/drawing/2014/main" id="{A7966331-E649-797E-ABDE-0D866483BF73}"/>
              </a:ext>
            </a:extLst>
          </p:cNvPr>
          <p:cNvGraphicFramePr>
            <a:graphicFrameLocks noGrp="1"/>
          </p:cNvGraphicFramePr>
          <p:nvPr>
            <p:extLst>
              <p:ext uri="{D42A27DB-BD31-4B8C-83A1-F6EECF244321}">
                <p14:modId xmlns:p14="http://schemas.microsoft.com/office/powerpoint/2010/main" val="4229300518"/>
              </p:ext>
            </p:extLst>
          </p:nvPr>
        </p:nvGraphicFramePr>
        <p:xfrm>
          <a:off x="437359" y="2577055"/>
          <a:ext cx="2237419" cy="370840"/>
        </p:xfrm>
        <a:graphic>
          <a:graphicData uri="http://schemas.openxmlformats.org/drawingml/2006/table">
            <a:tbl>
              <a:tblPr firstRow="1" bandRow="1">
                <a:tableStyleId>{5C22544A-7EE6-4342-B048-85BDC9FD1C3A}</a:tableStyleId>
              </a:tblPr>
              <a:tblGrid>
                <a:gridCol w="2237419">
                  <a:extLst>
                    <a:ext uri="{9D8B030D-6E8A-4147-A177-3AD203B41FA5}">
                      <a16:colId xmlns:a16="http://schemas.microsoft.com/office/drawing/2014/main" val="1641873061"/>
                    </a:ext>
                  </a:extLst>
                </a:gridCol>
              </a:tblGrid>
              <a:tr h="370840">
                <a:tc>
                  <a:txBody>
                    <a:bodyPr/>
                    <a:lstStyle/>
                    <a:p>
                      <a:r>
                        <a:rPr lang="fr-FR" sz="1600"/>
                        <a:t>Affichage de navigateur </a:t>
                      </a:r>
                    </a:p>
                  </a:txBody>
                  <a:tcPr/>
                </a:tc>
                <a:extLst>
                  <a:ext uri="{0D108BD9-81ED-4DB2-BD59-A6C34878D82A}">
                    <a16:rowId xmlns:a16="http://schemas.microsoft.com/office/drawing/2014/main" val="2066596710"/>
                  </a:ext>
                </a:extLst>
              </a:tr>
            </a:tbl>
          </a:graphicData>
        </a:graphic>
      </p:graphicFrame>
      <p:sp>
        <p:nvSpPr>
          <p:cNvPr id="15" name="ZoneTexte 14">
            <a:extLst>
              <a:ext uri="{FF2B5EF4-FFF2-40B4-BE49-F238E27FC236}">
                <a16:creationId xmlns:a16="http://schemas.microsoft.com/office/drawing/2014/main" id="{DA287D49-67C9-C5B3-6B52-417F06B40D59}"/>
              </a:ext>
            </a:extLst>
          </p:cNvPr>
          <p:cNvSpPr txBox="1"/>
          <p:nvPr/>
        </p:nvSpPr>
        <p:spPr>
          <a:xfrm>
            <a:off x="2594591" y="1081227"/>
            <a:ext cx="215960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a:ea typeface="Calibri"/>
                <a:cs typeface="Calibri"/>
              </a:rPr>
              <a:t>---- Requête HTTP---&gt;</a:t>
            </a:r>
            <a:endParaRPr lang="fr-FR" sz="1500"/>
          </a:p>
        </p:txBody>
      </p:sp>
      <p:sp>
        <p:nvSpPr>
          <p:cNvPr id="17" name="ZoneTexte 16">
            <a:extLst>
              <a:ext uri="{FF2B5EF4-FFF2-40B4-BE49-F238E27FC236}">
                <a16:creationId xmlns:a16="http://schemas.microsoft.com/office/drawing/2014/main" id="{727B7973-5009-7234-9D21-D22875CCB7F5}"/>
              </a:ext>
            </a:extLst>
          </p:cNvPr>
          <p:cNvSpPr txBox="1"/>
          <p:nvPr/>
        </p:nvSpPr>
        <p:spPr>
          <a:xfrm rot="2580000">
            <a:off x="5409621" y="1677009"/>
            <a:ext cx="13676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----------&gt;</a:t>
            </a:r>
            <a:endParaRPr lang="fr-FR"/>
          </a:p>
        </p:txBody>
      </p:sp>
      <p:sp>
        <p:nvSpPr>
          <p:cNvPr id="18" name="ZoneTexte 17">
            <a:extLst>
              <a:ext uri="{FF2B5EF4-FFF2-40B4-BE49-F238E27FC236}">
                <a16:creationId xmlns:a16="http://schemas.microsoft.com/office/drawing/2014/main" id="{333C9E06-14F7-37EF-64DE-8F602E670128}"/>
              </a:ext>
            </a:extLst>
          </p:cNvPr>
          <p:cNvSpPr txBox="1"/>
          <p:nvPr/>
        </p:nvSpPr>
        <p:spPr>
          <a:xfrm rot="5400000">
            <a:off x="5822167" y="2932091"/>
            <a:ext cx="12864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--------&gt;</a:t>
            </a:r>
            <a:endParaRPr lang="fr-FR"/>
          </a:p>
        </p:txBody>
      </p:sp>
      <p:sp>
        <p:nvSpPr>
          <p:cNvPr id="19" name="ZoneTexte 18">
            <a:extLst>
              <a:ext uri="{FF2B5EF4-FFF2-40B4-BE49-F238E27FC236}">
                <a16:creationId xmlns:a16="http://schemas.microsoft.com/office/drawing/2014/main" id="{D32FAC89-C349-9F28-B380-27617B2D2F14}"/>
              </a:ext>
            </a:extLst>
          </p:cNvPr>
          <p:cNvSpPr txBox="1"/>
          <p:nvPr/>
        </p:nvSpPr>
        <p:spPr>
          <a:xfrm rot="5400000">
            <a:off x="7300390" y="2941773"/>
            <a:ext cx="13096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--------&gt;</a:t>
            </a:r>
          </a:p>
        </p:txBody>
      </p:sp>
      <p:sp>
        <p:nvSpPr>
          <p:cNvPr id="20" name="ZoneTexte 19">
            <a:extLst>
              <a:ext uri="{FF2B5EF4-FFF2-40B4-BE49-F238E27FC236}">
                <a16:creationId xmlns:a16="http://schemas.microsoft.com/office/drawing/2014/main" id="{0BAF4365-0F56-6C27-D883-9FE87F5EFF87}"/>
              </a:ext>
            </a:extLst>
          </p:cNvPr>
          <p:cNvSpPr txBox="1"/>
          <p:nvPr/>
        </p:nvSpPr>
        <p:spPr>
          <a:xfrm rot="9420000">
            <a:off x="4655911" y="3906152"/>
            <a:ext cx="1854377" cy="370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ea typeface="Calibri"/>
                <a:cs typeface="Calibri"/>
              </a:rPr>
              <a:t>---------------&gt;</a:t>
            </a:r>
            <a:endParaRPr lang="fr-FR"/>
          </a:p>
        </p:txBody>
      </p:sp>
      <p:sp>
        <p:nvSpPr>
          <p:cNvPr id="21" name="ZoneTexte 20">
            <a:extLst>
              <a:ext uri="{FF2B5EF4-FFF2-40B4-BE49-F238E27FC236}">
                <a16:creationId xmlns:a16="http://schemas.microsoft.com/office/drawing/2014/main" id="{8F07708C-D113-316B-BA95-E2D7F582DE42}"/>
              </a:ext>
            </a:extLst>
          </p:cNvPr>
          <p:cNvSpPr txBox="1"/>
          <p:nvPr/>
        </p:nvSpPr>
        <p:spPr>
          <a:xfrm rot="13380000">
            <a:off x="254019" y="2737258"/>
            <a:ext cx="36486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ea typeface="Calibri"/>
                <a:cs typeface="Calibri"/>
              </a:rPr>
              <a:t>-----------       ------&gt;        </a:t>
            </a:r>
            <a:endParaRPr lang="fr-FR"/>
          </a:p>
        </p:txBody>
      </p:sp>
      <p:sp>
        <p:nvSpPr>
          <p:cNvPr id="22" name="ZoneTexte 21">
            <a:extLst>
              <a:ext uri="{FF2B5EF4-FFF2-40B4-BE49-F238E27FC236}">
                <a16:creationId xmlns:a16="http://schemas.microsoft.com/office/drawing/2014/main" id="{59105292-5450-2903-198D-93E40FC2B979}"/>
              </a:ext>
            </a:extLst>
          </p:cNvPr>
          <p:cNvSpPr txBox="1"/>
          <p:nvPr/>
        </p:nvSpPr>
        <p:spPr>
          <a:xfrm>
            <a:off x="1761357" y="3260936"/>
            <a:ext cx="184278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a:ea typeface="Calibri"/>
                <a:cs typeface="Calibri"/>
              </a:rPr>
              <a:t>HTML + CSS + JS</a:t>
            </a:r>
          </a:p>
        </p:txBody>
      </p:sp>
      <p:sp>
        <p:nvSpPr>
          <p:cNvPr id="16" name="Rectangle 15">
            <a:extLst>
              <a:ext uri="{FF2B5EF4-FFF2-40B4-BE49-F238E27FC236}">
                <a16:creationId xmlns:a16="http://schemas.microsoft.com/office/drawing/2014/main" id="{B8E30AA8-F928-1E67-0941-D2CAFBA50969}"/>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24" name="ZoneTexte 23">
            <a:extLst>
              <a:ext uri="{FF2B5EF4-FFF2-40B4-BE49-F238E27FC236}">
                <a16:creationId xmlns:a16="http://schemas.microsoft.com/office/drawing/2014/main" id="{5D350BF1-9D7B-49A8-7851-F522845AD23D}"/>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13</a:t>
            </a:r>
          </a:p>
        </p:txBody>
      </p:sp>
    </p:spTree>
    <p:extLst>
      <p:ext uri="{BB962C8B-B14F-4D97-AF65-F5344CB8AC3E}">
        <p14:creationId xmlns:p14="http://schemas.microsoft.com/office/powerpoint/2010/main" val="244301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8576697-2D70-1F72-6231-E9C003CC6E79}"/>
              </a:ext>
            </a:extLst>
          </p:cNvPr>
          <p:cNvSpPr txBox="1"/>
          <p:nvPr/>
        </p:nvSpPr>
        <p:spPr>
          <a:xfrm>
            <a:off x="542710" y="499578"/>
            <a:ext cx="579696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u="sng">
                <a:solidFill>
                  <a:schemeClr val="accent1"/>
                </a:solidFill>
                <a:latin typeface="Bookman Old Style"/>
                <a:ea typeface="+mn-lt"/>
                <a:cs typeface="+mn-lt"/>
              </a:rPr>
              <a:t>Gestion des utilisateurs et des droits : </a:t>
            </a:r>
            <a:endParaRPr lang="fr-FR" sz="2000" b="1" u="sng">
              <a:solidFill>
                <a:schemeClr val="accent1"/>
              </a:solidFill>
              <a:latin typeface="Bookman Old Style"/>
            </a:endParaRPr>
          </a:p>
        </p:txBody>
      </p:sp>
      <p:sp>
        <p:nvSpPr>
          <p:cNvPr id="7" name="ZoneTexte 6">
            <a:extLst>
              <a:ext uri="{FF2B5EF4-FFF2-40B4-BE49-F238E27FC236}">
                <a16:creationId xmlns:a16="http://schemas.microsoft.com/office/drawing/2014/main" id="{F171B667-79D3-E464-2E16-20DB9DD8ED96}"/>
              </a:ext>
            </a:extLst>
          </p:cNvPr>
          <p:cNvSpPr txBox="1"/>
          <p:nvPr/>
        </p:nvSpPr>
        <p:spPr>
          <a:xfrm>
            <a:off x="355789" y="1005000"/>
            <a:ext cx="87851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ea typeface="Calibri"/>
                <a:cs typeface="Calibri"/>
              </a:rPr>
              <a:t>" </a:t>
            </a:r>
            <a:r>
              <a:rPr lang="en-US">
                <a:ea typeface="+mn-lt"/>
                <a:cs typeface="+mn-lt"/>
              </a:rPr>
              <a:t>WordPress </a:t>
            </a:r>
            <a:r>
              <a:rPr lang="en-US" err="1">
                <a:ea typeface="+mn-lt"/>
                <a:cs typeface="+mn-lt"/>
              </a:rPr>
              <a:t>intègre</a:t>
            </a:r>
            <a:r>
              <a:rPr lang="en-US">
                <a:ea typeface="+mn-lt"/>
                <a:cs typeface="+mn-lt"/>
              </a:rPr>
              <a:t> un </a:t>
            </a:r>
            <a:r>
              <a:rPr lang="en-US" err="1">
                <a:ea typeface="+mn-lt"/>
                <a:cs typeface="+mn-lt"/>
              </a:rPr>
              <a:t>système</a:t>
            </a:r>
            <a:r>
              <a:rPr lang="en-US">
                <a:ea typeface="+mn-lt"/>
                <a:cs typeface="+mn-lt"/>
              </a:rPr>
              <a:t> de </a:t>
            </a:r>
            <a:r>
              <a:rPr lang="en-US" err="1">
                <a:ea typeface="+mn-lt"/>
                <a:cs typeface="+mn-lt"/>
              </a:rPr>
              <a:t>rôles</a:t>
            </a:r>
            <a:r>
              <a:rPr lang="en-US">
                <a:ea typeface="+mn-lt"/>
                <a:cs typeface="+mn-lt"/>
              </a:rPr>
              <a:t> qui </a:t>
            </a:r>
            <a:r>
              <a:rPr lang="en-US" err="1">
                <a:ea typeface="+mn-lt"/>
                <a:cs typeface="+mn-lt"/>
              </a:rPr>
              <a:t>contrôle</a:t>
            </a:r>
            <a:r>
              <a:rPr lang="en-US">
                <a:ea typeface="+mn-lt"/>
                <a:cs typeface="+mn-lt"/>
              </a:rPr>
              <a:t> </a:t>
            </a:r>
            <a:r>
              <a:rPr lang="en-US" err="1">
                <a:ea typeface="+mn-lt"/>
                <a:cs typeface="+mn-lt"/>
              </a:rPr>
              <a:t>ce</a:t>
            </a:r>
            <a:r>
              <a:rPr lang="en-US">
                <a:ea typeface="+mn-lt"/>
                <a:cs typeface="+mn-lt"/>
              </a:rPr>
              <a:t> </a:t>
            </a:r>
            <a:r>
              <a:rPr lang="en-US" err="1">
                <a:ea typeface="+mn-lt"/>
                <a:cs typeface="+mn-lt"/>
              </a:rPr>
              <a:t>que</a:t>
            </a:r>
            <a:r>
              <a:rPr lang="en-US">
                <a:ea typeface="+mn-lt"/>
                <a:cs typeface="+mn-lt"/>
              </a:rPr>
              <a:t> </a:t>
            </a:r>
            <a:r>
              <a:rPr lang="en-US" err="1">
                <a:ea typeface="+mn-lt"/>
                <a:cs typeface="+mn-lt"/>
              </a:rPr>
              <a:t>chaque</a:t>
            </a:r>
            <a:r>
              <a:rPr lang="en-US">
                <a:ea typeface="+mn-lt"/>
                <a:cs typeface="+mn-lt"/>
              </a:rPr>
              <a:t> </a:t>
            </a:r>
            <a:r>
              <a:rPr lang="en-US" err="1">
                <a:ea typeface="+mn-lt"/>
                <a:cs typeface="+mn-lt"/>
              </a:rPr>
              <a:t>utilisateur</a:t>
            </a:r>
            <a:r>
              <a:rPr lang="en-US">
                <a:ea typeface="+mn-lt"/>
                <a:cs typeface="+mn-lt"/>
              </a:rPr>
              <a:t> </a:t>
            </a:r>
            <a:r>
              <a:rPr lang="en-US" err="1">
                <a:ea typeface="+mn-lt"/>
                <a:cs typeface="+mn-lt"/>
              </a:rPr>
              <a:t>peut</a:t>
            </a:r>
            <a:r>
              <a:rPr lang="en-US">
                <a:ea typeface="+mn-lt"/>
                <a:cs typeface="+mn-lt"/>
              </a:rPr>
              <a:t> faire</a:t>
            </a:r>
            <a:r>
              <a:rPr lang="en-US" i="1">
                <a:ea typeface="Calibri"/>
                <a:cs typeface="Calibri"/>
              </a:rPr>
              <a:t>"</a:t>
            </a:r>
            <a:endParaRPr lang="fr-FR">
              <a:ea typeface="Calibri"/>
              <a:cs typeface="Calibri"/>
            </a:endParaRPr>
          </a:p>
        </p:txBody>
      </p:sp>
      <p:graphicFrame>
        <p:nvGraphicFramePr>
          <p:cNvPr id="8" name="Tableau 7">
            <a:extLst>
              <a:ext uri="{FF2B5EF4-FFF2-40B4-BE49-F238E27FC236}">
                <a16:creationId xmlns:a16="http://schemas.microsoft.com/office/drawing/2014/main" id="{88AD3E2E-0586-2D97-CCC3-5792EF0785A1}"/>
              </a:ext>
            </a:extLst>
          </p:cNvPr>
          <p:cNvGraphicFramePr>
            <a:graphicFrameLocks noGrp="1"/>
          </p:cNvGraphicFramePr>
          <p:nvPr>
            <p:extLst>
              <p:ext uri="{D42A27DB-BD31-4B8C-83A1-F6EECF244321}">
                <p14:modId xmlns:p14="http://schemas.microsoft.com/office/powerpoint/2010/main" val="4256657947"/>
              </p:ext>
            </p:extLst>
          </p:nvPr>
        </p:nvGraphicFramePr>
        <p:xfrm>
          <a:off x="485235" y="1951726"/>
          <a:ext cx="8104610" cy="2752852"/>
        </p:xfrm>
        <a:graphic>
          <a:graphicData uri="http://schemas.openxmlformats.org/drawingml/2006/table">
            <a:tbl>
              <a:tblPr firstRow="1" bandRow="1">
                <a:tableStyleId>{5FD0F851-EC5A-4D38-B0AD-8093EC10F338}</a:tableStyleId>
              </a:tblPr>
              <a:tblGrid>
                <a:gridCol w="2738081">
                  <a:extLst>
                    <a:ext uri="{9D8B030D-6E8A-4147-A177-3AD203B41FA5}">
                      <a16:colId xmlns:a16="http://schemas.microsoft.com/office/drawing/2014/main" val="485883039"/>
                    </a:ext>
                  </a:extLst>
                </a:gridCol>
                <a:gridCol w="5366529">
                  <a:extLst>
                    <a:ext uri="{9D8B030D-6E8A-4147-A177-3AD203B41FA5}">
                      <a16:colId xmlns:a16="http://schemas.microsoft.com/office/drawing/2014/main" val="160269571"/>
                    </a:ext>
                  </a:extLst>
                </a:gridCol>
              </a:tblGrid>
              <a:tr h="461007">
                <a:tc>
                  <a:txBody>
                    <a:bodyPr/>
                    <a:lstStyle/>
                    <a:p>
                      <a:r>
                        <a:rPr lang="fr-FR">
                          <a:solidFill>
                            <a:schemeClr val="accent2">
                              <a:lumMod val="49000"/>
                            </a:schemeClr>
                          </a:solidFill>
                        </a:rPr>
                        <a:t>ROLE</a:t>
                      </a:r>
                    </a:p>
                  </a:txBody>
                  <a:tcPr/>
                </a:tc>
                <a:tc>
                  <a:txBody>
                    <a:bodyPr/>
                    <a:lstStyle/>
                    <a:p>
                      <a:pPr lvl="0">
                        <a:buNone/>
                      </a:pPr>
                      <a:r>
                        <a:rPr lang="fr-FR" sz="1800" b="1" i="0" u="none" strike="noStrike" noProof="0">
                          <a:solidFill>
                            <a:schemeClr val="accent2">
                              <a:lumMod val="49000"/>
                            </a:schemeClr>
                          </a:solidFill>
                          <a:latin typeface="Calibri"/>
                          <a:ea typeface="Calibri"/>
                          <a:cs typeface="Calibri"/>
                        </a:rPr>
                        <a:t>Ce qu'il peut faire</a:t>
                      </a:r>
                      <a:endParaRPr lang="fr-FR" b="1">
                        <a:solidFill>
                          <a:schemeClr val="accent2">
                            <a:lumMod val="49000"/>
                          </a:schemeClr>
                        </a:solidFill>
                      </a:endParaRPr>
                    </a:p>
                  </a:txBody>
                  <a:tcPr/>
                </a:tc>
                <a:extLst>
                  <a:ext uri="{0D108BD9-81ED-4DB2-BD59-A6C34878D82A}">
                    <a16:rowId xmlns:a16="http://schemas.microsoft.com/office/drawing/2014/main" val="563488376"/>
                  </a:ext>
                </a:extLst>
              </a:tr>
              <a:tr h="461007">
                <a:tc>
                  <a:txBody>
                    <a:bodyPr/>
                    <a:lstStyle/>
                    <a:p>
                      <a:pPr lvl="0">
                        <a:buNone/>
                      </a:pPr>
                      <a:r>
                        <a:rPr lang="fr-FR" sz="1800" b="0" i="0" u="none" strike="noStrike" noProof="0">
                          <a:latin typeface="Calibri"/>
                          <a:ea typeface="Calibri"/>
                          <a:cs typeface="Calibri"/>
                        </a:rPr>
                        <a:t>Administrateur</a:t>
                      </a:r>
                      <a:endParaRPr lang="fr-FR"/>
                    </a:p>
                  </a:txBody>
                  <a:tcPr/>
                </a:tc>
                <a:tc>
                  <a:txBody>
                    <a:bodyPr/>
                    <a:lstStyle/>
                    <a:p>
                      <a:pPr lvl="0">
                        <a:buNone/>
                      </a:pPr>
                      <a:r>
                        <a:rPr lang="fr-FR" sz="1800" b="0" i="0" u="none" strike="noStrike" noProof="0">
                          <a:latin typeface="Calibri"/>
                          <a:ea typeface="Calibri"/>
                          <a:cs typeface="Calibri"/>
                        </a:rPr>
                        <a:t>Tout (thèmes, plugins, utilisateurs)</a:t>
                      </a:r>
                      <a:endParaRPr lang="fr-FR"/>
                    </a:p>
                  </a:txBody>
                  <a:tcPr/>
                </a:tc>
                <a:extLst>
                  <a:ext uri="{0D108BD9-81ED-4DB2-BD59-A6C34878D82A}">
                    <a16:rowId xmlns:a16="http://schemas.microsoft.com/office/drawing/2014/main" val="2987905525"/>
                  </a:ext>
                </a:extLst>
              </a:tr>
              <a:tr h="447817">
                <a:tc>
                  <a:txBody>
                    <a:bodyPr/>
                    <a:lstStyle/>
                    <a:p>
                      <a:pPr lvl="0">
                        <a:buNone/>
                      </a:pPr>
                      <a:r>
                        <a:rPr lang="fr-FR" sz="1800" b="0" i="0" u="none" strike="noStrike" noProof="0">
                          <a:latin typeface="Calibri"/>
                          <a:ea typeface="Calibri"/>
                          <a:cs typeface="Calibri"/>
                        </a:rPr>
                        <a:t>Éditeur</a:t>
                      </a:r>
                      <a:endParaRPr lang="fr-FR"/>
                    </a:p>
                  </a:txBody>
                  <a:tcPr/>
                </a:tc>
                <a:tc>
                  <a:txBody>
                    <a:bodyPr/>
                    <a:lstStyle/>
                    <a:p>
                      <a:pPr lvl="0">
                        <a:buNone/>
                      </a:pPr>
                      <a:r>
                        <a:rPr lang="fr-FR" sz="1800" b="0" i="0" u="none" strike="noStrike" noProof="0">
                          <a:latin typeface="Calibri"/>
                          <a:ea typeface="Calibri"/>
                          <a:cs typeface="Calibri"/>
                        </a:rPr>
                        <a:t>Publier et gérer tous les articles</a:t>
                      </a:r>
                      <a:endParaRPr lang="fr-FR"/>
                    </a:p>
                  </a:txBody>
                  <a:tcPr/>
                </a:tc>
                <a:extLst>
                  <a:ext uri="{0D108BD9-81ED-4DB2-BD59-A6C34878D82A}">
                    <a16:rowId xmlns:a16="http://schemas.microsoft.com/office/drawing/2014/main" val="2713259197"/>
                  </a:ext>
                </a:extLst>
              </a:tr>
              <a:tr h="461007">
                <a:tc>
                  <a:txBody>
                    <a:bodyPr/>
                    <a:lstStyle/>
                    <a:p>
                      <a:pPr lvl="0">
                        <a:buNone/>
                      </a:pPr>
                      <a:r>
                        <a:rPr lang="fr-FR" sz="1800" b="0" i="0" u="none" strike="noStrike" noProof="0">
                          <a:latin typeface="Calibri"/>
                          <a:ea typeface="Calibri"/>
                          <a:cs typeface="Calibri"/>
                        </a:rPr>
                        <a:t>Auteur</a:t>
                      </a:r>
                      <a:endParaRPr lang="fr-FR"/>
                    </a:p>
                  </a:txBody>
                  <a:tcPr/>
                </a:tc>
                <a:tc>
                  <a:txBody>
                    <a:bodyPr/>
                    <a:lstStyle/>
                    <a:p>
                      <a:pPr lvl="0">
                        <a:buNone/>
                      </a:pPr>
                      <a:r>
                        <a:rPr lang="fr-FR" sz="1800" b="0" i="0" u="none" strike="noStrike" noProof="0">
                          <a:latin typeface="Calibri"/>
                          <a:ea typeface="Calibri"/>
                          <a:cs typeface="Calibri"/>
                        </a:rPr>
                        <a:t>Publier ses propres articles uniquement</a:t>
                      </a:r>
                      <a:endParaRPr lang="fr-FR"/>
                    </a:p>
                  </a:txBody>
                  <a:tcPr/>
                </a:tc>
                <a:extLst>
                  <a:ext uri="{0D108BD9-81ED-4DB2-BD59-A6C34878D82A}">
                    <a16:rowId xmlns:a16="http://schemas.microsoft.com/office/drawing/2014/main" val="2112518057"/>
                  </a:ext>
                </a:extLst>
              </a:tr>
              <a:tr h="461007">
                <a:tc>
                  <a:txBody>
                    <a:bodyPr/>
                    <a:lstStyle/>
                    <a:p>
                      <a:pPr lvl="0">
                        <a:buNone/>
                      </a:pPr>
                      <a:r>
                        <a:rPr lang="fr-FR" sz="1800" b="0" i="0" u="none" strike="noStrike" noProof="0">
                          <a:latin typeface="Calibri"/>
                          <a:ea typeface="Calibri"/>
                          <a:cs typeface="Calibri"/>
                        </a:rPr>
                        <a:t>Contributeur</a:t>
                      </a:r>
                      <a:endParaRPr lang="fr-FR"/>
                    </a:p>
                  </a:txBody>
                  <a:tcPr/>
                </a:tc>
                <a:tc>
                  <a:txBody>
                    <a:bodyPr/>
                    <a:lstStyle/>
                    <a:p>
                      <a:pPr lvl="0">
                        <a:buNone/>
                      </a:pPr>
                      <a:r>
                        <a:rPr lang="fr-FR" sz="1800" b="0" i="0" u="none" strike="noStrike" noProof="0">
                          <a:latin typeface="Calibri"/>
                          <a:ea typeface="Calibri"/>
                          <a:cs typeface="Calibri"/>
                        </a:rPr>
                        <a:t>Écrire mais pas publier</a:t>
                      </a:r>
                      <a:endParaRPr lang="fr-FR"/>
                    </a:p>
                  </a:txBody>
                  <a:tcPr/>
                </a:tc>
                <a:extLst>
                  <a:ext uri="{0D108BD9-81ED-4DB2-BD59-A6C34878D82A}">
                    <a16:rowId xmlns:a16="http://schemas.microsoft.com/office/drawing/2014/main" val="3598942575"/>
                  </a:ext>
                </a:extLst>
              </a:tr>
              <a:tr h="461007">
                <a:tc>
                  <a:txBody>
                    <a:bodyPr/>
                    <a:lstStyle/>
                    <a:p>
                      <a:pPr lvl="0">
                        <a:buNone/>
                      </a:pPr>
                      <a:r>
                        <a:rPr lang="fr-FR" sz="1800" b="0" i="0" u="none" strike="noStrike" noProof="0">
                          <a:latin typeface="Calibri"/>
                          <a:ea typeface="Calibri"/>
                          <a:cs typeface="Calibri"/>
                        </a:rPr>
                        <a:t>Abonné</a:t>
                      </a:r>
                      <a:endParaRPr lang="fr-FR"/>
                    </a:p>
                  </a:txBody>
                  <a:tcPr/>
                </a:tc>
                <a:tc>
                  <a:txBody>
                    <a:bodyPr/>
                    <a:lstStyle/>
                    <a:p>
                      <a:pPr lvl="0">
                        <a:buNone/>
                      </a:pPr>
                      <a:r>
                        <a:rPr lang="fr-FR" sz="1800" b="0" i="0" u="none" strike="noStrike" noProof="0">
                          <a:latin typeface="Calibri"/>
                          <a:ea typeface="Calibri"/>
                          <a:cs typeface="Calibri"/>
                        </a:rPr>
                        <a:t>Lire le contenu, gérer son profil</a:t>
                      </a:r>
                      <a:endParaRPr lang="fr-FR"/>
                    </a:p>
                  </a:txBody>
                  <a:tcPr/>
                </a:tc>
                <a:extLst>
                  <a:ext uri="{0D108BD9-81ED-4DB2-BD59-A6C34878D82A}">
                    <a16:rowId xmlns:a16="http://schemas.microsoft.com/office/drawing/2014/main" val="1276803414"/>
                  </a:ext>
                </a:extLst>
              </a:tr>
            </a:tbl>
          </a:graphicData>
        </a:graphic>
      </p:graphicFrame>
      <p:sp>
        <p:nvSpPr>
          <p:cNvPr id="9" name="ZoneTexte 8">
            <a:extLst>
              <a:ext uri="{FF2B5EF4-FFF2-40B4-BE49-F238E27FC236}">
                <a16:creationId xmlns:a16="http://schemas.microsoft.com/office/drawing/2014/main" id="{16F60821-C96B-D8E0-F2EC-CD85F332678B}"/>
              </a:ext>
            </a:extLst>
          </p:cNvPr>
          <p:cNvSpPr txBox="1"/>
          <p:nvPr/>
        </p:nvSpPr>
        <p:spPr>
          <a:xfrm>
            <a:off x="676144" y="1469096"/>
            <a:ext cx="3859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ea typeface="Calibri"/>
                <a:cs typeface="Calibri"/>
              </a:rPr>
              <a:t>Il y a</a:t>
            </a:r>
            <a:r>
              <a:rPr lang="fr-FR" b="1">
                <a:solidFill>
                  <a:schemeClr val="accent2">
                    <a:lumMod val="49000"/>
                  </a:schemeClr>
                </a:solidFill>
                <a:ea typeface="Calibri"/>
                <a:cs typeface="Calibri"/>
              </a:rPr>
              <a:t> 5 ROLES</a:t>
            </a:r>
            <a:r>
              <a:rPr lang="fr-FR">
                <a:ea typeface="Calibri"/>
                <a:cs typeface="Calibri"/>
              </a:rPr>
              <a:t> :</a:t>
            </a:r>
            <a:endParaRPr lang="fr-FR"/>
          </a:p>
        </p:txBody>
      </p:sp>
      <p:sp>
        <p:nvSpPr>
          <p:cNvPr id="4" name="Rectangle 3">
            <a:extLst>
              <a:ext uri="{FF2B5EF4-FFF2-40B4-BE49-F238E27FC236}">
                <a16:creationId xmlns:a16="http://schemas.microsoft.com/office/drawing/2014/main" id="{D8EEE426-9BC5-0242-FDBF-C8BC895CE7EB}"/>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6" name="ZoneTexte 5">
            <a:extLst>
              <a:ext uri="{FF2B5EF4-FFF2-40B4-BE49-F238E27FC236}">
                <a16:creationId xmlns:a16="http://schemas.microsoft.com/office/drawing/2014/main" id="{A7015A70-1825-04DA-A782-6F40F5CA0DE9}"/>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14</a:t>
            </a:r>
          </a:p>
        </p:txBody>
      </p:sp>
    </p:spTree>
    <p:extLst>
      <p:ext uri="{BB962C8B-B14F-4D97-AF65-F5344CB8AC3E}">
        <p14:creationId xmlns:p14="http://schemas.microsoft.com/office/powerpoint/2010/main" val="244948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FE2E8E-54A7-9684-EC21-B1E75BF1468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22A65E3-AF63-E844-1356-80D25E77E26D}"/>
              </a:ext>
            </a:extLst>
          </p:cNvPr>
          <p:cNvSpPr txBox="1"/>
          <p:nvPr/>
        </p:nvSpPr>
        <p:spPr>
          <a:xfrm>
            <a:off x="2962924" y="614937"/>
            <a:ext cx="3133310" cy="830997"/>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de-DE" sz="4800">
                <a:solidFill>
                  <a:schemeClr val="bg1">
                    <a:lumMod val="50000"/>
                  </a:schemeClr>
                </a:solidFill>
                <a:latin typeface="+mj-lt"/>
              </a:rPr>
              <a:t>WordPress</a:t>
            </a:r>
            <a:endParaRPr lang="en-US" sz="4800">
              <a:solidFill>
                <a:schemeClr val="bg1">
                  <a:lumMod val="50000"/>
                </a:schemeClr>
              </a:solidFill>
              <a:latin typeface="+mj-lt"/>
            </a:endParaRPr>
          </a:p>
        </p:txBody>
      </p:sp>
      <p:cxnSp>
        <p:nvCxnSpPr>
          <p:cNvPr id="11" name="Straight Connector 10">
            <a:extLst>
              <a:ext uri="{FF2B5EF4-FFF2-40B4-BE49-F238E27FC236}">
                <a16:creationId xmlns:a16="http://schemas.microsoft.com/office/drawing/2014/main" id="{9141F4C4-10EB-E98F-BB69-3273E2B75403}"/>
              </a:ext>
            </a:extLst>
          </p:cNvPr>
          <p:cNvCxnSpPr>
            <a:cxnSpLocks/>
          </p:cNvCxnSpPr>
          <p:nvPr/>
        </p:nvCxnSpPr>
        <p:spPr>
          <a:xfrm>
            <a:off x="4529579" y="1526299"/>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2" name="Isosceles Triangle 1">
            <a:extLst>
              <a:ext uri="{FF2B5EF4-FFF2-40B4-BE49-F238E27FC236}">
                <a16:creationId xmlns:a16="http://schemas.microsoft.com/office/drawing/2014/main" id="{E2CE1DA9-86BF-9DB2-0A73-F8D003674B10}"/>
              </a:ext>
            </a:extLst>
          </p:cNvPr>
          <p:cNvSpPr/>
          <p:nvPr/>
        </p:nvSpPr>
        <p:spPr>
          <a:xfrm rot="10800000">
            <a:off x="4430598" y="1420701"/>
            <a:ext cx="197963" cy="116857"/>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4" name="Oval 3">
            <a:extLst>
              <a:ext uri="{FF2B5EF4-FFF2-40B4-BE49-F238E27FC236}">
                <a16:creationId xmlns:a16="http://schemas.microsoft.com/office/drawing/2014/main" id="{942F700C-B34C-2D83-3E12-D08E37844BE2}"/>
              </a:ext>
            </a:extLst>
          </p:cNvPr>
          <p:cNvSpPr/>
          <p:nvPr/>
        </p:nvSpPr>
        <p:spPr>
          <a:xfrm>
            <a:off x="4487158" y="2474864"/>
            <a:ext cx="84842" cy="84842"/>
          </a:xfrm>
          <a:prstGeom prst="ellipse">
            <a:avLst/>
          </a:prstGeom>
          <a:solidFill>
            <a:schemeClr val="accent2"/>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10" name="Straight Connector 9">
            <a:extLst>
              <a:ext uri="{FF2B5EF4-FFF2-40B4-BE49-F238E27FC236}">
                <a16:creationId xmlns:a16="http://schemas.microsoft.com/office/drawing/2014/main" id="{E6438E59-0562-B98A-0D45-73E0F98951B6}"/>
              </a:ext>
            </a:extLst>
          </p:cNvPr>
          <p:cNvCxnSpPr>
            <a:cxnSpLocks/>
          </p:cNvCxnSpPr>
          <p:nvPr/>
        </p:nvCxnSpPr>
        <p:spPr>
          <a:xfrm>
            <a:off x="4093589" y="2531426"/>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2BD7D7E-D7B4-91E0-E908-6ED7F5C94469}"/>
              </a:ext>
            </a:extLst>
          </p:cNvPr>
          <p:cNvSpPr/>
          <p:nvPr/>
        </p:nvSpPr>
        <p:spPr>
          <a:xfrm>
            <a:off x="3293929" y="2136039"/>
            <a:ext cx="790773" cy="790773"/>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grpSp>
        <p:nvGrpSpPr>
          <p:cNvPr id="26" name="Group 25">
            <a:extLst>
              <a:ext uri="{FF2B5EF4-FFF2-40B4-BE49-F238E27FC236}">
                <a16:creationId xmlns:a16="http://schemas.microsoft.com/office/drawing/2014/main" id="{7FC876CE-450D-B7DB-C116-7D47EFB05853}"/>
              </a:ext>
            </a:extLst>
          </p:cNvPr>
          <p:cNvGrpSpPr/>
          <p:nvPr/>
        </p:nvGrpSpPr>
        <p:grpSpPr>
          <a:xfrm>
            <a:off x="3522671" y="2367645"/>
            <a:ext cx="333289" cy="327561"/>
            <a:chOff x="-20638" y="1588"/>
            <a:chExt cx="2955925" cy="2905125"/>
          </a:xfrm>
          <a:solidFill>
            <a:schemeClr val="bg1"/>
          </a:solidFill>
        </p:grpSpPr>
        <p:sp>
          <p:nvSpPr>
            <p:cNvPr id="22" name="Freeform 5">
              <a:extLst>
                <a:ext uri="{FF2B5EF4-FFF2-40B4-BE49-F238E27FC236}">
                  <a16:creationId xmlns:a16="http://schemas.microsoft.com/office/drawing/2014/main" id="{CAA254BA-ABFF-E8B3-9A5D-CD887306B011}"/>
                </a:ext>
              </a:extLst>
            </p:cNvPr>
            <p:cNvSpPr>
              <a:spLocks/>
            </p:cNvSpPr>
            <p:nvPr/>
          </p:nvSpPr>
          <p:spPr bwMode="auto">
            <a:xfrm>
              <a:off x="1595438" y="363538"/>
              <a:ext cx="955675" cy="955675"/>
            </a:xfrm>
            <a:custGeom>
              <a:avLst/>
              <a:gdLst>
                <a:gd name="T0" fmla="*/ 229 w 254"/>
                <a:gd name="T1" fmla="*/ 242 h 254"/>
                <a:gd name="T2" fmla="*/ 229 w 254"/>
                <a:gd name="T3" fmla="*/ 242 h 254"/>
                <a:gd name="T4" fmla="*/ 241 w 254"/>
                <a:gd name="T5" fmla="*/ 254 h 254"/>
                <a:gd name="T6" fmla="*/ 254 w 254"/>
                <a:gd name="T7" fmla="*/ 242 h 254"/>
                <a:gd name="T8" fmla="*/ 253 w 254"/>
                <a:gd name="T9" fmla="*/ 242 h 254"/>
                <a:gd name="T10" fmla="*/ 13 w 254"/>
                <a:gd name="T11" fmla="*/ 1 h 254"/>
                <a:gd name="T12" fmla="*/ 12 w 254"/>
                <a:gd name="T13" fmla="*/ 0 h 254"/>
                <a:gd name="T14" fmla="*/ 0 w 254"/>
                <a:gd name="T15" fmla="*/ 13 h 254"/>
                <a:gd name="T16" fmla="*/ 12 w 254"/>
                <a:gd name="T17" fmla="*/ 25 h 254"/>
                <a:gd name="T18" fmla="*/ 12 w 254"/>
                <a:gd name="T19" fmla="*/ 25 h 254"/>
                <a:gd name="T20" fmla="*/ 229 w 254"/>
                <a:gd name="T21" fmla="*/ 24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nvGrpSpPr>
            <p:cNvPr id="25" name="Group 24">
              <a:extLst>
                <a:ext uri="{FF2B5EF4-FFF2-40B4-BE49-F238E27FC236}">
                  <a16:creationId xmlns:a16="http://schemas.microsoft.com/office/drawing/2014/main" id="{E25743E6-6A96-720F-6D6A-C08297E5FF97}"/>
                </a:ext>
              </a:extLst>
            </p:cNvPr>
            <p:cNvGrpSpPr/>
            <p:nvPr/>
          </p:nvGrpSpPr>
          <p:grpSpPr>
            <a:xfrm>
              <a:off x="-20638" y="1588"/>
              <a:ext cx="2955925" cy="2905125"/>
              <a:chOff x="-20638" y="1588"/>
              <a:chExt cx="2955925" cy="2905125"/>
            </a:xfrm>
            <a:grpFill/>
          </p:grpSpPr>
          <p:sp>
            <p:nvSpPr>
              <p:cNvPr id="23" name="Freeform 6">
                <a:extLst>
                  <a:ext uri="{FF2B5EF4-FFF2-40B4-BE49-F238E27FC236}">
                    <a16:creationId xmlns:a16="http://schemas.microsoft.com/office/drawing/2014/main" id="{216CBE73-A51F-56AF-5DB3-4C1B2AA45954}"/>
                  </a:ext>
                </a:extLst>
              </p:cNvPr>
              <p:cNvSpPr>
                <a:spLocks noEditPoints="1"/>
              </p:cNvSpPr>
              <p:nvPr/>
            </p:nvSpPr>
            <p:spPr bwMode="auto">
              <a:xfrm>
                <a:off x="-20638" y="1588"/>
                <a:ext cx="2955925" cy="2905125"/>
              </a:xfrm>
              <a:custGeom>
                <a:avLst/>
                <a:gdLst>
                  <a:gd name="T0" fmla="*/ 227 w 785"/>
                  <a:gd name="T1" fmla="*/ 21 h 772"/>
                  <a:gd name="T2" fmla="*/ 176 w 785"/>
                  <a:gd name="T3" fmla="*/ 0 h 772"/>
                  <a:gd name="T4" fmla="*/ 148 w 785"/>
                  <a:gd name="T5" fmla="*/ 6 h 772"/>
                  <a:gd name="T6" fmla="*/ 103 w 785"/>
                  <a:gd name="T7" fmla="*/ 72 h 772"/>
                  <a:gd name="T8" fmla="*/ 103 w 785"/>
                  <a:gd name="T9" fmla="*/ 404 h 772"/>
                  <a:gd name="T10" fmla="*/ 28 w 785"/>
                  <a:gd name="T11" fmla="*/ 480 h 772"/>
                  <a:gd name="T12" fmla="*/ 28 w 785"/>
                  <a:gd name="T13" fmla="*/ 582 h 772"/>
                  <a:gd name="T14" fmla="*/ 197 w 785"/>
                  <a:gd name="T15" fmla="*/ 751 h 772"/>
                  <a:gd name="T16" fmla="*/ 248 w 785"/>
                  <a:gd name="T17" fmla="*/ 772 h 772"/>
                  <a:gd name="T18" fmla="*/ 299 w 785"/>
                  <a:gd name="T19" fmla="*/ 751 h 772"/>
                  <a:gd name="T20" fmla="*/ 375 w 785"/>
                  <a:gd name="T21" fmla="*/ 675 h 772"/>
                  <a:gd name="T22" fmla="*/ 707 w 785"/>
                  <a:gd name="T23" fmla="*/ 675 h 772"/>
                  <a:gd name="T24" fmla="*/ 773 w 785"/>
                  <a:gd name="T25" fmla="*/ 631 h 772"/>
                  <a:gd name="T26" fmla="*/ 758 w 785"/>
                  <a:gd name="T27" fmla="*/ 552 h 772"/>
                  <a:gd name="T28" fmla="*/ 227 w 785"/>
                  <a:gd name="T29" fmla="*/ 21 h 772"/>
                  <a:gd name="T30" fmla="*/ 341 w 785"/>
                  <a:gd name="T31" fmla="*/ 641 h 772"/>
                  <a:gd name="T32" fmla="*/ 265 w 785"/>
                  <a:gd name="T33" fmla="*/ 717 h 772"/>
                  <a:gd name="T34" fmla="*/ 248 w 785"/>
                  <a:gd name="T35" fmla="*/ 724 h 772"/>
                  <a:gd name="T36" fmla="*/ 231 w 785"/>
                  <a:gd name="T37" fmla="*/ 717 h 772"/>
                  <a:gd name="T38" fmla="*/ 62 w 785"/>
                  <a:gd name="T39" fmla="*/ 548 h 772"/>
                  <a:gd name="T40" fmla="*/ 55 w 785"/>
                  <a:gd name="T41" fmla="*/ 531 h 772"/>
                  <a:gd name="T42" fmla="*/ 62 w 785"/>
                  <a:gd name="T43" fmla="*/ 514 h 772"/>
                  <a:gd name="T44" fmla="*/ 138 w 785"/>
                  <a:gd name="T45" fmla="*/ 438 h 772"/>
                  <a:gd name="T46" fmla="*/ 138 w 785"/>
                  <a:gd name="T47" fmla="*/ 438 h 772"/>
                  <a:gd name="T48" fmla="*/ 341 w 785"/>
                  <a:gd name="T49" fmla="*/ 641 h 772"/>
                  <a:gd name="T50" fmla="*/ 341 w 785"/>
                  <a:gd name="T51" fmla="*/ 641 h 772"/>
                  <a:gd name="T52" fmla="*/ 375 w 785"/>
                  <a:gd name="T53" fmla="*/ 627 h 772"/>
                  <a:gd name="T54" fmla="*/ 364 w 785"/>
                  <a:gd name="T55" fmla="*/ 629 h 772"/>
                  <a:gd name="T56" fmla="*/ 150 w 785"/>
                  <a:gd name="T57" fmla="*/ 415 h 772"/>
                  <a:gd name="T58" fmla="*/ 152 w 785"/>
                  <a:gd name="T59" fmla="*/ 404 h 772"/>
                  <a:gd name="T60" fmla="*/ 152 w 785"/>
                  <a:gd name="T61" fmla="*/ 114 h 772"/>
                  <a:gd name="T62" fmla="*/ 665 w 785"/>
                  <a:gd name="T63" fmla="*/ 627 h 772"/>
                  <a:gd name="T64" fmla="*/ 375 w 785"/>
                  <a:gd name="T65" fmla="*/ 627 h 772"/>
                  <a:gd name="T66" fmla="*/ 729 w 785"/>
                  <a:gd name="T67" fmla="*/ 612 h 772"/>
                  <a:gd name="T68" fmla="*/ 707 w 785"/>
                  <a:gd name="T69" fmla="*/ 627 h 772"/>
                  <a:gd name="T70" fmla="*/ 699 w 785"/>
                  <a:gd name="T71" fmla="*/ 627 h 772"/>
                  <a:gd name="T72" fmla="*/ 152 w 785"/>
                  <a:gd name="T73" fmla="*/ 80 h 772"/>
                  <a:gd name="T74" fmla="*/ 152 w 785"/>
                  <a:gd name="T75" fmla="*/ 72 h 772"/>
                  <a:gd name="T76" fmla="*/ 167 w 785"/>
                  <a:gd name="T77" fmla="*/ 50 h 772"/>
                  <a:gd name="T78" fmla="*/ 176 w 785"/>
                  <a:gd name="T79" fmla="*/ 48 h 772"/>
                  <a:gd name="T80" fmla="*/ 193 w 785"/>
                  <a:gd name="T81" fmla="*/ 55 h 772"/>
                  <a:gd name="T82" fmla="*/ 724 w 785"/>
                  <a:gd name="T83" fmla="*/ 586 h 772"/>
                  <a:gd name="T84" fmla="*/ 729 w 785"/>
                  <a:gd name="T85" fmla="*/ 61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24" name="Freeform 7">
                <a:extLst>
                  <a:ext uri="{FF2B5EF4-FFF2-40B4-BE49-F238E27FC236}">
                    <a16:creationId xmlns:a16="http://schemas.microsoft.com/office/drawing/2014/main" id="{F8E24BA5-CF65-8953-BCA2-61D29A2DA173}"/>
                  </a:ext>
                </a:extLst>
              </p:cNvPr>
              <p:cNvSpPr>
                <a:spLocks/>
              </p:cNvSpPr>
              <p:nvPr/>
            </p:nvSpPr>
            <p:spPr bwMode="auto">
              <a:xfrm>
                <a:off x="1549400" y="1588"/>
                <a:ext cx="1362075" cy="1362075"/>
              </a:xfrm>
              <a:custGeom>
                <a:avLst/>
                <a:gdLst>
                  <a:gd name="T0" fmla="*/ 24 w 362"/>
                  <a:gd name="T1" fmla="*/ 48 h 362"/>
                  <a:gd name="T2" fmla="*/ 24 w 362"/>
                  <a:gd name="T3" fmla="*/ 48 h 362"/>
                  <a:gd name="T4" fmla="*/ 314 w 362"/>
                  <a:gd name="T5" fmla="*/ 338 h 362"/>
                  <a:gd name="T6" fmla="*/ 314 w 362"/>
                  <a:gd name="T7" fmla="*/ 338 h 362"/>
                  <a:gd name="T8" fmla="*/ 338 w 362"/>
                  <a:gd name="T9" fmla="*/ 362 h 362"/>
                  <a:gd name="T10" fmla="*/ 362 w 362"/>
                  <a:gd name="T11" fmla="*/ 338 h 362"/>
                  <a:gd name="T12" fmla="*/ 362 w 362"/>
                  <a:gd name="T13" fmla="*/ 338 h 362"/>
                  <a:gd name="T14" fmla="*/ 25 w 362"/>
                  <a:gd name="T15" fmla="*/ 0 h 362"/>
                  <a:gd name="T16" fmla="*/ 24 w 362"/>
                  <a:gd name="T17" fmla="*/ 0 h 362"/>
                  <a:gd name="T18" fmla="*/ 0 w 362"/>
                  <a:gd name="T19" fmla="*/ 24 h 362"/>
                  <a:gd name="T20" fmla="*/ 24 w 362"/>
                  <a:gd name="T21" fmla="*/ 48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grpSp>
      </p:grpSp>
      <p:cxnSp>
        <p:nvCxnSpPr>
          <p:cNvPr id="27" name="Straight Connector 26">
            <a:extLst>
              <a:ext uri="{FF2B5EF4-FFF2-40B4-BE49-F238E27FC236}">
                <a16:creationId xmlns:a16="http://schemas.microsoft.com/office/drawing/2014/main" id="{E65ED738-176D-CA1D-BD57-6B358FB40EC2}"/>
              </a:ext>
            </a:extLst>
          </p:cNvPr>
          <p:cNvCxnSpPr>
            <a:cxnSpLocks/>
          </p:cNvCxnSpPr>
          <p:nvPr/>
        </p:nvCxnSpPr>
        <p:spPr>
          <a:xfrm>
            <a:off x="4529579" y="2566267"/>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79652979-E606-68AE-6AC1-7B14873447EB}"/>
              </a:ext>
            </a:extLst>
          </p:cNvPr>
          <p:cNvSpPr/>
          <p:nvPr/>
        </p:nvSpPr>
        <p:spPr>
          <a:xfrm>
            <a:off x="4487158" y="3514833"/>
            <a:ext cx="84842" cy="84842"/>
          </a:xfrm>
          <a:prstGeom prst="ellipse">
            <a:avLst/>
          </a:prstGeom>
          <a:solidFill>
            <a:schemeClr val="accent3"/>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29" name="Straight Connector 28">
            <a:extLst>
              <a:ext uri="{FF2B5EF4-FFF2-40B4-BE49-F238E27FC236}">
                <a16:creationId xmlns:a16="http://schemas.microsoft.com/office/drawing/2014/main" id="{4C26C3FF-B254-5EF5-F091-EBC30814E40C}"/>
              </a:ext>
            </a:extLst>
          </p:cNvPr>
          <p:cNvCxnSpPr>
            <a:cxnSpLocks/>
          </p:cNvCxnSpPr>
          <p:nvPr/>
        </p:nvCxnSpPr>
        <p:spPr>
          <a:xfrm>
            <a:off x="4572000" y="3571394"/>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C367447-459F-DF34-9E38-115BE1778DF4}"/>
              </a:ext>
            </a:extLst>
          </p:cNvPr>
          <p:cNvCxnSpPr>
            <a:cxnSpLocks/>
          </p:cNvCxnSpPr>
          <p:nvPr/>
        </p:nvCxnSpPr>
        <p:spPr>
          <a:xfrm>
            <a:off x="4529579" y="3599674"/>
            <a:ext cx="0" cy="1543826"/>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FF42B4D-F5DD-B106-51BB-35B4920207F9}"/>
              </a:ext>
            </a:extLst>
          </p:cNvPr>
          <p:cNvCxnSpPr>
            <a:cxnSpLocks/>
          </p:cNvCxnSpPr>
          <p:nvPr/>
        </p:nvCxnSpPr>
        <p:spPr>
          <a:xfrm>
            <a:off x="4529579" y="1"/>
            <a:ext cx="0" cy="569204"/>
          </a:xfrm>
          <a:prstGeom prst="line">
            <a:avLst/>
          </a:prstGeom>
          <a:ln w="25400">
            <a:solidFill>
              <a:schemeClr val="bg1">
                <a:lumMod val="85000"/>
              </a:schemeClr>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7841F0D-875C-E351-1FCD-99EF8CFEBB63}"/>
              </a:ext>
            </a:extLst>
          </p:cNvPr>
          <p:cNvSpPr/>
          <p:nvPr/>
        </p:nvSpPr>
        <p:spPr>
          <a:xfrm>
            <a:off x="3293929" y="2861659"/>
            <a:ext cx="790773" cy="6515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9" name="TextBox 62">
            <a:extLst>
              <a:ext uri="{FF2B5EF4-FFF2-40B4-BE49-F238E27FC236}">
                <a16:creationId xmlns:a16="http://schemas.microsoft.com/office/drawing/2014/main" id="{54F1B759-F6AB-FB5B-D491-2B89A3377DFB}"/>
              </a:ext>
            </a:extLst>
          </p:cNvPr>
          <p:cNvSpPr txBox="1"/>
          <p:nvPr/>
        </p:nvSpPr>
        <p:spPr>
          <a:xfrm>
            <a:off x="1303787" y="2153930"/>
            <a:ext cx="1961900" cy="461665"/>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200" b="1">
                <a:solidFill>
                  <a:schemeClr val="tx1">
                    <a:lumMod val="49000"/>
                    <a:lumOff val="51000"/>
                  </a:schemeClr>
                </a:solidFill>
                <a:latin typeface="Calibri Light"/>
                <a:ea typeface="Calibri Light"/>
                <a:cs typeface="Calibri Light"/>
              </a:rPr>
              <a:t>Comparaison des CMS populaires</a:t>
            </a:r>
          </a:p>
        </p:txBody>
      </p:sp>
      <p:grpSp>
        <p:nvGrpSpPr>
          <p:cNvPr id="38" name="Group 23">
            <a:extLst>
              <a:ext uri="{FF2B5EF4-FFF2-40B4-BE49-F238E27FC236}">
                <a16:creationId xmlns:a16="http://schemas.microsoft.com/office/drawing/2014/main" id="{722960FB-B539-D944-0EFE-14B461CABF33}"/>
              </a:ext>
            </a:extLst>
          </p:cNvPr>
          <p:cNvGrpSpPr/>
          <p:nvPr/>
        </p:nvGrpSpPr>
        <p:grpSpPr>
          <a:xfrm>
            <a:off x="6956024" y="2618406"/>
            <a:ext cx="331427" cy="310747"/>
            <a:chOff x="6956024" y="2562277"/>
            <a:chExt cx="3867150" cy="3625850"/>
          </a:xfrm>
          <a:solidFill>
            <a:schemeClr val="bg1"/>
          </a:solidFill>
        </p:grpSpPr>
        <p:sp>
          <p:nvSpPr>
            <p:cNvPr id="47" name="Freeform 9">
              <a:extLst>
                <a:ext uri="{FF2B5EF4-FFF2-40B4-BE49-F238E27FC236}">
                  <a16:creationId xmlns:a16="http://schemas.microsoft.com/office/drawing/2014/main" id="{97A3F738-E3DA-4269-B9ED-BA78832D5A52}"/>
                </a:ext>
              </a:extLst>
            </p:cNvPr>
            <p:cNvSpPr>
              <a:spLocks noEditPoints="1"/>
            </p:cNvSpPr>
            <p:nvPr/>
          </p:nvSpPr>
          <p:spPr bwMode="auto">
            <a:xfrm>
              <a:off x="6956024" y="2562277"/>
              <a:ext cx="3867150" cy="3625850"/>
            </a:xfrm>
            <a:custGeom>
              <a:avLst/>
              <a:gdLst>
                <a:gd name="T0" fmla="*/ 1009 w 1028"/>
                <a:gd name="T1" fmla="*/ 212 h 964"/>
                <a:gd name="T2" fmla="*/ 817 w 1028"/>
                <a:gd name="T3" fmla="*/ 19 h 964"/>
                <a:gd name="T4" fmla="*/ 771 w 1028"/>
                <a:gd name="T5" fmla="*/ 0 h 964"/>
                <a:gd name="T6" fmla="*/ 96 w 1028"/>
                <a:gd name="T7" fmla="*/ 0 h 964"/>
                <a:gd name="T8" fmla="*/ 0 w 1028"/>
                <a:gd name="T9" fmla="*/ 96 h 964"/>
                <a:gd name="T10" fmla="*/ 0 w 1028"/>
                <a:gd name="T11" fmla="*/ 868 h 964"/>
                <a:gd name="T12" fmla="*/ 96 w 1028"/>
                <a:gd name="T13" fmla="*/ 964 h 964"/>
                <a:gd name="T14" fmla="*/ 932 w 1028"/>
                <a:gd name="T15" fmla="*/ 964 h 964"/>
                <a:gd name="T16" fmla="*/ 1028 w 1028"/>
                <a:gd name="T17" fmla="*/ 868 h 964"/>
                <a:gd name="T18" fmla="*/ 1028 w 1028"/>
                <a:gd name="T19" fmla="*/ 257 h 964"/>
                <a:gd name="T20" fmla="*/ 1009 w 1028"/>
                <a:gd name="T21" fmla="*/ 212 h 964"/>
                <a:gd name="T22" fmla="*/ 964 w 1028"/>
                <a:gd name="T23" fmla="*/ 868 h 964"/>
                <a:gd name="T24" fmla="*/ 932 w 1028"/>
                <a:gd name="T25" fmla="*/ 900 h 964"/>
                <a:gd name="T26" fmla="*/ 96 w 1028"/>
                <a:gd name="T27" fmla="*/ 900 h 964"/>
                <a:gd name="T28" fmla="*/ 64 w 1028"/>
                <a:gd name="T29" fmla="*/ 868 h 964"/>
                <a:gd name="T30" fmla="*/ 64 w 1028"/>
                <a:gd name="T31" fmla="*/ 96 h 964"/>
                <a:gd name="T32" fmla="*/ 96 w 1028"/>
                <a:gd name="T33" fmla="*/ 64 h 964"/>
                <a:gd name="T34" fmla="*/ 739 w 1028"/>
                <a:gd name="T35" fmla="*/ 64 h 964"/>
                <a:gd name="T36" fmla="*/ 739 w 1028"/>
                <a:gd name="T37" fmla="*/ 193 h 964"/>
                <a:gd name="T38" fmla="*/ 739 w 1028"/>
                <a:gd name="T39" fmla="*/ 193 h 964"/>
                <a:gd name="T40" fmla="*/ 835 w 1028"/>
                <a:gd name="T41" fmla="*/ 289 h 964"/>
                <a:gd name="T42" fmla="*/ 868 w 1028"/>
                <a:gd name="T43" fmla="*/ 289 h 964"/>
                <a:gd name="T44" fmla="*/ 964 w 1028"/>
                <a:gd name="T45" fmla="*/ 289 h 964"/>
                <a:gd name="T46" fmla="*/ 964 w 1028"/>
                <a:gd name="T47" fmla="*/ 868 h 964"/>
                <a:gd name="T48" fmla="*/ 868 w 1028"/>
                <a:gd name="T49" fmla="*/ 257 h 964"/>
                <a:gd name="T50" fmla="*/ 835 w 1028"/>
                <a:gd name="T51" fmla="*/ 257 h 964"/>
                <a:gd name="T52" fmla="*/ 771 w 1028"/>
                <a:gd name="T53" fmla="*/ 193 h 964"/>
                <a:gd name="T54" fmla="*/ 771 w 1028"/>
                <a:gd name="T55" fmla="*/ 193 h 964"/>
                <a:gd name="T56" fmla="*/ 771 w 1028"/>
                <a:gd name="T57" fmla="*/ 64 h 964"/>
                <a:gd name="T58" fmla="*/ 964 w 1028"/>
                <a:gd name="T59" fmla="*/ 257 h 964"/>
                <a:gd name="T60" fmla="*/ 868 w 1028"/>
                <a:gd name="T61" fmla="*/ 257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8" h="964">
                  <a:moveTo>
                    <a:pt x="1009" y="212"/>
                  </a:moveTo>
                  <a:cubicBezTo>
                    <a:pt x="817" y="19"/>
                    <a:pt x="817" y="19"/>
                    <a:pt x="817" y="19"/>
                  </a:cubicBezTo>
                  <a:cubicBezTo>
                    <a:pt x="805" y="7"/>
                    <a:pt x="788" y="0"/>
                    <a:pt x="771" y="0"/>
                  </a:cubicBezTo>
                  <a:cubicBezTo>
                    <a:pt x="96" y="0"/>
                    <a:pt x="96" y="0"/>
                    <a:pt x="96" y="0"/>
                  </a:cubicBezTo>
                  <a:cubicBezTo>
                    <a:pt x="43" y="0"/>
                    <a:pt x="0" y="43"/>
                    <a:pt x="0" y="96"/>
                  </a:cubicBezTo>
                  <a:cubicBezTo>
                    <a:pt x="0" y="868"/>
                    <a:pt x="0" y="868"/>
                    <a:pt x="0" y="868"/>
                  </a:cubicBezTo>
                  <a:cubicBezTo>
                    <a:pt x="0" y="921"/>
                    <a:pt x="43" y="964"/>
                    <a:pt x="96" y="964"/>
                  </a:cubicBezTo>
                  <a:cubicBezTo>
                    <a:pt x="932" y="964"/>
                    <a:pt x="932" y="964"/>
                    <a:pt x="932" y="964"/>
                  </a:cubicBezTo>
                  <a:cubicBezTo>
                    <a:pt x="985" y="964"/>
                    <a:pt x="1028" y="921"/>
                    <a:pt x="1028" y="868"/>
                  </a:cubicBezTo>
                  <a:cubicBezTo>
                    <a:pt x="1028" y="257"/>
                    <a:pt x="1028" y="257"/>
                    <a:pt x="1028" y="257"/>
                  </a:cubicBezTo>
                  <a:cubicBezTo>
                    <a:pt x="1028" y="240"/>
                    <a:pt x="1022" y="224"/>
                    <a:pt x="1009" y="212"/>
                  </a:cubicBezTo>
                  <a:close/>
                  <a:moveTo>
                    <a:pt x="964" y="868"/>
                  </a:moveTo>
                  <a:cubicBezTo>
                    <a:pt x="964" y="885"/>
                    <a:pt x="950" y="900"/>
                    <a:pt x="932" y="900"/>
                  </a:cubicBezTo>
                  <a:cubicBezTo>
                    <a:pt x="96" y="900"/>
                    <a:pt x="96" y="900"/>
                    <a:pt x="96" y="900"/>
                  </a:cubicBezTo>
                  <a:cubicBezTo>
                    <a:pt x="79" y="900"/>
                    <a:pt x="64" y="885"/>
                    <a:pt x="64" y="868"/>
                  </a:cubicBezTo>
                  <a:cubicBezTo>
                    <a:pt x="64" y="96"/>
                    <a:pt x="64" y="96"/>
                    <a:pt x="64" y="96"/>
                  </a:cubicBezTo>
                  <a:cubicBezTo>
                    <a:pt x="64" y="79"/>
                    <a:pt x="79" y="64"/>
                    <a:pt x="96" y="64"/>
                  </a:cubicBezTo>
                  <a:cubicBezTo>
                    <a:pt x="739" y="64"/>
                    <a:pt x="739" y="64"/>
                    <a:pt x="739" y="64"/>
                  </a:cubicBezTo>
                  <a:cubicBezTo>
                    <a:pt x="739" y="193"/>
                    <a:pt x="739" y="193"/>
                    <a:pt x="739" y="193"/>
                  </a:cubicBezTo>
                  <a:cubicBezTo>
                    <a:pt x="739" y="193"/>
                    <a:pt x="739" y="193"/>
                    <a:pt x="739" y="193"/>
                  </a:cubicBezTo>
                  <a:cubicBezTo>
                    <a:pt x="739" y="246"/>
                    <a:pt x="782" y="289"/>
                    <a:pt x="835" y="289"/>
                  </a:cubicBezTo>
                  <a:cubicBezTo>
                    <a:pt x="868" y="289"/>
                    <a:pt x="868" y="289"/>
                    <a:pt x="868" y="289"/>
                  </a:cubicBezTo>
                  <a:cubicBezTo>
                    <a:pt x="964" y="289"/>
                    <a:pt x="964" y="289"/>
                    <a:pt x="964" y="289"/>
                  </a:cubicBezTo>
                  <a:lnTo>
                    <a:pt x="964" y="868"/>
                  </a:lnTo>
                  <a:close/>
                  <a:moveTo>
                    <a:pt x="868" y="257"/>
                  </a:moveTo>
                  <a:cubicBezTo>
                    <a:pt x="835" y="257"/>
                    <a:pt x="835" y="257"/>
                    <a:pt x="835" y="257"/>
                  </a:cubicBezTo>
                  <a:cubicBezTo>
                    <a:pt x="800" y="257"/>
                    <a:pt x="771" y="228"/>
                    <a:pt x="771" y="193"/>
                  </a:cubicBezTo>
                  <a:cubicBezTo>
                    <a:pt x="771" y="193"/>
                    <a:pt x="771" y="193"/>
                    <a:pt x="771" y="193"/>
                  </a:cubicBezTo>
                  <a:cubicBezTo>
                    <a:pt x="771" y="64"/>
                    <a:pt x="771" y="64"/>
                    <a:pt x="771" y="64"/>
                  </a:cubicBezTo>
                  <a:cubicBezTo>
                    <a:pt x="964" y="257"/>
                    <a:pt x="964" y="257"/>
                    <a:pt x="964" y="257"/>
                  </a:cubicBezTo>
                  <a:lnTo>
                    <a:pt x="868" y="257"/>
                  </a:ln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8" name="Freeform 10">
              <a:extLst>
                <a:ext uri="{FF2B5EF4-FFF2-40B4-BE49-F238E27FC236}">
                  <a16:creationId xmlns:a16="http://schemas.microsoft.com/office/drawing/2014/main" id="{5E3AE88D-27E7-DF66-AA9C-5C02068BD7E2}"/>
                </a:ext>
              </a:extLst>
            </p:cNvPr>
            <p:cNvSpPr>
              <a:spLocks/>
            </p:cNvSpPr>
            <p:nvPr/>
          </p:nvSpPr>
          <p:spPr bwMode="auto">
            <a:xfrm>
              <a:off x="8768949" y="328776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9" name="Freeform 11">
              <a:extLst>
                <a:ext uri="{FF2B5EF4-FFF2-40B4-BE49-F238E27FC236}">
                  <a16:creationId xmlns:a16="http://schemas.microsoft.com/office/drawing/2014/main" id="{60572111-200A-C1A7-F0DD-14D00EEB7EFE}"/>
                </a:ext>
              </a:extLst>
            </p:cNvPr>
            <p:cNvSpPr>
              <a:spLocks/>
            </p:cNvSpPr>
            <p:nvPr/>
          </p:nvSpPr>
          <p:spPr bwMode="auto">
            <a:xfrm>
              <a:off x="8768949" y="364971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0" name="Freeform 12">
              <a:extLst>
                <a:ext uri="{FF2B5EF4-FFF2-40B4-BE49-F238E27FC236}">
                  <a16:creationId xmlns:a16="http://schemas.microsoft.com/office/drawing/2014/main" id="{CE85B0EE-6641-ECA6-3357-FD61EAA90202}"/>
                </a:ext>
              </a:extLst>
            </p:cNvPr>
            <p:cNvSpPr>
              <a:spLocks/>
            </p:cNvSpPr>
            <p:nvPr/>
          </p:nvSpPr>
          <p:spPr bwMode="auto">
            <a:xfrm>
              <a:off x="8768949" y="4014840"/>
              <a:ext cx="1573213" cy="120650"/>
            </a:xfrm>
            <a:custGeom>
              <a:avLst/>
              <a:gdLst>
                <a:gd name="T0" fmla="*/ 0 w 418"/>
                <a:gd name="T1" fmla="*/ 16 h 32"/>
                <a:gd name="T2" fmla="*/ 16 w 418"/>
                <a:gd name="T3" fmla="*/ 32 h 32"/>
                <a:gd name="T4" fmla="*/ 402 w 418"/>
                <a:gd name="T5" fmla="*/ 32 h 32"/>
                <a:gd name="T6" fmla="*/ 418 w 418"/>
                <a:gd name="T7" fmla="*/ 16 h 32"/>
                <a:gd name="T8" fmla="*/ 402 w 418"/>
                <a:gd name="T9" fmla="*/ 0 h 32"/>
                <a:gd name="T10" fmla="*/ 16 w 418"/>
                <a:gd name="T11" fmla="*/ 0 h 32"/>
                <a:gd name="T12" fmla="*/ 0 w 418"/>
                <a:gd name="T13" fmla="*/ 16 h 32"/>
              </a:gdLst>
              <a:ahLst/>
              <a:cxnLst>
                <a:cxn ang="0">
                  <a:pos x="T0" y="T1"/>
                </a:cxn>
                <a:cxn ang="0">
                  <a:pos x="T2" y="T3"/>
                </a:cxn>
                <a:cxn ang="0">
                  <a:pos x="T4" y="T5"/>
                </a:cxn>
                <a:cxn ang="0">
                  <a:pos x="T6" y="T7"/>
                </a:cxn>
                <a:cxn ang="0">
                  <a:pos x="T8" y="T9"/>
                </a:cxn>
                <a:cxn ang="0">
                  <a:pos x="T10" y="T11"/>
                </a:cxn>
                <a:cxn ang="0">
                  <a:pos x="T12" y="T13"/>
                </a:cxn>
              </a:cxnLst>
              <a:rect l="0" t="0" r="r" b="b"/>
              <a:pathLst>
                <a:path w="418" h="32">
                  <a:moveTo>
                    <a:pt x="0" y="16"/>
                  </a:moveTo>
                  <a:cubicBezTo>
                    <a:pt x="0" y="25"/>
                    <a:pt x="7" y="32"/>
                    <a:pt x="16" y="32"/>
                  </a:cubicBezTo>
                  <a:cubicBezTo>
                    <a:pt x="402" y="32"/>
                    <a:pt x="402" y="32"/>
                    <a:pt x="402" y="32"/>
                  </a:cubicBezTo>
                  <a:cubicBezTo>
                    <a:pt x="411" y="32"/>
                    <a:pt x="418" y="25"/>
                    <a:pt x="418" y="16"/>
                  </a:cubicBezTo>
                  <a:cubicBezTo>
                    <a:pt x="418" y="7"/>
                    <a:pt x="411" y="0"/>
                    <a:pt x="402" y="0"/>
                  </a:cubicBezTo>
                  <a:cubicBezTo>
                    <a:pt x="16" y="0"/>
                    <a:pt x="16" y="0"/>
                    <a:pt x="16" y="0"/>
                  </a:cubicBezTo>
                  <a:cubicBezTo>
                    <a:pt x="7" y="0"/>
                    <a:pt x="0" y="7"/>
                    <a:pt x="0" y="16"/>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1" name="Freeform 13">
              <a:extLst>
                <a:ext uri="{FF2B5EF4-FFF2-40B4-BE49-F238E27FC236}">
                  <a16:creationId xmlns:a16="http://schemas.microsoft.com/office/drawing/2014/main" id="{543738E5-24BA-E064-058A-D43A2C263781}"/>
                </a:ext>
              </a:extLst>
            </p:cNvPr>
            <p:cNvSpPr>
              <a:spLocks/>
            </p:cNvSpPr>
            <p:nvPr/>
          </p:nvSpPr>
          <p:spPr bwMode="auto">
            <a:xfrm>
              <a:off x="7441799" y="4737152"/>
              <a:ext cx="2900363" cy="123825"/>
            </a:xfrm>
            <a:custGeom>
              <a:avLst/>
              <a:gdLst>
                <a:gd name="T0" fmla="*/ 755 w 771"/>
                <a:gd name="T1" fmla="*/ 0 h 33"/>
                <a:gd name="T2" fmla="*/ 16 w 771"/>
                <a:gd name="T3" fmla="*/ 0 h 33"/>
                <a:gd name="T4" fmla="*/ 0 w 771"/>
                <a:gd name="T5" fmla="*/ 16 h 33"/>
                <a:gd name="T6" fmla="*/ 16 w 771"/>
                <a:gd name="T7" fmla="*/ 33 h 33"/>
                <a:gd name="T8" fmla="*/ 755 w 771"/>
                <a:gd name="T9" fmla="*/ 33 h 33"/>
                <a:gd name="T10" fmla="*/ 771 w 771"/>
                <a:gd name="T11" fmla="*/ 16 h 33"/>
                <a:gd name="T12" fmla="*/ 755 w 771"/>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771" h="33">
                  <a:moveTo>
                    <a:pt x="755" y="0"/>
                  </a:moveTo>
                  <a:cubicBezTo>
                    <a:pt x="16" y="0"/>
                    <a:pt x="16" y="0"/>
                    <a:pt x="16" y="0"/>
                  </a:cubicBezTo>
                  <a:cubicBezTo>
                    <a:pt x="7" y="0"/>
                    <a:pt x="0" y="8"/>
                    <a:pt x="0" y="16"/>
                  </a:cubicBezTo>
                  <a:cubicBezTo>
                    <a:pt x="0" y="25"/>
                    <a:pt x="7" y="33"/>
                    <a:pt x="16" y="33"/>
                  </a:cubicBezTo>
                  <a:cubicBezTo>
                    <a:pt x="755" y="33"/>
                    <a:pt x="755" y="33"/>
                    <a:pt x="755" y="33"/>
                  </a:cubicBezTo>
                  <a:cubicBezTo>
                    <a:pt x="764" y="33"/>
                    <a:pt x="771" y="25"/>
                    <a:pt x="771" y="16"/>
                  </a:cubicBezTo>
                  <a:cubicBezTo>
                    <a:pt x="771" y="8"/>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2" name="Freeform 14">
              <a:extLst>
                <a:ext uri="{FF2B5EF4-FFF2-40B4-BE49-F238E27FC236}">
                  <a16:creationId xmlns:a16="http://schemas.microsoft.com/office/drawing/2014/main" id="{209598E7-DA4F-F6F6-2F46-9DD63546466E}"/>
                </a:ext>
              </a:extLst>
            </p:cNvPr>
            <p:cNvSpPr>
              <a:spLocks/>
            </p:cNvSpPr>
            <p:nvPr/>
          </p:nvSpPr>
          <p:spPr bwMode="auto">
            <a:xfrm>
              <a:off x="7441799" y="5102277"/>
              <a:ext cx="2900363" cy="119063"/>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3" name="Freeform 15">
              <a:extLst>
                <a:ext uri="{FF2B5EF4-FFF2-40B4-BE49-F238E27FC236}">
                  <a16:creationId xmlns:a16="http://schemas.microsoft.com/office/drawing/2014/main" id="{8FBE5CF1-5956-0F1B-EA28-DFE8CED03260}"/>
                </a:ext>
              </a:extLst>
            </p:cNvPr>
            <p:cNvSpPr>
              <a:spLocks/>
            </p:cNvSpPr>
            <p:nvPr/>
          </p:nvSpPr>
          <p:spPr bwMode="auto">
            <a:xfrm>
              <a:off x="7441799" y="5462640"/>
              <a:ext cx="2900363" cy="120650"/>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4" name="Freeform 16">
              <a:extLst>
                <a:ext uri="{FF2B5EF4-FFF2-40B4-BE49-F238E27FC236}">
                  <a16:creationId xmlns:a16="http://schemas.microsoft.com/office/drawing/2014/main" id="{C6679F40-3BF1-ED38-B8B4-12E264654949}"/>
                </a:ext>
              </a:extLst>
            </p:cNvPr>
            <p:cNvSpPr>
              <a:spLocks/>
            </p:cNvSpPr>
            <p:nvPr/>
          </p:nvSpPr>
          <p:spPr bwMode="auto">
            <a:xfrm>
              <a:off x="7441794" y="4375208"/>
              <a:ext cx="2900360" cy="120649"/>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5" name="Freeform 17">
              <a:extLst>
                <a:ext uri="{FF2B5EF4-FFF2-40B4-BE49-F238E27FC236}">
                  <a16:creationId xmlns:a16="http://schemas.microsoft.com/office/drawing/2014/main" id="{714440E8-E9A9-337A-B972-624E189A549D}"/>
                </a:ext>
              </a:extLst>
            </p:cNvPr>
            <p:cNvSpPr>
              <a:spLocks noEditPoints="1"/>
            </p:cNvSpPr>
            <p:nvPr/>
          </p:nvSpPr>
          <p:spPr bwMode="auto">
            <a:xfrm>
              <a:off x="7441799" y="3168702"/>
              <a:ext cx="1087438" cy="966788"/>
            </a:xfrm>
            <a:custGeom>
              <a:avLst/>
              <a:gdLst>
                <a:gd name="T0" fmla="*/ 32 w 289"/>
                <a:gd name="T1" fmla="*/ 257 h 257"/>
                <a:gd name="T2" fmla="*/ 257 w 289"/>
                <a:gd name="T3" fmla="*/ 257 h 257"/>
                <a:gd name="T4" fmla="*/ 289 w 289"/>
                <a:gd name="T5" fmla="*/ 225 h 257"/>
                <a:gd name="T6" fmla="*/ 289 w 289"/>
                <a:gd name="T7" fmla="*/ 32 h 257"/>
                <a:gd name="T8" fmla="*/ 257 w 289"/>
                <a:gd name="T9" fmla="*/ 0 h 257"/>
                <a:gd name="T10" fmla="*/ 32 w 289"/>
                <a:gd name="T11" fmla="*/ 0 h 257"/>
                <a:gd name="T12" fmla="*/ 0 w 289"/>
                <a:gd name="T13" fmla="*/ 32 h 257"/>
                <a:gd name="T14" fmla="*/ 0 w 289"/>
                <a:gd name="T15" fmla="*/ 225 h 257"/>
                <a:gd name="T16" fmla="*/ 32 w 289"/>
                <a:gd name="T17" fmla="*/ 257 h 257"/>
                <a:gd name="T18" fmla="*/ 64 w 289"/>
                <a:gd name="T19" fmla="*/ 64 h 257"/>
                <a:gd name="T20" fmla="*/ 224 w 289"/>
                <a:gd name="T21" fmla="*/ 64 h 257"/>
                <a:gd name="T22" fmla="*/ 224 w 289"/>
                <a:gd name="T23" fmla="*/ 192 h 257"/>
                <a:gd name="T24" fmla="*/ 64 w 289"/>
                <a:gd name="T25" fmla="*/ 192 h 257"/>
                <a:gd name="T26" fmla="*/ 64 w 289"/>
                <a:gd name="T27" fmla="*/ 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257">
                  <a:moveTo>
                    <a:pt x="32" y="257"/>
                  </a:moveTo>
                  <a:cubicBezTo>
                    <a:pt x="257" y="257"/>
                    <a:pt x="257" y="257"/>
                    <a:pt x="257" y="257"/>
                  </a:cubicBezTo>
                  <a:cubicBezTo>
                    <a:pt x="274" y="257"/>
                    <a:pt x="289" y="242"/>
                    <a:pt x="289" y="225"/>
                  </a:cubicBezTo>
                  <a:cubicBezTo>
                    <a:pt x="289" y="32"/>
                    <a:pt x="289" y="32"/>
                    <a:pt x="289" y="32"/>
                  </a:cubicBezTo>
                  <a:cubicBezTo>
                    <a:pt x="289" y="14"/>
                    <a:pt x="274" y="0"/>
                    <a:pt x="257" y="0"/>
                  </a:cubicBezTo>
                  <a:cubicBezTo>
                    <a:pt x="32" y="0"/>
                    <a:pt x="32" y="0"/>
                    <a:pt x="32" y="0"/>
                  </a:cubicBezTo>
                  <a:cubicBezTo>
                    <a:pt x="14" y="0"/>
                    <a:pt x="0" y="14"/>
                    <a:pt x="0" y="32"/>
                  </a:cubicBezTo>
                  <a:cubicBezTo>
                    <a:pt x="0" y="225"/>
                    <a:pt x="0" y="225"/>
                    <a:pt x="0" y="225"/>
                  </a:cubicBezTo>
                  <a:cubicBezTo>
                    <a:pt x="0" y="242"/>
                    <a:pt x="14" y="257"/>
                    <a:pt x="32" y="257"/>
                  </a:cubicBezTo>
                  <a:close/>
                  <a:moveTo>
                    <a:pt x="64" y="64"/>
                  </a:moveTo>
                  <a:cubicBezTo>
                    <a:pt x="224" y="64"/>
                    <a:pt x="224" y="64"/>
                    <a:pt x="224" y="64"/>
                  </a:cubicBezTo>
                  <a:cubicBezTo>
                    <a:pt x="224" y="192"/>
                    <a:pt x="224" y="192"/>
                    <a:pt x="224" y="192"/>
                  </a:cubicBezTo>
                  <a:cubicBezTo>
                    <a:pt x="64" y="192"/>
                    <a:pt x="64" y="192"/>
                    <a:pt x="64" y="192"/>
                  </a:cubicBezTo>
                  <a:lnTo>
                    <a:pt x="64" y="64"/>
                  </a:ln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57" name="Rectangle 56">
            <a:extLst>
              <a:ext uri="{FF2B5EF4-FFF2-40B4-BE49-F238E27FC236}">
                <a16:creationId xmlns:a16="http://schemas.microsoft.com/office/drawing/2014/main" id="{FBE9BF2A-9041-26D0-B0DF-207C99FD6B7B}"/>
              </a:ext>
            </a:extLst>
          </p:cNvPr>
          <p:cNvSpPr/>
          <p:nvPr/>
        </p:nvSpPr>
        <p:spPr>
          <a:xfrm>
            <a:off x="4974328" y="3190593"/>
            <a:ext cx="921695" cy="717588"/>
          </a:xfrm>
          <a:prstGeom prst="rect">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58" name="TextBox 36">
            <a:extLst>
              <a:ext uri="{FF2B5EF4-FFF2-40B4-BE49-F238E27FC236}">
                <a16:creationId xmlns:a16="http://schemas.microsoft.com/office/drawing/2014/main" id="{2FC25DA5-8675-F32E-1E06-B313F75C58C6}"/>
              </a:ext>
            </a:extLst>
          </p:cNvPr>
          <p:cNvSpPr txBox="1"/>
          <p:nvPr/>
        </p:nvSpPr>
        <p:spPr>
          <a:xfrm>
            <a:off x="6000755" y="3191574"/>
            <a:ext cx="2242102" cy="461665"/>
          </a:xfrm>
          <a:prstGeom prst="rect">
            <a:avLst/>
          </a:prstGeom>
          <a:noFill/>
        </p:spPr>
        <p:txBody>
          <a:bodyPr wrap="square" lIns="91440" tIns="45720" rIns="91440" bIns="45720" rtlCol="0" anchor="t">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b="1">
                <a:solidFill>
                  <a:schemeClr val="bg1">
                    <a:lumMod val="50000"/>
                  </a:schemeClr>
                </a:solidFill>
                <a:latin typeface="+mj-lt"/>
              </a:rPr>
              <a:t>Différence entre </a:t>
            </a:r>
            <a:r>
              <a:rPr lang="fr-FR" sz="1200" b="1" i="1">
                <a:solidFill>
                  <a:schemeClr val="bg1">
                    <a:lumMod val="50000"/>
                  </a:schemeClr>
                </a:solidFill>
                <a:latin typeface="+mj-lt"/>
              </a:rPr>
              <a:t>WordPress.com </a:t>
            </a:r>
            <a:r>
              <a:rPr lang="fr-FR" sz="1200" b="1">
                <a:solidFill>
                  <a:schemeClr val="bg1">
                    <a:lumMod val="50000"/>
                  </a:schemeClr>
                </a:solidFill>
                <a:latin typeface="+mj-lt"/>
              </a:rPr>
              <a:t>et </a:t>
            </a:r>
            <a:r>
              <a:rPr lang="fr-FR" sz="1200" b="1" i="1">
                <a:solidFill>
                  <a:schemeClr val="bg1">
                    <a:lumMod val="50000"/>
                  </a:schemeClr>
                </a:solidFill>
                <a:latin typeface="+mj-lt"/>
              </a:rPr>
              <a:t>WordPress.org</a:t>
            </a:r>
            <a:endParaRPr lang="id-ID" sz="1200" b="1" i="1">
              <a:solidFill>
                <a:schemeClr val="bg1">
                  <a:lumMod val="50000"/>
                </a:schemeClr>
              </a:solidFill>
              <a:latin typeface="+mj-lt"/>
              <a:ea typeface="Calibri Light"/>
              <a:cs typeface="Calibri Light"/>
            </a:endParaRPr>
          </a:p>
        </p:txBody>
      </p:sp>
      <p:grpSp>
        <p:nvGrpSpPr>
          <p:cNvPr id="60" name="Group 23">
            <a:extLst>
              <a:ext uri="{FF2B5EF4-FFF2-40B4-BE49-F238E27FC236}">
                <a16:creationId xmlns:a16="http://schemas.microsoft.com/office/drawing/2014/main" id="{5E3C7739-966A-0437-F0BA-C6AD78D806CA}"/>
              </a:ext>
            </a:extLst>
          </p:cNvPr>
          <p:cNvGrpSpPr/>
          <p:nvPr/>
        </p:nvGrpSpPr>
        <p:grpSpPr>
          <a:xfrm>
            <a:off x="5267038" y="3388911"/>
            <a:ext cx="331427" cy="310747"/>
            <a:chOff x="6956024" y="2562277"/>
            <a:chExt cx="3867150" cy="3625850"/>
          </a:xfrm>
          <a:solidFill>
            <a:schemeClr val="bg1"/>
          </a:solidFill>
        </p:grpSpPr>
        <p:sp>
          <p:nvSpPr>
            <p:cNvPr id="61" name="Freeform 9">
              <a:extLst>
                <a:ext uri="{FF2B5EF4-FFF2-40B4-BE49-F238E27FC236}">
                  <a16:creationId xmlns:a16="http://schemas.microsoft.com/office/drawing/2014/main" id="{AD23CF2F-8EAB-7E71-5BF4-5C8A939EA4FA}"/>
                </a:ext>
              </a:extLst>
            </p:cNvPr>
            <p:cNvSpPr>
              <a:spLocks noEditPoints="1"/>
            </p:cNvSpPr>
            <p:nvPr/>
          </p:nvSpPr>
          <p:spPr bwMode="auto">
            <a:xfrm>
              <a:off x="6956024" y="2562277"/>
              <a:ext cx="3867150" cy="3625850"/>
            </a:xfrm>
            <a:custGeom>
              <a:avLst/>
              <a:gdLst>
                <a:gd name="T0" fmla="*/ 1009 w 1028"/>
                <a:gd name="T1" fmla="*/ 212 h 964"/>
                <a:gd name="T2" fmla="*/ 817 w 1028"/>
                <a:gd name="T3" fmla="*/ 19 h 964"/>
                <a:gd name="T4" fmla="*/ 771 w 1028"/>
                <a:gd name="T5" fmla="*/ 0 h 964"/>
                <a:gd name="T6" fmla="*/ 96 w 1028"/>
                <a:gd name="T7" fmla="*/ 0 h 964"/>
                <a:gd name="T8" fmla="*/ 0 w 1028"/>
                <a:gd name="T9" fmla="*/ 96 h 964"/>
                <a:gd name="T10" fmla="*/ 0 w 1028"/>
                <a:gd name="T11" fmla="*/ 868 h 964"/>
                <a:gd name="T12" fmla="*/ 96 w 1028"/>
                <a:gd name="T13" fmla="*/ 964 h 964"/>
                <a:gd name="T14" fmla="*/ 932 w 1028"/>
                <a:gd name="T15" fmla="*/ 964 h 964"/>
                <a:gd name="T16" fmla="*/ 1028 w 1028"/>
                <a:gd name="T17" fmla="*/ 868 h 964"/>
                <a:gd name="T18" fmla="*/ 1028 w 1028"/>
                <a:gd name="T19" fmla="*/ 257 h 964"/>
                <a:gd name="T20" fmla="*/ 1009 w 1028"/>
                <a:gd name="T21" fmla="*/ 212 h 964"/>
                <a:gd name="T22" fmla="*/ 964 w 1028"/>
                <a:gd name="T23" fmla="*/ 868 h 964"/>
                <a:gd name="T24" fmla="*/ 932 w 1028"/>
                <a:gd name="T25" fmla="*/ 900 h 964"/>
                <a:gd name="T26" fmla="*/ 96 w 1028"/>
                <a:gd name="T27" fmla="*/ 900 h 964"/>
                <a:gd name="T28" fmla="*/ 64 w 1028"/>
                <a:gd name="T29" fmla="*/ 868 h 964"/>
                <a:gd name="T30" fmla="*/ 64 w 1028"/>
                <a:gd name="T31" fmla="*/ 96 h 964"/>
                <a:gd name="T32" fmla="*/ 96 w 1028"/>
                <a:gd name="T33" fmla="*/ 64 h 964"/>
                <a:gd name="T34" fmla="*/ 739 w 1028"/>
                <a:gd name="T35" fmla="*/ 64 h 964"/>
                <a:gd name="T36" fmla="*/ 739 w 1028"/>
                <a:gd name="T37" fmla="*/ 193 h 964"/>
                <a:gd name="T38" fmla="*/ 739 w 1028"/>
                <a:gd name="T39" fmla="*/ 193 h 964"/>
                <a:gd name="T40" fmla="*/ 835 w 1028"/>
                <a:gd name="T41" fmla="*/ 289 h 964"/>
                <a:gd name="T42" fmla="*/ 868 w 1028"/>
                <a:gd name="T43" fmla="*/ 289 h 964"/>
                <a:gd name="T44" fmla="*/ 964 w 1028"/>
                <a:gd name="T45" fmla="*/ 289 h 964"/>
                <a:gd name="T46" fmla="*/ 964 w 1028"/>
                <a:gd name="T47" fmla="*/ 868 h 964"/>
                <a:gd name="T48" fmla="*/ 868 w 1028"/>
                <a:gd name="T49" fmla="*/ 257 h 964"/>
                <a:gd name="T50" fmla="*/ 835 w 1028"/>
                <a:gd name="T51" fmla="*/ 257 h 964"/>
                <a:gd name="T52" fmla="*/ 771 w 1028"/>
                <a:gd name="T53" fmla="*/ 193 h 964"/>
                <a:gd name="T54" fmla="*/ 771 w 1028"/>
                <a:gd name="T55" fmla="*/ 193 h 964"/>
                <a:gd name="T56" fmla="*/ 771 w 1028"/>
                <a:gd name="T57" fmla="*/ 64 h 964"/>
                <a:gd name="T58" fmla="*/ 964 w 1028"/>
                <a:gd name="T59" fmla="*/ 257 h 964"/>
                <a:gd name="T60" fmla="*/ 868 w 1028"/>
                <a:gd name="T61" fmla="*/ 257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8" h="964">
                  <a:moveTo>
                    <a:pt x="1009" y="212"/>
                  </a:moveTo>
                  <a:cubicBezTo>
                    <a:pt x="817" y="19"/>
                    <a:pt x="817" y="19"/>
                    <a:pt x="817" y="19"/>
                  </a:cubicBezTo>
                  <a:cubicBezTo>
                    <a:pt x="805" y="7"/>
                    <a:pt x="788" y="0"/>
                    <a:pt x="771" y="0"/>
                  </a:cubicBezTo>
                  <a:cubicBezTo>
                    <a:pt x="96" y="0"/>
                    <a:pt x="96" y="0"/>
                    <a:pt x="96" y="0"/>
                  </a:cubicBezTo>
                  <a:cubicBezTo>
                    <a:pt x="43" y="0"/>
                    <a:pt x="0" y="43"/>
                    <a:pt x="0" y="96"/>
                  </a:cubicBezTo>
                  <a:cubicBezTo>
                    <a:pt x="0" y="868"/>
                    <a:pt x="0" y="868"/>
                    <a:pt x="0" y="868"/>
                  </a:cubicBezTo>
                  <a:cubicBezTo>
                    <a:pt x="0" y="921"/>
                    <a:pt x="43" y="964"/>
                    <a:pt x="96" y="964"/>
                  </a:cubicBezTo>
                  <a:cubicBezTo>
                    <a:pt x="932" y="964"/>
                    <a:pt x="932" y="964"/>
                    <a:pt x="932" y="964"/>
                  </a:cubicBezTo>
                  <a:cubicBezTo>
                    <a:pt x="985" y="964"/>
                    <a:pt x="1028" y="921"/>
                    <a:pt x="1028" y="868"/>
                  </a:cubicBezTo>
                  <a:cubicBezTo>
                    <a:pt x="1028" y="257"/>
                    <a:pt x="1028" y="257"/>
                    <a:pt x="1028" y="257"/>
                  </a:cubicBezTo>
                  <a:cubicBezTo>
                    <a:pt x="1028" y="240"/>
                    <a:pt x="1022" y="224"/>
                    <a:pt x="1009" y="212"/>
                  </a:cubicBezTo>
                  <a:close/>
                  <a:moveTo>
                    <a:pt x="964" y="868"/>
                  </a:moveTo>
                  <a:cubicBezTo>
                    <a:pt x="964" y="885"/>
                    <a:pt x="950" y="900"/>
                    <a:pt x="932" y="900"/>
                  </a:cubicBezTo>
                  <a:cubicBezTo>
                    <a:pt x="96" y="900"/>
                    <a:pt x="96" y="900"/>
                    <a:pt x="96" y="900"/>
                  </a:cubicBezTo>
                  <a:cubicBezTo>
                    <a:pt x="79" y="900"/>
                    <a:pt x="64" y="885"/>
                    <a:pt x="64" y="868"/>
                  </a:cubicBezTo>
                  <a:cubicBezTo>
                    <a:pt x="64" y="96"/>
                    <a:pt x="64" y="96"/>
                    <a:pt x="64" y="96"/>
                  </a:cubicBezTo>
                  <a:cubicBezTo>
                    <a:pt x="64" y="79"/>
                    <a:pt x="79" y="64"/>
                    <a:pt x="96" y="64"/>
                  </a:cubicBezTo>
                  <a:cubicBezTo>
                    <a:pt x="739" y="64"/>
                    <a:pt x="739" y="64"/>
                    <a:pt x="739" y="64"/>
                  </a:cubicBezTo>
                  <a:cubicBezTo>
                    <a:pt x="739" y="193"/>
                    <a:pt x="739" y="193"/>
                    <a:pt x="739" y="193"/>
                  </a:cubicBezTo>
                  <a:cubicBezTo>
                    <a:pt x="739" y="193"/>
                    <a:pt x="739" y="193"/>
                    <a:pt x="739" y="193"/>
                  </a:cubicBezTo>
                  <a:cubicBezTo>
                    <a:pt x="739" y="246"/>
                    <a:pt x="782" y="289"/>
                    <a:pt x="835" y="289"/>
                  </a:cubicBezTo>
                  <a:cubicBezTo>
                    <a:pt x="868" y="289"/>
                    <a:pt x="868" y="289"/>
                    <a:pt x="868" y="289"/>
                  </a:cubicBezTo>
                  <a:cubicBezTo>
                    <a:pt x="964" y="289"/>
                    <a:pt x="964" y="289"/>
                    <a:pt x="964" y="289"/>
                  </a:cubicBezTo>
                  <a:lnTo>
                    <a:pt x="964" y="868"/>
                  </a:lnTo>
                  <a:close/>
                  <a:moveTo>
                    <a:pt x="868" y="257"/>
                  </a:moveTo>
                  <a:cubicBezTo>
                    <a:pt x="835" y="257"/>
                    <a:pt x="835" y="257"/>
                    <a:pt x="835" y="257"/>
                  </a:cubicBezTo>
                  <a:cubicBezTo>
                    <a:pt x="800" y="257"/>
                    <a:pt x="771" y="228"/>
                    <a:pt x="771" y="193"/>
                  </a:cubicBezTo>
                  <a:cubicBezTo>
                    <a:pt x="771" y="193"/>
                    <a:pt x="771" y="193"/>
                    <a:pt x="771" y="193"/>
                  </a:cubicBezTo>
                  <a:cubicBezTo>
                    <a:pt x="771" y="64"/>
                    <a:pt x="771" y="64"/>
                    <a:pt x="771" y="64"/>
                  </a:cubicBezTo>
                  <a:cubicBezTo>
                    <a:pt x="964" y="257"/>
                    <a:pt x="964" y="257"/>
                    <a:pt x="964" y="257"/>
                  </a:cubicBezTo>
                  <a:lnTo>
                    <a:pt x="868" y="257"/>
                  </a:ln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2" name="Freeform 10">
              <a:extLst>
                <a:ext uri="{FF2B5EF4-FFF2-40B4-BE49-F238E27FC236}">
                  <a16:creationId xmlns:a16="http://schemas.microsoft.com/office/drawing/2014/main" id="{CA815525-AB3B-3FB4-D982-AA91D2866776}"/>
                </a:ext>
              </a:extLst>
            </p:cNvPr>
            <p:cNvSpPr>
              <a:spLocks/>
            </p:cNvSpPr>
            <p:nvPr/>
          </p:nvSpPr>
          <p:spPr bwMode="auto">
            <a:xfrm>
              <a:off x="8768949" y="328776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3" name="Freeform 11">
              <a:extLst>
                <a:ext uri="{FF2B5EF4-FFF2-40B4-BE49-F238E27FC236}">
                  <a16:creationId xmlns:a16="http://schemas.microsoft.com/office/drawing/2014/main" id="{6D727A50-BD0C-AE6E-406F-A86B75403F78}"/>
                </a:ext>
              </a:extLst>
            </p:cNvPr>
            <p:cNvSpPr>
              <a:spLocks/>
            </p:cNvSpPr>
            <p:nvPr/>
          </p:nvSpPr>
          <p:spPr bwMode="auto">
            <a:xfrm>
              <a:off x="8768949" y="3649715"/>
              <a:ext cx="727075" cy="120650"/>
            </a:xfrm>
            <a:custGeom>
              <a:avLst/>
              <a:gdLst>
                <a:gd name="T0" fmla="*/ 16 w 193"/>
                <a:gd name="T1" fmla="*/ 32 h 32"/>
                <a:gd name="T2" fmla="*/ 177 w 193"/>
                <a:gd name="T3" fmla="*/ 32 h 32"/>
                <a:gd name="T4" fmla="*/ 193 w 193"/>
                <a:gd name="T5" fmla="*/ 16 h 32"/>
                <a:gd name="T6" fmla="*/ 177 w 193"/>
                <a:gd name="T7" fmla="*/ 0 h 32"/>
                <a:gd name="T8" fmla="*/ 16 w 193"/>
                <a:gd name="T9" fmla="*/ 0 h 32"/>
                <a:gd name="T10" fmla="*/ 0 w 193"/>
                <a:gd name="T11" fmla="*/ 16 h 32"/>
                <a:gd name="T12" fmla="*/ 16 w 19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193" h="32">
                  <a:moveTo>
                    <a:pt x="16" y="32"/>
                  </a:moveTo>
                  <a:cubicBezTo>
                    <a:pt x="177" y="32"/>
                    <a:pt x="177" y="32"/>
                    <a:pt x="177" y="32"/>
                  </a:cubicBezTo>
                  <a:cubicBezTo>
                    <a:pt x="186" y="32"/>
                    <a:pt x="193" y="25"/>
                    <a:pt x="193" y="16"/>
                  </a:cubicBezTo>
                  <a:cubicBezTo>
                    <a:pt x="193" y="7"/>
                    <a:pt x="186" y="0"/>
                    <a:pt x="177" y="0"/>
                  </a:cubicBezTo>
                  <a:cubicBezTo>
                    <a:pt x="16" y="0"/>
                    <a:pt x="16" y="0"/>
                    <a:pt x="16" y="0"/>
                  </a:cubicBezTo>
                  <a:cubicBezTo>
                    <a:pt x="7" y="0"/>
                    <a:pt x="0" y="7"/>
                    <a:pt x="0" y="16"/>
                  </a:cubicBezTo>
                  <a:cubicBezTo>
                    <a:pt x="0" y="25"/>
                    <a:pt x="7" y="32"/>
                    <a:pt x="16" y="32"/>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4" name="Freeform 12">
              <a:extLst>
                <a:ext uri="{FF2B5EF4-FFF2-40B4-BE49-F238E27FC236}">
                  <a16:creationId xmlns:a16="http://schemas.microsoft.com/office/drawing/2014/main" id="{B91451EF-CAA3-BE43-3D68-C6E05B11AACB}"/>
                </a:ext>
              </a:extLst>
            </p:cNvPr>
            <p:cNvSpPr>
              <a:spLocks/>
            </p:cNvSpPr>
            <p:nvPr/>
          </p:nvSpPr>
          <p:spPr bwMode="auto">
            <a:xfrm>
              <a:off x="8768949" y="4014840"/>
              <a:ext cx="1573213" cy="120650"/>
            </a:xfrm>
            <a:custGeom>
              <a:avLst/>
              <a:gdLst>
                <a:gd name="T0" fmla="*/ 0 w 418"/>
                <a:gd name="T1" fmla="*/ 16 h 32"/>
                <a:gd name="T2" fmla="*/ 16 w 418"/>
                <a:gd name="T3" fmla="*/ 32 h 32"/>
                <a:gd name="T4" fmla="*/ 402 w 418"/>
                <a:gd name="T5" fmla="*/ 32 h 32"/>
                <a:gd name="T6" fmla="*/ 418 w 418"/>
                <a:gd name="T7" fmla="*/ 16 h 32"/>
                <a:gd name="T8" fmla="*/ 402 w 418"/>
                <a:gd name="T9" fmla="*/ 0 h 32"/>
                <a:gd name="T10" fmla="*/ 16 w 418"/>
                <a:gd name="T11" fmla="*/ 0 h 32"/>
                <a:gd name="T12" fmla="*/ 0 w 418"/>
                <a:gd name="T13" fmla="*/ 16 h 32"/>
              </a:gdLst>
              <a:ahLst/>
              <a:cxnLst>
                <a:cxn ang="0">
                  <a:pos x="T0" y="T1"/>
                </a:cxn>
                <a:cxn ang="0">
                  <a:pos x="T2" y="T3"/>
                </a:cxn>
                <a:cxn ang="0">
                  <a:pos x="T4" y="T5"/>
                </a:cxn>
                <a:cxn ang="0">
                  <a:pos x="T6" y="T7"/>
                </a:cxn>
                <a:cxn ang="0">
                  <a:pos x="T8" y="T9"/>
                </a:cxn>
                <a:cxn ang="0">
                  <a:pos x="T10" y="T11"/>
                </a:cxn>
                <a:cxn ang="0">
                  <a:pos x="T12" y="T13"/>
                </a:cxn>
              </a:cxnLst>
              <a:rect l="0" t="0" r="r" b="b"/>
              <a:pathLst>
                <a:path w="418" h="32">
                  <a:moveTo>
                    <a:pt x="0" y="16"/>
                  </a:moveTo>
                  <a:cubicBezTo>
                    <a:pt x="0" y="25"/>
                    <a:pt x="7" y="32"/>
                    <a:pt x="16" y="32"/>
                  </a:cubicBezTo>
                  <a:cubicBezTo>
                    <a:pt x="402" y="32"/>
                    <a:pt x="402" y="32"/>
                    <a:pt x="402" y="32"/>
                  </a:cubicBezTo>
                  <a:cubicBezTo>
                    <a:pt x="411" y="32"/>
                    <a:pt x="418" y="25"/>
                    <a:pt x="418" y="16"/>
                  </a:cubicBezTo>
                  <a:cubicBezTo>
                    <a:pt x="418" y="7"/>
                    <a:pt x="411" y="0"/>
                    <a:pt x="402" y="0"/>
                  </a:cubicBezTo>
                  <a:cubicBezTo>
                    <a:pt x="16" y="0"/>
                    <a:pt x="16" y="0"/>
                    <a:pt x="16" y="0"/>
                  </a:cubicBezTo>
                  <a:cubicBezTo>
                    <a:pt x="7" y="0"/>
                    <a:pt x="0" y="7"/>
                    <a:pt x="0" y="16"/>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5" name="Freeform 13">
              <a:extLst>
                <a:ext uri="{FF2B5EF4-FFF2-40B4-BE49-F238E27FC236}">
                  <a16:creationId xmlns:a16="http://schemas.microsoft.com/office/drawing/2014/main" id="{5A885AA3-2D28-DDEB-4F7C-7FF191486E54}"/>
                </a:ext>
              </a:extLst>
            </p:cNvPr>
            <p:cNvSpPr>
              <a:spLocks/>
            </p:cNvSpPr>
            <p:nvPr/>
          </p:nvSpPr>
          <p:spPr bwMode="auto">
            <a:xfrm>
              <a:off x="7441799" y="4737152"/>
              <a:ext cx="2900363" cy="123825"/>
            </a:xfrm>
            <a:custGeom>
              <a:avLst/>
              <a:gdLst>
                <a:gd name="T0" fmla="*/ 755 w 771"/>
                <a:gd name="T1" fmla="*/ 0 h 33"/>
                <a:gd name="T2" fmla="*/ 16 w 771"/>
                <a:gd name="T3" fmla="*/ 0 h 33"/>
                <a:gd name="T4" fmla="*/ 0 w 771"/>
                <a:gd name="T5" fmla="*/ 16 h 33"/>
                <a:gd name="T6" fmla="*/ 16 w 771"/>
                <a:gd name="T7" fmla="*/ 33 h 33"/>
                <a:gd name="T8" fmla="*/ 755 w 771"/>
                <a:gd name="T9" fmla="*/ 33 h 33"/>
                <a:gd name="T10" fmla="*/ 771 w 771"/>
                <a:gd name="T11" fmla="*/ 16 h 33"/>
                <a:gd name="T12" fmla="*/ 755 w 771"/>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771" h="33">
                  <a:moveTo>
                    <a:pt x="755" y="0"/>
                  </a:moveTo>
                  <a:cubicBezTo>
                    <a:pt x="16" y="0"/>
                    <a:pt x="16" y="0"/>
                    <a:pt x="16" y="0"/>
                  </a:cubicBezTo>
                  <a:cubicBezTo>
                    <a:pt x="7" y="0"/>
                    <a:pt x="0" y="8"/>
                    <a:pt x="0" y="16"/>
                  </a:cubicBezTo>
                  <a:cubicBezTo>
                    <a:pt x="0" y="25"/>
                    <a:pt x="7" y="33"/>
                    <a:pt x="16" y="33"/>
                  </a:cubicBezTo>
                  <a:cubicBezTo>
                    <a:pt x="755" y="33"/>
                    <a:pt x="755" y="33"/>
                    <a:pt x="755" y="33"/>
                  </a:cubicBezTo>
                  <a:cubicBezTo>
                    <a:pt x="764" y="33"/>
                    <a:pt x="771" y="25"/>
                    <a:pt x="771" y="16"/>
                  </a:cubicBezTo>
                  <a:cubicBezTo>
                    <a:pt x="771" y="8"/>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6" name="Freeform 14">
              <a:extLst>
                <a:ext uri="{FF2B5EF4-FFF2-40B4-BE49-F238E27FC236}">
                  <a16:creationId xmlns:a16="http://schemas.microsoft.com/office/drawing/2014/main" id="{C733B460-1C19-E05D-A158-8F5E30E973E9}"/>
                </a:ext>
              </a:extLst>
            </p:cNvPr>
            <p:cNvSpPr>
              <a:spLocks/>
            </p:cNvSpPr>
            <p:nvPr/>
          </p:nvSpPr>
          <p:spPr bwMode="auto">
            <a:xfrm>
              <a:off x="7441799" y="5102277"/>
              <a:ext cx="2900363" cy="119063"/>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7" name="Freeform 15">
              <a:extLst>
                <a:ext uri="{FF2B5EF4-FFF2-40B4-BE49-F238E27FC236}">
                  <a16:creationId xmlns:a16="http://schemas.microsoft.com/office/drawing/2014/main" id="{B7829262-BCD7-2A28-83E2-F9EFDB0A1B9C}"/>
                </a:ext>
              </a:extLst>
            </p:cNvPr>
            <p:cNvSpPr>
              <a:spLocks/>
            </p:cNvSpPr>
            <p:nvPr/>
          </p:nvSpPr>
          <p:spPr bwMode="auto">
            <a:xfrm>
              <a:off x="7441799" y="5462640"/>
              <a:ext cx="2900363" cy="120650"/>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8" name="Freeform 16">
              <a:extLst>
                <a:ext uri="{FF2B5EF4-FFF2-40B4-BE49-F238E27FC236}">
                  <a16:creationId xmlns:a16="http://schemas.microsoft.com/office/drawing/2014/main" id="{AAEF60E0-9EA4-2462-017C-13B68EF95193}"/>
                </a:ext>
              </a:extLst>
            </p:cNvPr>
            <p:cNvSpPr>
              <a:spLocks/>
            </p:cNvSpPr>
            <p:nvPr/>
          </p:nvSpPr>
          <p:spPr bwMode="auto">
            <a:xfrm>
              <a:off x="7441794" y="4375208"/>
              <a:ext cx="2900360" cy="120649"/>
            </a:xfrm>
            <a:custGeom>
              <a:avLst/>
              <a:gdLst>
                <a:gd name="T0" fmla="*/ 755 w 771"/>
                <a:gd name="T1" fmla="*/ 0 h 32"/>
                <a:gd name="T2" fmla="*/ 16 w 771"/>
                <a:gd name="T3" fmla="*/ 0 h 32"/>
                <a:gd name="T4" fmla="*/ 0 w 771"/>
                <a:gd name="T5" fmla="*/ 16 h 32"/>
                <a:gd name="T6" fmla="*/ 16 w 771"/>
                <a:gd name="T7" fmla="*/ 32 h 32"/>
                <a:gd name="T8" fmla="*/ 755 w 771"/>
                <a:gd name="T9" fmla="*/ 32 h 32"/>
                <a:gd name="T10" fmla="*/ 771 w 771"/>
                <a:gd name="T11" fmla="*/ 16 h 32"/>
                <a:gd name="T12" fmla="*/ 755 w 771"/>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71" h="32">
                  <a:moveTo>
                    <a:pt x="755" y="0"/>
                  </a:moveTo>
                  <a:cubicBezTo>
                    <a:pt x="16" y="0"/>
                    <a:pt x="16" y="0"/>
                    <a:pt x="16" y="0"/>
                  </a:cubicBezTo>
                  <a:cubicBezTo>
                    <a:pt x="7" y="0"/>
                    <a:pt x="0" y="7"/>
                    <a:pt x="0" y="16"/>
                  </a:cubicBezTo>
                  <a:cubicBezTo>
                    <a:pt x="0" y="25"/>
                    <a:pt x="7" y="32"/>
                    <a:pt x="16" y="32"/>
                  </a:cubicBezTo>
                  <a:cubicBezTo>
                    <a:pt x="755" y="32"/>
                    <a:pt x="755" y="32"/>
                    <a:pt x="755" y="32"/>
                  </a:cubicBezTo>
                  <a:cubicBezTo>
                    <a:pt x="764" y="32"/>
                    <a:pt x="771" y="25"/>
                    <a:pt x="771" y="16"/>
                  </a:cubicBezTo>
                  <a:cubicBezTo>
                    <a:pt x="771" y="7"/>
                    <a:pt x="764" y="0"/>
                    <a:pt x="755" y="0"/>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9" name="Freeform 17">
              <a:extLst>
                <a:ext uri="{FF2B5EF4-FFF2-40B4-BE49-F238E27FC236}">
                  <a16:creationId xmlns:a16="http://schemas.microsoft.com/office/drawing/2014/main" id="{C7D4B6CA-191D-1F3C-CB51-742483FA75ED}"/>
                </a:ext>
              </a:extLst>
            </p:cNvPr>
            <p:cNvSpPr>
              <a:spLocks noEditPoints="1"/>
            </p:cNvSpPr>
            <p:nvPr/>
          </p:nvSpPr>
          <p:spPr bwMode="auto">
            <a:xfrm>
              <a:off x="7441799" y="3168702"/>
              <a:ext cx="1087438" cy="966788"/>
            </a:xfrm>
            <a:custGeom>
              <a:avLst/>
              <a:gdLst>
                <a:gd name="T0" fmla="*/ 32 w 289"/>
                <a:gd name="T1" fmla="*/ 257 h 257"/>
                <a:gd name="T2" fmla="*/ 257 w 289"/>
                <a:gd name="T3" fmla="*/ 257 h 257"/>
                <a:gd name="T4" fmla="*/ 289 w 289"/>
                <a:gd name="T5" fmla="*/ 225 h 257"/>
                <a:gd name="T6" fmla="*/ 289 w 289"/>
                <a:gd name="T7" fmla="*/ 32 h 257"/>
                <a:gd name="T8" fmla="*/ 257 w 289"/>
                <a:gd name="T9" fmla="*/ 0 h 257"/>
                <a:gd name="T10" fmla="*/ 32 w 289"/>
                <a:gd name="T11" fmla="*/ 0 h 257"/>
                <a:gd name="T12" fmla="*/ 0 w 289"/>
                <a:gd name="T13" fmla="*/ 32 h 257"/>
                <a:gd name="T14" fmla="*/ 0 w 289"/>
                <a:gd name="T15" fmla="*/ 225 h 257"/>
                <a:gd name="T16" fmla="*/ 32 w 289"/>
                <a:gd name="T17" fmla="*/ 257 h 257"/>
                <a:gd name="T18" fmla="*/ 64 w 289"/>
                <a:gd name="T19" fmla="*/ 64 h 257"/>
                <a:gd name="T20" fmla="*/ 224 w 289"/>
                <a:gd name="T21" fmla="*/ 64 h 257"/>
                <a:gd name="T22" fmla="*/ 224 w 289"/>
                <a:gd name="T23" fmla="*/ 192 h 257"/>
                <a:gd name="T24" fmla="*/ 64 w 289"/>
                <a:gd name="T25" fmla="*/ 192 h 257"/>
                <a:gd name="T26" fmla="*/ 64 w 289"/>
                <a:gd name="T27" fmla="*/ 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257">
                  <a:moveTo>
                    <a:pt x="32" y="257"/>
                  </a:moveTo>
                  <a:cubicBezTo>
                    <a:pt x="257" y="257"/>
                    <a:pt x="257" y="257"/>
                    <a:pt x="257" y="257"/>
                  </a:cubicBezTo>
                  <a:cubicBezTo>
                    <a:pt x="274" y="257"/>
                    <a:pt x="289" y="242"/>
                    <a:pt x="289" y="225"/>
                  </a:cubicBezTo>
                  <a:cubicBezTo>
                    <a:pt x="289" y="32"/>
                    <a:pt x="289" y="32"/>
                    <a:pt x="289" y="32"/>
                  </a:cubicBezTo>
                  <a:cubicBezTo>
                    <a:pt x="289" y="14"/>
                    <a:pt x="274" y="0"/>
                    <a:pt x="257" y="0"/>
                  </a:cubicBezTo>
                  <a:cubicBezTo>
                    <a:pt x="32" y="0"/>
                    <a:pt x="32" y="0"/>
                    <a:pt x="32" y="0"/>
                  </a:cubicBezTo>
                  <a:cubicBezTo>
                    <a:pt x="14" y="0"/>
                    <a:pt x="0" y="14"/>
                    <a:pt x="0" y="32"/>
                  </a:cubicBezTo>
                  <a:cubicBezTo>
                    <a:pt x="0" y="225"/>
                    <a:pt x="0" y="225"/>
                    <a:pt x="0" y="225"/>
                  </a:cubicBezTo>
                  <a:cubicBezTo>
                    <a:pt x="0" y="242"/>
                    <a:pt x="14" y="257"/>
                    <a:pt x="32" y="257"/>
                  </a:cubicBezTo>
                  <a:close/>
                  <a:moveTo>
                    <a:pt x="64" y="64"/>
                  </a:moveTo>
                  <a:cubicBezTo>
                    <a:pt x="224" y="64"/>
                    <a:pt x="224" y="64"/>
                    <a:pt x="224" y="64"/>
                  </a:cubicBezTo>
                  <a:cubicBezTo>
                    <a:pt x="224" y="192"/>
                    <a:pt x="224" y="192"/>
                    <a:pt x="224" y="192"/>
                  </a:cubicBezTo>
                  <a:cubicBezTo>
                    <a:pt x="64" y="192"/>
                    <a:pt x="64" y="192"/>
                    <a:pt x="64" y="192"/>
                  </a:cubicBezTo>
                  <a:lnTo>
                    <a:pt x="64" y="64"/>
                  </a:ln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6" name="Rectangle 5">
            <a:extLst>
              <a:ext uri="{FF2B5EF4-FFF2-40B4-BE49-F238E27FC236}">
                <a16:creationId xmlns:a16="http://schemas.microsoft.com/office/drawing/2014/main" id="{F5949D3D-15F9-CA1B-0C3F-9718F6839593}"/>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2" name="ZoneTexte 11">
            <a:extLst>
              <a:ext uri="{FF2B5EF4-FFF2-40B4-BE49-F238E27FC236}">
                <a16:creationId xmlns:a16="http://schemas.microsoft.com/office/drawing/2014/main" id="{5CC50A38-F100-EC8B-1387-1418B2C35C33}"/>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15</a:t>
            </a:r>
          </a:p>
        </p:txBody>
      </p:sp>
    </p:spTree>
    <p:extLst>
      <p:ext uri="{BB962C8B-B14F-4D97-AF65-F5344CB8AC3E}">
        <p14:creationId xmlns:p14="http://schemas.microsoft.com/office/powerpoint/2010/main" val="34632603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par>
                          <p:cTn id="18" fill="hold">
                            <p:stCondLst>
                              <p:cond delay="1500"/>
                            </p:stCondLst>
                            <p:childTnLst>
                              <p:par>
                                <p:cTn id="19" presetID="53" presetClass="entr" presetSubtype="16"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par>
                          <p:cTn id="24" fill="hold">
                            <p:stCondLst>
                              <p:cond delay="2000"/>
                            </p:stCondLst>
                            <p:childTnLst>
                              <p:par>
                                <p:cTn id="25" presetID="22" presetClass="entr" presetSubtype="2"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right)">
                                      <p:cBhvr>
                                        <p:cTn id="27" dur="500"/>
                                        <p:tgtEl>
                                          <p:spTgt spid="10"/>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26"/>
                                        </p:tgtEl>
                                        <p:attrNameLst>
                                          <p:attrName>style.visibility</p:attrName>
                                        </p:attrNameLst>
                                      </p:cBhvr>
                                      <p:to>
                                        <p:strVal val="visible"/>
                                      </p:to>
                                    </p:set>
                                    <p:anim calcmode="lin" valueType="num">
                                      <p:cBhvr>
                                        <p:cTn id="38" dur="500" fill="hold"/>
                                        <p:tgtEl>
                                          <p:spTgt spid="26"/>
                                        </p:tgtEl>
                                        <p:attrNameLst>
                                          <p:attrName>ppt_w</p:attrName>
                                        </p:attrNameLst>
                                      </p:cBhvr>
                                      <p:tavLst>
                                        <p:tav tm="0">
                                          <p:val>
                                            <p:fltVal val="0"/>
                                          </p:val>
                                        </p:tav>
                                        <p:tav tm="100000">
                                          <p:val>
                                            <p:strVal val="#ppt_w"/>
                                          </p:val>
                                        </p:tav>
                                      </p:tavLst>
                                    </p:anim>
                                    <p:anim calcmode="lin" valueType="num">
                                      <p:cBhvr>
                                        <p:cTn id="39" dur="500" fill="hold"/>
                                        <p:tgtEl>
                                          <p:spTgt spid="26"/>
                                        </p:tgtEl>
                                        <p:attrNameLst>
                                          <p:attrName>ppt_h</p:attrName>
                                        </p:attrNameLst>
                                      </p:cBhvr>
                                      <p:tavLst>
                                        <p:tav tm="0">
                                          <p:val>
                                            <p:fltVal val="0"/>
                                          </p:val>
                                        </p:tav>
                                        <p:tav tm="100000">
                                          <p:val>
                                            <p:strVal val="#ppt_h"/>
                                          </p:val>
                                        </p:tav>
                                      </p:tavLst>
                                    </p:anim>
                                    <p:animEffect transition="in" filter="fade">
                                      <p:cBhvr>
                                        <p:cTn id="40" dur="500"/>
                                        <p:tgtEl>
                                          <p:spTgt spid="26"/>
                                        </p:tgtEl>
                                      </p:cBhvr>
                                    </p:animEffect>
                                  </p:childTnLst>
                                </p:cTn>
                              </p:par>
                            </p:childTnLst>
                          </p:cTn>
                        </p:par>
                        <p:par>
                          <p:cTn id="41" fill="hold">
                            <p:stCondLst>
                              <p:cond delay="3500"/>
                            </p:stCondLst>
                            <p:childTnLst>
                              <p:par>
                                <p:cTn id="42" presetID="22" presetClass="entr" presetSubtype="1"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up)">
                                      <p:cBhvr>
                                        <p:cTn id="44" dur="500"/>
                                        <p:tgtEl>
                                          <p:spTgt spid="27"/>
                                        </p:tgtEl>
                                      </p:cBhvr>
                                    </p:animEffect>
                                  </p:childTnLst>
                                </p:cTn>
                              </p:par>
                            </p:childTnLst>
                          </p:cTn>
                        </p:par>
                        <p:par>
                          <p:cTn id="45" fill="hold">
                            <p:stCondLst>
                              <p:cond delay="4000"/>
                            </p:stCondLst>
                            <p:childTnLst>
                              <p:par>
                                <p:cTn id="46" presetID="53" presetClass="entr" presetSubtype="16" fill="hold" grpId="0" nodeType="after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p:cTn id="48" dur="500" fill="hold"/>
                                        <p:tgtEl>
                                          <p:spTgt spid="28"/>
                                        </p:tgtEl>
                                        <p:attrNameLst>
                                          <p:attrName>ppt_w</p:attrName>
                                        </p:attrNameLst>
                                      </p:cBhvr>
                                      <p:tavLst>
                                        <p:tav tm="0">
                                          <p:val>
                                            <p:fltVal val="0"/>
                                          </p:val>
                                        </p:tav>
                                        <p:tav tm="100000">
                                          <p:val>
                                            <p:strVal val="#ppt_w"/>
                                          </p:val>
                                        </p:tav>
                                      </p:tavLst>
                                    </p:anim>
                                    <p:anim calcmode="lin" valueType="num">
                                      <p:cBhvr>
                                        <p:cTn id="49" dur="500" fill="hold"/>
                                        <p:tgtEl>
                                          <p:spTgt spid="28"/>
                                        </p:tgtEl>
                                        <p:attrNameLst>
                                          <p:attrName>ppt_h</p:attrName>
                                        </p:attrNameLst>
                                      </p:cBhvr>
                                      <p:tavLst>
                                        <p:tav tm="0">
                                          <p:val>
                                            <p:fltVal val="0"/>
                                          </p:val>
                                        </p:tav>
                                        <p:tav tm="100000">
                                          <p:val>
                                            <p:strVal val="#ppt_h"/>
                                          </p:val>
                                        </p:tav>
                                      </p:tavLst>
                                    </p:anim>
                                    <p:animEffect transition="in" filter="fade">
                                      <p:cBhvr>
                                        <p:cTn id="50" dur="500"/>
                                        <p:tgtEl>
                                          <p:spTgt spid="28"/>
                                        </p:tgtEl>
                                      </p:cBhvr>
                                    </p:animEffect>
                                  </p:childTnLst>
                                </p:cTn>
                              </p:par>
                            </p:childTnLst>
                          </p:cTn>
                        </p:par>
                        <p:par>
                          <p:cTn id="51" fill="hold">
                            <p:stCondLst>
                              <p:cond delay="4500"/>
                            </p:stCondLst>
                            <p:childTnLst>
                              <p:par>
                                <p:cTn id="52" presetID="22" presetClass="entr" presetSubtype="8" fill="hold"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500"/>
                                        <p:tgtEl>
                                          <p:spTgt spid="29"/>
                                        </p:tgtEl>
                                      </p:cBhvr>
                                    </p:animEffect>
                                  </p:childTnLst>
                                </p:cTn>
                              </p:par>
                            </p:childTnLst>
                          </p:cTn>
                        </p:par>
                        <p:par>
                          <p:cTn id="55" fill="hold">
                            <p:stCondLst>
                              <p:cond delay="5000"/>
                            </p:stCondLst>
                            <p:childTnLst>
                              <p:par>
                                <p:cTn id="56" presetID="22" presetClass="entr" presetSubtype="1" fill="hold"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up)">
                                      <p:cBhvr>
                                        <p:cTn id="58" dur="5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childTnLst>
                          </p:cTn>
                        </p:par>
                        <p:par>
                          <p:cTn id="62" fill="hold">
                            <p:stCondLst>
                              <p:cond delay="5500"/>
                            </p:stCondLst>
                            <p:childTnLst>
                              <p:par>
                                <p:cTn id="63" presetID="10" presetClass="entr" presetSubtype="0" fill="hold" grpId="0" nodeType="after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fade">
                                      <p:cBhvr>
                                        <p:cTn id="6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4" grpId="0" animBg="1"/>
      <p:bldP spid="14" grpId="0" animBg="1"/>
      <p:bldP spid="28" grpId="0" animBg="1"/>
      <p:bldP spid="5" grpId="0" animBg="1"/>
      <p:bldP spid="9"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
            <a:extLst>
              <a:ext uri="{FF2B5EF4-FFF2-40B4-BE49-F238E27FC236}">
                <a16:creationId xmlns:a16="http://schemas.microsoft.com/office/drawing/2014/main" id="{EED4756B-6DF0-FB59-4E28-09A08788764A}"/>
              </a:ext>
            </a:extLst>
          </p:cNvPr>
          <p:cNvSpPr txBox="1"/>
          <p:nvPr/>
        </p:nvSpPr>
        <p:spPr>
          <a:xfrm>
            <a:off x="2962924" y="614937"/>
            <a:ext cx="3133310" cy="830997"/>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de-DE" sz="4800">
                <a:solidFill>
                  <a:schemeClr val="bg1">
                    <a:lumMod val="50000"/>
                  </a:schemeClr>
                </a:solidFill>
                <a:latin typeface="+mj-lt"/>
              </a:rPr>
              <a:t>WordPress</a:t>
            </a:r>
            <a:endParaRPr lang="en-US" sz="4800">
              <a:solidFill>
                <a:schemeClr val="bg1">
                  <a:lumMod val="50000"/>
                </a:schemeClr>
              </a:solidFill>
              <a:latin typeface="+mj-lt"/>
            </a:endParaRPr>
          </a:p>
        </p:txBody>
      </p:sp>
      <p:cxnSp>
        <p:nvCxnSpPr>
          <p:cNvPr id="5" name="Straight Connector 30">
            <a:extLst>
              <a:ext uri="{FF2B5EF4-FFF2-40B4-BE49-F238E27FC236}">
                <a16:creationId xmlns:a16="http://schemas.microsoft.com/office/drawing/2014/main" id="{6D28FBB4-8A05-B353-0227-5A036F384292}"/>
              </a:ext>
            </a:extLst>
          </p:cNvPr>
          <p:cNvCxnSpPr>
            <a:cxnSpLocks/>
          </p:cNvCxnSpPr>
          <p:nvPr/>
        </p:nvCxnSpPr>
        <p:spPr>
          <a:xfrm>
            <a:off x="4529579" y="1"/>
            <a:ext cx="0" cy="569204"/>
          </a:xfrm>
          <a:prstGeom prst="line">
            <a:avLst/>
          </a:prstGeom>
          <a:ln w="25400">
            <a:solidFill>
              <a:schemeClr val="bg1">
                <a:lumMod val="85000"/>
              </a:schemeClr>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6" name="TextBox 67">
            <a:extLst>
              <a:ext uri="{FF2B5EF4-FFF2-40B4-BE49-F238E27FC236}">
                <a16:creationId xmlns:a16="http://schemas.microsoft.com/office/drawing/2014/main" id="{84822483-DF87-C810-04B1-8327FBB9FDFB}"/>
              </a:ext>
            </a:extLst>
          </p:cNvPr>
          <p:cNvSpPr txBox="1"/>
          <p:nvPr/>
        </p:nvSpPr>
        <p:spPr>
          <a:xfrm>
            <a:off x="-855699" y="1671691"/>
            <a:ext cx="3900499" cy="830997"/>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id-ID" sz="2400" b="1">
                <a:solidFill>
                  <a:schemeClr val="bg1">
                    <a:lumMod val="50000"/>
                  </a:schemeClr>
                </a:solidFill>
                <a:latin typeface="+mj-lt"/>
              </a:rPr>
              <a:t>Pourquoi choisir </a:t>
            </a:r>
            <a:endParaRPr lang="de-DE" sz="2400" b="1">
              <a:solidFill>
                <a:schemeClr val="bg1">
                  <a:lumMod val="50000"/>
                </a:schemeClr>
              </a:solidFill>
              <a:latin typeface="+mj-lt"/>
            </a:endParaRPr>
          </a:p>
          <a:p>
            <a:pPr algn="r"/>
            <a:r>
              <a:rPr lang="id-ID" sz="2400" b="1">
                <a:solidFill>
                  <a:schemeClr val="bg1">
                    <a:lumMod val="50000"/>
                  </a:schemeClr>
                </a:solidFill>
                <a:latin typeface="+mj-lt"/>
              </a:rPr>
              <a:t>WordPress ?</a:t>
            </a:r>
          </a:p>
        </p:txBody>
      </p:sp>
      <p:sp>
        <p:nvSpPr>
          <p:cNvPr id="8" name="Rectangle 7">
            <a:extLst>
              <a:ext uri="{FF2B5EF4-FFF2-40B4-BE49-F238E27FC236}">
                <a16:creationId xmlns:a16="http://schemas.microsoft.com/office/drawing/2014/main" id="{71A00F9E-0116-71AB-2C2C-5747D9ACAB93}"/>
              </a:ext>
            </a:extLst>
          </p:cNvPr>
          <p:cNvSpPr/>
          <p:nvPr/>
        </p:nvSpPr>
        <p:spPr>
          <a:xfrm>
            <a:off x="3214923" y="1673547"/>
            <a:ext cx="891079" cy="840051"/>
          </a:xfrm>
          <a:prstGeom prst="rect">
            <a:avLst/>
          </a:prstGeom>
          <a:solidFill>
            <a:schemeClr val="accent5"/>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9" name="Freeform 15">
            <a:extLst>
              <a:ext uri="{FF2B5EF4-FFF2-40B4-BE49-F238E27FC236}">
                <a16:creationId xmlns:a16="http://schemas.microsoft.com/office/drawing/2014/main" id="{F52E63D5-9783-9207-D286-EB5E13F67D16}"/>
              </a:ext>
            </a:extLst>
          </p:cNvPr>
          <p:cNvSpPr>
            <a:spLocks noEditPoints="1"/>
          </p:cNvSpPr>
          <p:nvPr/>
        </p:nvSpPr>
        <p:spPr bwMode="auto">
          <a:xfrm>
            <a:off x="3438822" y="1926527"/>
            <a:ext cx="447469" cy="336076"/>
          </a:xfrm>
          <a:custGeom>
            <a:avLst/>
            <a:gdLst>
              <a:gd name="T0" fmla="*/ 573 w 696"/>
              <a:gd name="T1" fmla="*/ 13 h 522"/>
              <a:gd name="T2" fmla="*/ 154 w 696"/>
              <a:gd name="T3" fmla="*/ 0 h 522"/>
              <a:gd name="T4" fmla="*/ 13 w 696"/>
              <a:gd name="T5" fmla="*/ 123 h 522"/>
              <a:gd name="T6" fmla="*/ 11 w 696"/>
              <a:gd name="T7" fmla="*/ 183 h 522"/>
              <a:gd name="T8" fmla="*/ 348 w 696"/>
              <a:gd name="T9" fmla="*/ 522 h 522"/>
              <a:gd name="T10" fmla="*/ 685 w 696"/>
              <a:gd name="T11" fmla="*/ 183 h 522"/>
              <a:gd name="T12" fmla="*/ 683 w 696"/>
              <a:gd name="T13" fmla="*/ 123 h 522"/>
              <a:gd name="T14" fmla="*/ 300 w 696"/>
              <a:gd name="T15" fmla="*/ 152 h 522"/>
              <a:gd name="T16" fmla="*/ 396 w 696"/>
              <a:gd name="T17" fmla="*/ 152 h 522"/>
              <a:gd name="T18" fmla="*/ 424 w 696"/>
              <a:gd name="T19" fmla="*/ 48 h 522"/>
              <a:gd name="T20" fmla="*/ 413 w 696"/>
              <a:gd name="T21" fmla="*/ 138 h 522"/>
              <a:gd name="T22" fmla="*/ 283 w 696"/>
              <a:gd name="T23" fmla="*/ 138 h 522"/>
              <a:gd name="T24" fmla="*/ 272 w 696"/>
              <a:gd name="T25" fmla="*/ 48 h 522"/>
              <a:gd name="T26" fmla="*/ 283 w 696"/>
              <a:gd name="T27" fmla="*/ 138 h 522"/>
              <a:gd name="T28" fmla="*/ 348 w 696"/>
              <a:gd name="T29" fmla="*/ 445 h 522"/>
              <a:gd name="T30" fmla="*/ 402 w 696"/>
              <a:gd name="T31" fmla="*/ 174 h 522"/>
              <a:gd name="T32" fmla="*/ 531 w 696"/>
              <a:gd name="T33" fmla="*/ 174 h 522"/>
              <a:gd name="T34" fmla="*/ 424 w 696"/>
              <a:gd name="T35" fmla="*/ 174 h 522"/>
              <a:gd name="T36" fmla="*/ 484 w 696"/>
              <a:gd name="T37" fmla="*/ 108 h 522"/>
              <a:gd name="T38" fmla="*/ 430 w 696"/>
              <a:gd name="T39" fmla="*/ 152 h 522"/>
              <a:gd name="T40" fmla="*/ 527 w 696"/>
              <a:gd name="T41" fmla="*/ 44 h 522"/>
              <a:gd name="T42" fmla="*/ 450 w 696"/>
              <a:gd name="T43" fmla="*/ 44 h 522"/>
              <a:gd name="T44" fmla="*/ 300 w 696"/>
              <a:gd name="T45" fmla="*/ 44 h 522"/>
              <a:gd name="T46" fmla="*/ 348 w 696"/>
              <a:gd name="T47" fmla="*/ 84 h 522"/>
              <a:gd name="T48" fmla="*/ 169 w 696"/>
              <a:gd name="T49" fmla="*/ 44 h 522"/>
              <a:gd name="T50" fmla="*/ 211 w 696"/>
              <a:gd name="T51" fmla="*/ 78 h 522"/>
              <a:gd name="T52" fmla="*/ 266 w 696"/>
              <a:gd name="T53" fmla="*/ 152 h 522"/>
              <a:gd name="T54" fmla="*/ 212 w 696"/>
              <a:gd name="T55" fmla="*/ 108 h 522"/>
              <a:gd name="T56" fmla="*/ 325 w 696"/>
              <a:gd name="T57" fmla="*/ 441 h 522"/>
              <a:gd name="T58" fmla="*/ 272 w 696"/>
              <a:gd name="T59" fmla="*/ 174 h 522"/>
              <a:gd name="T60" fmla="*/ 62 w 696"/>
              <a:gd name="T61" fmla="*/ 174 h 522"/>
              <a:gd name="T62" fmla="*/ 276 w 696"/>
              <a:gd name="T63" fmla="*/ 402 h 522"/>
              <a:gd name="T64" fmla="*/ 634 w 696"/>
              <a:gd name="T65" fmla="*/ 174 h 522"/>
              <a:gd name="T66" fmla="*/ 556 w 696"/>
              <a:gd name="T67" fmla="*/ 174 h 522"/>
              <a:gd name="T68" fmla="*/ 501 w 696"/>
              <a:gd name="T69" fmla="*/ 94 h 522"/>
              <a:gd name="T70" fmla="*/ 651 w 696"/>
              <a:gd name="T71" fmla="*/ 152 h 522"/>
              <a:gd name="T72" fmla="*/ 145 w 696"/>
              <a:gd name="T73" fmla="*/ 52 h 522"/>
              <a:gd name="T74" fmla="*/ 137 w 696"/>
              <a:gd name="T75" fmla="*/ 152 h 522"/>
              <a:gd name="T76" fmla="*/ 145 w 696"/>
              <a:gd name="T77" fmla="*/ 52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2" name="Isosceles Triangle 1">
            <a:extLst>
              <a:ext uri="{FF2B5EF4-FFF2-40B4-BE49-F238E27FC236}">
                <a16:creationId xmlns:a16="http://schemas.microsoft.com/office/drawing/2014/main" id="{3E43A769-9C70-55D3-2C02-D553D781376C}"/>
              </a:ext>
            </a:extLst>
          </p:cNvPr>
          <p:cNvSpPr/>
          <p:nvPr/>
        </p:nvSpPr>
        <p:spPr>
          <a:xfrm rot="10800000">
            <a:off x="4430598" y="1420701"/>
            <a:ext cx="197963" cy="116857"/>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14" name="Straight Connector 10">
            <a:extLst>
              <a:ext uri="{FF2B5EF4-FFF2-40B4-BE49-F238E27FC236}">
                <a16:creationId xmlns:a16="http://schemas.microsoft.com/office/drawing/2014/main" id="{1A600004-AEEA-FBD1-3C11-734B63D0A5B5}"/>
              </a:ext>
            </a:extLst>
          </p:cNvPr>
          <p:cNvCxnSpPr>
            <a:cxnSpLocks/>
          </p:cNvCxnSpPr>
          <p:nvPr/>
        </p:nvCxnSpPr>
        <p:spPr>
          <a:xfrm>
            <a:off x="4529579" y="1526299"/>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cxnSp>
        <p:nvCxnSpPr>
          <p:cNvPr id="16" name="Straight Connector 9">
            <a:extLst>
              <a:ext uri="{FF2B5EF4-FFF2-40B4-BE49-F238E27FC236}">
                <a16:creationId xmlns:a16="http://schemas.microsoft.com/office/drawing/2014/main" id="{A2F1772E-A352-2911-B250-7343B33F83FE}"/>
              </a:ext>
            </a:extLst>
          </p:cNvPr>
          <p:cNvCxnSpPr>
            <a:cxnSpLocks/>
          </p:cNvCxnSpPr>
          <p:nvPr/>
        </p:nvCxnSpPr>
        <p:spPr>
          <a:xfrm>
            <a:off x="4108897" y="2118109"/>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F183817-661C-2A92-716D-037E3E77FE22}"/>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0" name="ZoneTexte 9">
            <a:extLst>
              <a:ext uri="{FF2B5EF4-FFF2-40B4-BE49-F238E27FC236}">
                <a16:creationId xmlns:a16="http://schemas.microsoft.com/office/drawing/2014/main" id="{E3C22F44-1FE3-C2AF-1ADA-F6B76353F462}"/>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16</a:t>
            </a:r>
          </a:p>
        </p:txBody>
      </p:sp>
    </p:spTree>
    <p:extLst>
      <p:ext uri="{BB962C8B-B14F-4D97-AF65-F5344CB8AC3E}">
        <p14:creationId xmlns:p14="http://schemas.microsoft.com/office/powerpoint/2010/main" val="319577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par>
                          <p:cTn id="18" fill="hold">
                            <p:stCondLst>
                              <p:cond delay="1500"/>
                            </p:stCondLst>
                            <p:childTnLst>
                              <p:par>
                                <p:cTn id="19" presetID="22" presetClass="entr" presetSubtype="2"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right)">
                                      <p:cBhvr>
                                        <p:cTn id="21" dur="500"/>
                                        <p:tgtEl>
                                          <p:spTgt spid="16"/>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3CBFC3-9970-1C5C-D3D8-02DABC247DA3}"/>
              </a:ext>
            </a:extLst>
          </p:cNvPr>
          <p:cNvSpPr/>
          <p:nvPr/>
        </p:nvSpPr>
        <p:spPr>
          <a:xfrm>
            <a:off x="2559021" y="184178"/>
            <a:ext cx="3548428" cy="13166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ea typeface="Calibri"/>
                <a:cs typeface="Calibri"/>
              </a:rPr>
              <a:t>CMS POPULAIRES</a:t>
            </a:r>
          </a:p>
        </p:txBody>
      </p:sp>
      <p:pic>
        <p:nvPicPr>
          <p:cNvPr id="3" name="Image 2" descr="What Is Drupal? | Drupalize.Me">
            <a:extLst>
              <a:ext uri="{FF2B5EF4-FFF2-40B4-BE49-F238E27FC236}">
                <a16:creationId xmlns:a16="http://schemas.microsoft.com/office/drawing/2014/main" id="{B8D846C7-6438-97D1-472C-81FB21152AE4}"/>
              </a:ext>
            </a:extLst>
          </p:cNvPr>
          <p:cNvPicPr>
            <a:picLocks noChangeAspect="1"/>
          </p:cNvPicPr>
          <p:nvPr/>
        </p:nvPicPr>
        <p:blipFill>
          <a:blip r:embed="rId2"/>
          <a:stretch>
            <a:fillRect/>
          </a:stretch>
        </p:blipFill>
        <p:spPr>
          <a:xfrm>
            <a:off x="2724666" y="2873137"/>
            <a:ext cx="1527771" cy="1163097"/>
          </a:xfrm>
          <a:prstGeom prst="rect">
            <a:avLst/>
          </a:prstGeom>
        </p:spPr>
      </p:pic>
      <p:pic>
        <p:nvPicPr>
          <p:cNvPr id="4" name="Image 3" descr="Plugin Joomla - Installation et configuration – Accueil">
            <a:extLst>
              <a:ext uri="{FF2B5EF4-FFF2-40B4-BE49-F238E27FC236}">
                <a16:creationId xmlns:a16="http://schemas.microsoft.com/office/drawing/2014/main" id="{0CFDDDD5-A704-ADE6-EB59-16C9E41C496C}"/>
              </a:ext>
            </a:extLst>
          </p:cNvPr>
          <p:cNvPicPr>
            <a:picLocks noChangeAspect="1"/>
          </p:cNvPicPr>
          <p:nvPr/>
        </p:nvPicPr>
        <p:blipFill>
          <a:blip r:embed="rId3"/>
          <a:stretch>
            <a:fillRect/>
          </a:stretch>
        </p:blipFill>
        <p:spPr>
          <a:xfrm>
            <a:off x="4573289" y="2574426"/>
            <a:ext cx="2420742" cy="2009347"/>
          </a:xfrm>
          <a:prstGeom prst="rect">
            <a:avLst/>
          </a:prstGeom>
        </p:spPr>
      </p:pic>
      <p:pic>
        <p:nvPicPr>
          <p:cNvPr id="5" name="Image 4" descr="ملف:WordPress blue logo.svg - ويكيبيديا">
            <a:extLst>
              <a:ext uri="{FF2B5EF4-FFF2-40B4-BE49-F238E27FC236}">
                <a16:creationId xmlns:a16="http://schemas.microsoft.com/office/drawing/2014/main" id="{E928B814-1608-8774-3635-E76EB89EB94E}"/>
              </a:ext>
            </a:extLst>
          </p:cNvPr>
          <p:cNvPicPr>
            <a:picLocks noChangeAspect="1"/>
          </p:cNvPicPr>
          <p:nvPr/>
        </p:nvPicPr>
        <p:blipFill>
          <a:blip r:embed="rId4"/>
          <a:stretch>
            <a:fillRect/>
          </a:stretch>
        </p:blipFill>
        <p:spPr>
          <a:xfrm>
            <a:off x="431024" y="1660618"/>
            <a:ext cx="1713714" cy="1428710"/>
          </a:xfrm>
          <a:prstGeom prst="rect">
            <a:avLst/>
          </a:prstGeom>
        </p:spPr>
      </p:pic>
      <p:pic>
        <p:nvPicPr>
          <p:cNvPr id="6" name="Image 5" descr="Strapi CMS Review: A Comprehensive Review Of The Open Source Headless CMS  King">
            <a:extLst>
              <a:ext uri="{FF2B5EF4-FFF2-40B4-BE49-F238E27FC236}">
                <a16:creationId xmlns:a16="http://schemas.microsoft.com/office/drawing/2014/main" id="{BC2A2D90-DD26-3B7B-F953-04DAADD08F48}"/>
              </a:ext>
            </a:extLst>
          </p:cNvPr>
          <p:cNvPicPr>
            <a:picLocks noChangeAspect="1"/>
          </p:cNvPicPr>
          <p:nvPr/>
        </p:nvPicPr>
        <p:blipFill>
          <a:blip r:embed="rId5"/>
          <a:stretch>
            <a:fillRect/>
          </a:stretch>
        </p:blipFill>
        <p:spPr>
          <a:xfrm>
            <a:off x="6702258" y="1497410"/>
            <a:ext cx="2001350" cy="1065144"/>
          </a:xfrm>
          <a:prstGeom prst="rect">
            <a:avLst/>
          </a:prstGeom>
        </p:spPr>
      </p:pic>
      <p:cxnSp>
        <p:nvCxnSpPr>
          <p:cNvPr id="7" name="Connecteur droit avec flèche 6">
            <a:extLst>
              <a:ext uri="{FF2B5EF4-FFF2-40B4-BE49-F238E27FC236}">
                <a16:creationId xmlns:a16="http://schemas.microsoft.com/office/drawing/2014/main" id="{0A73F61A-DD57-CC29-496B-81D650C1C4EB}"/>
              </a:ext>
            </a:extLst>
          </p:cNvPr>
          <p:cNvCxnSpPr/>
          <p:nvPr/>
        </p:nvCxnSpPr>
        <p:spPr>
          <a:xfrm flipH="1">
            <a:off x="1484076" y="876631"/>
            <a:ext cx="1019200" cy="783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888FE0BA-FA9A-4545-475A-F49E1F0694D3}"/>
              </a:ext>
            </a:extLst>
          </p:cNvPr>
          <p:cNvCxnSpPr>
            <a:cxnSpLocks/>
          </p:cNvCxnSpPr>
          <p:nvPr/>
        </p:nvCxnSpPr>
        <p:spPr>
          <a:xfrm>
            <a:off x="6119112" y="1217331"/>
            <a:ext cx="1189867" cy="645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C31A2A06-BFD9-804B-17D6-EEAF5CB3B410}"/>
              </a:ext>
            </a:extLst>
          </p:cNvPr>
          <p:cNvCxnSpPr>
            <a:cxnSpLocks/>
          </p:cNvCxnSpPr>
          <p:nvPr/>
        </p:nvCxnSpPr>
        <p:spPr>
          <a:xfrm flipH="1">
            <a:off x="3379916" y="1492092"/>
            <a:ext cx="222396" cy="1398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1A6AB9CE-CBDF-8634-C345-60430CF0EFFD}"/>
              </a:ext>
            </a:extLst>
          </p:cNvPr>
          <p:cNvCxnSpPr>
            <a:cxnSpLocks/>
          </p:cNvCxnSpPr>
          <p:nvPr/>
        </p:nvCxnSpPr>
        <p:spPr>
          <a:xfrm>
            <a:off x="5162949" y="1519568"/>
            <a:ext cx="502967" cy="1437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F9416968-6E83-DDA6-CB08-4ED3B2247762}"/>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4" name="ZoneTexte 13">
            <a:extLst>
              <a:ext uri="{FF2B5EF4-FFF2-40B4-BE49-F238E27FC236}">
                <a16:creationId xmlns:a16="http://schemas.microsoft.com/office/drawing/2014/main" id="{A43A087D-47CD-AC65-CAFD-04CFEFA69CA7}"/>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17</a:t>
            </a:r>
          </a:p>
        </p:txBody>
      </p:sp>
    </p:spTree>
    <p:extLst>
      <p:ext uri="{BB962C8B-B14F-4D97-AF65-F5344CB8AC3E}">
        <p14:creationId xmlns:p14="http://schemas.microsoft.com/office/powerpoint/2010/main" val="353063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4E79"/>
          </a:solidFill>
          <a:ln w="12700">
            <a:solidFill>
              <a:srgbClr val="1F4E79"/>
            </a:solidFill>
            <a:prstDash val="solid"/>
          </a:ln>
        </p:spPr>
      </p:sp>
      <p:sp>
        <p:nvSpPr>
          <p:cNvPr id="3" name="Text 1"/>
          <p:cNvSpPr/>
          <p:nvPr/>
        </p:nvSpPr>
        <p:spPr>
          <a:xfrm>
            <a:off x="365760" y="0"/>
            <a:ext cx="8412480" cy="685800"/>
          </a:xfrm>
          <a:prstGeom prst="rect">
            <a:avLst/>
          </a:prstGeom>
          <a:noFill/>
          <a:ln/>
        </p:spPr>
        <p:txBody>
          <a:bodyPr wrap="square" lIns="91440" tIns="45720" rIns="91440" bIns="45720" rtlCol="0" anchor="ctr"/>
          <a:lstStyle/>
          <a:p>
            <a:pPr marL="0" indent="0">
              <a:buNone/>
            </a:pPr>
            <a:endParaRPr lang="en-US" sz="2000" b="1">
              <a:solidFill>
                <a:srgbClr val="FFFFFF"/>
              </a:solidFill>
              <a:ea typeface="Calibri"/>
              <a:cs typeface="Calibri"/>
            </a:endParaRPr>
          </a:p>
        </p:txBody>
      </p:sp>
      <p:sp>
        <p:nvSpPr>
          <p:cNvPr id="4" name="ZoneTexte 3">
            <a:extLst>
              <a:ext uri="{FF2B5EF4-FFF2-40B4-BE49-F238E27FC236}">
                <a16:creationId xmlns:a16="http://schemas.microsoft.com/office/drawing/2014/main" id="{0B525E17-4630-B8C4-F84B-6EFF9169426B}"/>
              </a:ext>
            </a:extLst>
          </p:cNvPr>
          <p:cNvSpPr txBox="1"/>
          <p:nvPr/>
        </p:nvSpPr>
        <p:spPr>
          <a:xfrm>
            <a:off x="1199130" y="-10205"/>
            <a:ext cx="757237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000" b="1" i="0" u="none" strike="noStrike" baseline="0">
                <a:solidFill>
                  <a:schemeClr val="bg1"/>
                </a:solidFill>
                <a:latin typeface="Calibri Light"/>
              </a:rPr>
              <a:t>Comparaison des CMS populaires</a:t>
            </a:r>
            <a:r>
              <a:rPr sz="4000" b="1" i="0">
                <a:solidFill>
                  <a:schemeClr val="bg1"/>
                </a:solidFill>
                <a:latin typeface="Calibri Light"/>
                <a:ea typeface="Calibri Light"/>
                <a:cs typeface="Calibri Light"/>
              </a:rPr>
              <a:t>​</a:t>
            </a:r>
            <a:endParaRPr lang="fr-FR" sz="4000" b="1">
              <a:solidFill>
                <a:schemeClr val="bg1"/>
              </a:solidFill>
              <a:ea typeface="Calibri"/>
              <a:cs typeface="Calibri"/>
            </a:endParaRPr>
          </a:p>
          <a:p>
            <a:pPr algn="ctr"/>
            <a:endParaRPr lang="fr-FR" sz="4000" b="1">
              <a:solidFill>
                <a:schemeClr val="bg1"/>
              </a:solidFill>
              <a:ea typeface="Calibri"/>
              <a:cs typeface="Calibri"/>
            </a:endParaRPr>
          </a:p>
        </p:txBody>
      </p:sp>
      <p:graphicFrame>
        <p:nvGraphicFramePr>
          <p:cNvPr id="5" name="Tableau 4">
            <a:extLst>
              <a:ext uri="{FF2B5EF4-FFF2-40B4-BE49-F238E27FC236}">
                <a16:creationId xmlns:a16="http://schemas.microsoft.com/office/drawing/2014/main" id="{D3A480E7-FD9F-F706-AECC-420743DDFAA0}"/>
              </a:ext>
            </a:extLst>
          </p:cNvPr>
          <p:cNvGraphicFramePr>
            <a:graphicFrameLocks noGrp="1"/>
          </p:cNvGraphicFramePr>
          <p:nvPr>
            <p:extLst>
              <p:ext uri="{D42A27DB-BD31-4B8C-83A1-F6EECF244321}">
                <p14:modId xmlns:p14="http://schemas.microsoft.com/office/powerpoint/2010/main" val="1528755555"/>
              </p:ext>
            </p:extLst>
          </p:nvPr>
        </p:nvGraphicFramePr>
        <p:xfrm>
          <a:off x="-27475" y="659423"/>
          <a:ext cx="9167616" cy="4539355"/>
        </p:xfrm>
        <a:graphic>
          <a:graphicData uri="http://schemas.openxmlformats.org/drawingml/2006/table">
            <a:tbl>
              <a:tblPr firstRow="1" bandRow="1">
                <a:tableStyleId>{5C22544A-7EE6-4342-B048-85BDC9FD1C3A}</a:tableStyleId>
              </a:tblPr>
              <a:tblGrid>
                <a:gridCol w="1721628">
                  <a:extLst>
                    <a:ext uri="{9D8B030D-6E8A-4147-A177-3AD203B41FA5}">
                      <a16:colId xmlns:a16="http://schemas.microsoft.com/office/drawing/2014/main" val="760550282"/>
                    </a:ext>
                  </a:extLst>
                </a:gridCol>
                <a:gridCol w="1721628">
                  <a:extLst>
                    <a:ext uri="{9D8B030D-6E8A-4147-A177-3AD203B41FA5}">
                      <a16:colId xmlns:a16="http://schemas.microsoft.com/office/drawing/2014/main" val="1240385252"/>
                    </a:ext>
                  </a:extLst>
                </a:gridCol>
                <a:gridCol w="1908120">
                  <a:extLst>
                    <a:ext uri="{9D8B030D-6E8A-4147-A177-3AD203B41FA5}">
                      <a16:colId xmlns:a16="http://schemas.microsoft.com/office/drawing/2014/main" val="3798654349"/>
                    </a:ext>
                  </a:extLst>
                </a:gridCol>
                <a:gridCol w="1908120">
                  <a:extLst>
                    <a:ext uri="{9D8B030D-6E8A-4147-A177-3AD203B41FA5}">
                      <a16:colId xmlns:a16="http://schemas.microsoft.com/office/drawing/2014/main" val="3630486194"/>
                    </a:ext>
                  </a:extLst>
                </a:gridCol>
                <a:gridCol w="1908120">
                  <a:extLst>
                    <a:ext uri="{9D8B030D-6E8A-4147-A177-3AD203B41FA5}">
                      <a16:colId xmlns:a16="http://schemas.microsoft.com/office/drawing/2014/main" val="631555226"/>
                    </a:ext>
                  </a:extLst>
                </a:gridCol>
              </a:tblGrid>
              <a:tr h="907871">
                <a:tc>
                  <a:txBody>
                    <a:bodyPr/>
                    <a:lstStyle/>
                    <a:p>
                      <a:pPr lvl="0">
                        <a:buNone/>
                      </a:pPr>
                      <a:r>
                        <a:rPr lang="fr-FR" sz="1800" b="0" i="0" u="none" strike="noStrike" noProof="0">
                          <a:latin typeface="Calibri"/>
                          <a:ea typeface="Calibri"/>
                          <a:cs typeface="Calibri"/>
                        </a:rPr>
                        <a:t>Critère</a:t>
                      </a:r>
                      <a:endParaRPr lang="fr-FR"/>
                    </a:p>
                  </a:txBody>
                  <a:tcPr/>
                </a:tc>
                <a:tc>
                  <a:txBody>
                    <a:bodyPr/>
                    <a:lstStyle/>
                    <a:p>
                      <a:pPr lvl="0">
                        <a:buNone/>
                      </a:pPr>
                      <a:r>
                        <a:rPr lang="fr-FR" sz="1800" b="0" i="0" u="none" strike="noStrike" noProof="0">
                          <a:latin typeface="Calibri"/>
                          <a:ea typeface="Calibri"/>
                          <a:cs typeface="Calibri"/>
                        </a:rPr>
                        <a:t>WordPress</a:t>
                      </a:r>
                      <a:endParaRPr lang="fr-FR"/>
                    </a:p>
                  </a:txBody>
                  <a:tcPr/>
                </a:tc>
                <a:tc>
                  <a:txBody>
                    <a:bodyPr/>
                    <a:lstStyle/>
                    <a:p>
                      <a:pPr lvl="0">
                        <a:buNone/>
                      </a:pPr>
                      <a:r>
                        <a:rPr lang="fr-FR" sz="1800" b="0" i="0" u="none" strike="noStrike" noProof="0">
                          <a:latin typeface="Calibri"/>
                          <a:ea typeface="Calibri"/>
                          <a:cs typeface="Calibri"/>
                        </a:rPr>
                        <a:t>Drupal</a:t>
                      </a:r>
                      <a:endParaRPr lang="fr-FR"/>
                    </a:p>
                  </a:txBody>
                  <a:tcPr/>
                </a:tc>
                <a:tc>
                  <a:txBody>
                    <a:bodyPr/>
                    <a:lstStyle/>
                    <a:p>
                      <a:pPr lvl="0">
                        <a:buNone/>
                      </a:pPr>
                      <a:r>
                        <a:rPr lang="fr-FR" sz="1800" b="0" i="0" u="none" strike="noStrike" noProof="0">
                          <a:latin typeface="Calibri"/>
                          <a:ea typeface="Calibri"/>
                          <a:cs typeface="Calibri"/>
                        </a:rPr>
                        <a:t>Joomla</a:t>
                      </a:r>
                      <a:endParaRPr lang="fr-FR"/>
                    </a:p>
                  </a:txBody>
                  <a:tcPr/>
                </a:tc>
                <a:tc>
                  <a:txBody>
                    <a:bodyPr/>
                    <a:lstStyle/>
                    <a:p>
                      <a:pPr lvl="0">
                        <a:buNone/>
                      </a:pPr>
                      <a:r>
                        <a:rPr lang="fr-FR" sz="1800" b="0" i="0" u="none" strike="noStrike" noProof="0" err="1">
                          <a:latin typeface="Calibri"/>
                          <a:ea typeface="Calibri"/>
                          <a:cs typeface="Calibri"/>
                        </a:rPr>
                        <a:t>Headless</a:t>
                      </a:r>
                      <a:endParaRPr lang="fr-FR" err="1"/>
                    </a:p>
                  </a:txBody>
                  <a:tcPr/>
                </a:tc>
                <a:extLst>
                  <a:ext uri="{0D108BD9-81ED-4DB2-BD59-A6C34878D82A}">
                    <a16:rowId xmlns:a16="http://schemas.microsoft.com/office/drawing/2014/main" val="2197190029"/>
                  </a:ext>
                </a:extLst>
              </a:tr>
              <a:tr h="907871">
                <a:tc>
                  <a:txBody>
                    <a:bodyPr/>
                    <a:lstStyle/>
                    <a:p>
                      <a:pPr lvl="0">
                        <a:buNone/>
                      </a:pPr>
                      <a:r>
                        <a:rPr lang="fr-FR" sz="1800" b="1" i="0" u="none" strike="noStrike" noProof="0">
                          <a:solidFill>
                            <a:schemeClr val="accent1"/>
                          </a:solidFill>
                          <a:latin typeface="Calibri"/>
                          <a:ea typeface="Calibri"/>
                          <a:cs typeface="Calibri"/>
                        </a:rPr>
                        <a:t>Facilité d'utilisation</a:t>
                      </a:r>
                      <a:endParaRPr lang="fr-FR" sz="1800" b="1">
                        <a:solidFill>
                          <a:schemeClr val="accent1"/>
                        </a:solidFill>
                      </a:endParaRPr>
                    </a:p>
                  </a:txBody>
                  <a:tcPr/>
                </a:tc>
                <a:tc>
                  <a:txBody>
                    <a:bodyPr/>
                    <a:lstStyle/>
                    <a:p>
                      <a:pPr lvl="0">
                        <a:buNone/>
                      </a:pPr>
                      <a:r>
                        <a:rPr lang="fr-FR" sz="1600" b="0" i="0" u="none" strike="noStrike" noProof="0">
                          <a:latin typeface="Calibri"/>
                          <a:ea typeface="Calibri"/>
                          <a:cs typeface="Calibri"/>
                        </a:rPr>
                        <a:t>⭐⭐⭐⭐⭐</a:t>
                      </a:r>
                      <a:endParaRPr lang="fr-FR" sz="1600"/>
                    </a:p>
                  </a:txBody>
                  <a:tcPr/>
                </a:tc>
                <a:tc>
                  <a:txBody>
                    <a:bodyPr/>
                    <a:lstStyle/>
                    <a:p>
                      <a:pPr lvl="0">
                        <a:buNone/>
                      </a:pPr>
                      <a:r>
                        <a:rPr lang="fr-FR" sz="1800" b="0" i="0" u="none" strike="noStrike" noProof="0">
                          <a:latin typeface="Calibri"/>
                          <a:ea typeface="Calibri"/>
                          <a:cs typeface="Calibri"/>
                        </a:rPr>
                        <a:t>⭐⭐</a:t>
                      </a:r>
                      <a:endParaRPr lang="fr-FR"/>
                    </a:p>
                  </a:txBody>
                  <a:tcPr/>
                </a:tc>
                <a:tc>
                  <a:txBody>
                    <a:bodyPr/>
                    <a:lstStyle/>
                    <a:p>
                      <a:pPr lvl="0">
                        <a:buNone/>
                      </a:pPr>
                      <a:r>
                        <a:rPr lang="fr-FR" sz="1800" b="0" i="0" u="none" strike="noStrike" noProof="0">
                          <a:latin typeface="Calibri"/>
                          <a:ea typeface="Calibri"/>
                          <a:cs typeface="Calibri"/>
                        </a:rPr>
                        <a:t>⭐⭐⭐</a:t>
                      </a:r>
                      <a:endParaRPr lang="fr-FR"/>
                    </a:p>
                  </a:txBody>
                  <a:tcPr/>
                </a:tc>
                <a:tc>
                  <a:txBody>
                    <a:bodyPr/>
                    <a:lstStyle/>
                    <a:p>
                      <a:pPr lvl="0">
                        <a:buNone/>
                      </a:pPr>
                      <a:r>
                        <a:rPr lang="fr-FR" sz="1800" b="0" i="0" u="none" strike="noStrike" noProof="0">
                          <a:latin typeface="Calibri"/>
                          <a:ea typeface="Calibri"/>
                          <a:cs typeface="Calibri"/>
                        </a:rPr>
                        <a:t>⭐⭐</a:t>
                      </a:r>
                      <a:endParaRPr lang="fr-FR"/>
                    </a:p>
                  </a:txBody>
                  <a:tcPr/>
                </a:tc>
                <a:extLst>
                  <a:ext uri="{0D108BD9-81ED-4DB2-BD59-A6C34878D82A}">
                    <a16:rowId xmlns:a16="http://schemas.microsoft.com/office/drawing/2014/main" val="1717145287"/>
                  </a:ext>
                </a:extLst>
              </a:tr>
              <a:tr h="907871">
                <a:tc>
                  <a:txBody>
                    <a:bodyPr/>
                    <a:lstStyle/>
                    <a:p>
                      <a:pPr lvl="0">
                        <a:buNone/>
                      </a:pPr>
                      <a:r>
                        <a:rPr lang="fr-FR" sz="1800" b="1" i="0" u="none" strike="noStrike" noProof="0">
                          <a:solidFill>
                            <a:schemeClr val="accent1"/>
                          </a:solidFill>
                          <a:latin typeface="Calibri"/>
                          <a:ea typeface="Calibri"/>
                          <a:cs typeface="Calibri"/>
                        </a:rPr>
                        <a:t>Flexibilité</a:t>
                      </a:r>
                      <a:endParaRPr lang="fr-FR" sz="1800" b="1">
                        <a:solidFill>
                          <a:schemeClr val="accent1"/>
                        </a:solidFill>
                      </a:endParaRP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extLst>
                  <a:ext uri="{0D108BD9-81ED-4DB2-BD59-A6C34878D82A}">
                    <a16:rowId xmlns:a16="http://schemas.microsoft.com/office/drawing/2014/main" val="1865108864"/>
                  </a:ext>
                </a:extLst>
              </a:tr>
              <a:tr h="907871">
                <a:tc>
                  <a:txBody>
                    <a:bodyPr/>
                    <a:lstStyle/>
                    <a:p>
                      <a:pPr lvl="0">
                        <a:buNone/>
                      </a:pPr>
                      <a:r>
                        <a:rPr lang="fr-FR" sz="1800" b="1" i="0" u="none" strike="noStrike" noProof="0">
                          <a:solidFill>
                            <a:schemeClr val="accent1"/>
                          </a:solidFill>
                          <a:latin typeface="Calibri"/>
                          <a:ea typeface="Calibri"/>
                          <a:cs typeface="Calibri"/>
                        </a:rPr>
                        <a:t>Sécurité</a:t>
                      </a:r>
                      <a:endParaRPr lang="fr-FR" sz="1800" b="1">
                        <a:solidFill>
                          <a:schemeClr val="accent1"/>
                        </a:solidFill>
                      </a:endParaRP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tc>
                  <a:txBody>
                    <a:bodyPr/>
                    <a:lstStyle/>
                    <a:p>
                      <a:pPr lvl="0">
                        <a:buNone/>
                      </a:pPr>
                      <a:r>
                        <a:rPr lang="fr-FR" sz="1600" b="0" i="0" u="none" strike="noStrike" noProof="0">
                          <a:solidFill>
                            <a:srgbClr val="000000"/>
                          </a:solidFill>
                          <a:latin typeface="Calibri"/>
                          <a:ea typeface="Calibri"/>
                          <a:cs typeface="Calibri"/>
                        </a:rPr>
                        <a:t>⭐⭐⭐⭐</a:t>
                      </a:r>
                      <a:endParaRPr lang="fr-FR"/>
                    </a:p>
                  </a:txBody>
                  <a:tcPr/>
                </a:tc>
                <a:extLst>
                  <a:ext uri="{0D108BD9-81ED-4DB2-BD59-A6C34878D82A}">
                    <a16:rowId xmlns:a16="http://schemas.microsoft.com/office/drawing/2014/main" val="2948686071"/>
                  </a:ext>
                </a:extLst>
              </a:tr>
              <a:tr h="907871">
                <a:tc>
                  <a:txBody>
                    <a:bodyPr/>
                    <a:lstStyle/>
                    <a:p>
                      <a:pPr lvl="0">
                        <a:buNone/>
                      </a:pPr>
                      <a:r>
                        <a:rPr lang="fr-FR" sz="1800" b="1" i="0" u="none" strike="noStrike" noProof="0">
                          <a:solidFill>
                            <a:schemeClr val="accent1"/>
                          </a:solidFill>
                          <a:latin typeface="Calibri"/>
                          <a:ea typeface="Calibri"/>
                          <a:cs typeface="Calibri"/>
                        </a:rPr>
                        <a:t>Communauté</a:t>
                      </a:r>
                      <a:endParaRPr lang="fr-FR" sz="1800" b="1">
                        <a:solidFill>
                          <a:schemeClr val="accent1"/>
                        </a:solidFill>
                      </a:endParaRPr>
                    </a:p>
                  </a:txBody>
                  <a:tcPr/>
                </a:tc>
                <a:tc>
                  <a:txBody>
                    <a:bodyPr/>
                    <a:lstStyle/>
                    <a:p>
                      <a:pPr lvl="0">
                        <a:buNone/>
                      </a:pPr>
                      <a:r>
                        <a:rPr lang="fr-FR" sz="1600" b="0" i="0" u="none" strike="noStrike" noProof="0">
                          <a:latin typeface="Calibri"/>
                          <a:ea typeface="Calibri"/>
                          <a:cs typeface="Calibri"/>
                        </a:rPr>
                        <a:t>⭐⭐⭐⭐⭐</a:t>
                      </a:r>
                      <a:endParaRPr lang="fr-FR" sz="1600"/>
                    </a:p>
                  </a:txBody>
                  <a:tcPr/>
                </a:tc>
                <a:tc>
                  <a:txBody>
                    <a:bodyPr/>
                    <a:lstStyle/>
                    <a:p>
                      <a:pPr lvl="0">
                        <a:buNone/>
                      </a:pPr>
                      <a:r>
                        <a:rPr lang="fr-FR" sz="1800" b="0" i="0" u="none" strike="noStrike" noProof="0">
                          <a:latin typeface="Calibri"/>
                          <a:ea typeface="Calibri"/>
                          <a:cs typeface="Calibri"/>
                        </a:rPr>
                        <a:t>⭐⭐⭐⭐</a:t>
                      </a:r>
                      <a:endParaRPr lang="fr-FR"/>
                    </a:p>
                  </a:txBody>
                  <a:tcPr/>
                </a:tc>
                <a:tc>
                  <a:txBody>
                    <a:bodyPr/>
                    <a:lstStyle/>
                    <a:p>
                      <a:pPr lvl="0">
                        <a:buNone/>
                      </a:pPr>
                      <a:r>
                        <a:rPr lang="fr-FR" sz="1800" b="0" i="0" u="none" strike="noStrike" noProof="0">
                          <a:latin typeface="Calibri"/>
                          <a:ea typeface="Calibri"/>
                          <a:cs typeface="Calibri"/>
                        </a:rPr>
                        <a:t>⭐⭐⭐</a:t>
                      </a:r>
                      <a:endParaRPr lang="fr-FR"/>
                    </a:p>
                  </a:txBody>
                  <a:tcPr/>
                </a:tc>
                <a:tc>
                  <a:txBody>
                    <a:bodyPr/>
                    <a:lstStyle/>
                    <a:p>
                      <a:pPr lvl="0">
                        <a:buNone/>
                      </a:pPr>
                      <a:r>
                        <a:rPr lang="fr-FR" sz="1800" b="0" i="0" u="none" strike="noStrike" noProof="0">
                          <a:latin typeface="Calibri"/>
                          <a:ea typeface="Calibri"/>
                          <a:cs typeface="Calibri"/>
                        </a:rPr>
                        <a:t>⭐⭐⭐</a:t>
                      </a:r>
                      <a:endParaRPr lang="fr-FR"/>
                    </a:p>
                  </a:txBody>
                  <a:tcPr/>
                </a:tc>
                <a:extLst>
                  <a:ext uri="{0D108BD9-81ED-4DB2-BD59-A6C34878D82A}">
                    <a16:rowId xmlns:a16="http://schemas.microsoft.com/office/drawing/2014/main" val="1275467077"/>
                  </a:ext>
                </a:extLst>
              </a:tr>
            </a:tbl>
          </a:graphicData>
        </a:graphic>
      </p:graphicFrame>
      <p:sp>
        <p:nvSpPr>
          <p:cNvPr id="8" name="Rectangle 7">
            <a:extLst>
              <a:ext uri="{FF2B5EF4-FFF2-40B4-BE49-F238E27FC236}">
                <a16:creationId xmlns:a16="http://schemas.microsoft.com/office/drawing/2014/main" id="{3C146D99-DDEC-8411-0B96-E760913AC620}"/>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0" name="ZoneTexte 9">
            <a:extLst>
              <a:ext uri="{FF2B5EF4-FFF2-40B4-BE49-F238E27FC236}">
                <a16:creationId xmlns:a16="http://schemas.microsoft.com/office/drawing/2014/main" id="{80C4A677-8DAD-07DE-B48F-14F7B74F9F9E}"/>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8937A800-AC37-F54C-5A4B-1FD8BBDCDE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B2F833-D143-19F3-159E-2A8C949EA355}"/>
              </a:ext>
            </a:extLst>
          </p:cNvPr>
          <p:cNvSpPr/>
          <p:nvPr/>
        </p:nvSpPr>
        <p:spPr>
          <a:xfrm>
            <a:off x="-30616" y="0"/>
            <a:ext cx="9144000" cy="685800"/>
          </a:xfrm>
          <a:prstGeom prst="rect">
            <a:avLst/>
          </a:prstGeom>
          <a:solidFill>
            <a:srgbClr val="1F4E79"/>
          </a:solidFill>
          <a:ln w="12700">
            <a:solidFill>
              <a:srgbClr val="1F4E79"/>
            </a:solidFill>
            <a:prstDash val="solid"/>
          </a:ln>
        </p:spPr>
      </p:sp>
      <p:sp>
        <p:nvSpPr>
          <p:cNvPr id="3" name="Text 1">
            <a:extLst>
              <a:ext uri="{FF2B5EF4-FFF2-40B4-BE49-F238E27FC236}">
                <a16:creationId xmlns:a16="http://schemas.microsoft.com/office/drawing/2014/main" id="{D1DAF778-279D-DD86-685F-2B414CBD4230}"/>
              </a:ext>
            </a:extLst>
          </p:cNvPr>
          <p:cNvSpPr/>
          <p:nvPr/>
        </p:nvSpPr>
        <p:spPr>
          <a:xfrm>
            <a:off x="1717969" y="0"/>
            <a:ext cx="7167427" cy="680697"/>
          </a:xfrm>
          <a:prstGeom prst="rect">
            <a:avLst/>
          </a:prstGeom>
          <a:noFill/>
          <a:ln/>
        </p:spPr>
        <p:txBody>
          <a:bodyPr wrap="square" lIns="91440" tIns="45720" rIns="91440" bIns="45720" rtlCol="0" anchor="ctr"/>
          <a:lstStyle/>
          <a:p>
            <a:r>
              <a:rPr lang="en-US" sz="3200" b="1" err="1">
                <a:solidFill>
                  <a:srgbClr val="FFFFFF"/>
                </a:solidFill>
                <a:latin typeface="Calibri"/>
                <a:ea typeface="Calibri"/>
                <a:cs typeface="Calibri"/>
              </a:rPr>
              <a:t>Pourquoi</a:t>
            </a:r>
            <a:r>
              <a:rPr lang="en-US" sz="3200" b="1">
                <a:solidFill>
                  <a:srgbClr val="FFFFFF"/>
                </a:solidFill>
                <a:latin typeface="Calibri"/>
                <a:ea typeface="Calibri"/>
                <a:cs typeface="Calibri"/>
              </a:rPr>
              <a:t> </a:t>
            </a:r>
            <a:r>
              <a:rPr lang="en-US" sz="3200" b="1" err="1">
                <a:solidFill>
                  <a:srgbClr val="FFFFFF"/>
                </a:solidFill>
                <a:latin typeface="Calibri"/>
                <a:ea typeface="Calibri"/>
                <a:cs typeface="Calibri"/>
              </a:rPr>
              <a:t>choisir</a:t>
            </a:r>
            <a:r>
              <a:rPr lang="en-US" sz="3200" b="1">
                <a:solidFill>
                  <a:srgbClr val="FFFFFF"/>
                </a:solidFill>
                <a:latin typeface="Calibri"/>
                <a:ea typeface="Calibri"/>
                <a:cs typeface="Calibri"/>
              </a:rPr>
              <a:t> WordPress ?</a:t>
            </a:r>
          </a:p>
        </p:txBody>
      </p:sp>
      <p:sp>
        <p:nvSpPr>
          <p:cNvPr id="4" name="Shape 2">
            <a:extLst>
              <a:ext uri="{FF2B5EF4-FFF2-40B4-BE49-F238E27FC236}">
                <a16:creationId xmlns:a16="http://schemas.microsoft.com/office/drawing/2014/main" id="{9309263F-8F18-E438-D3C5-48404E080550}"/>
              </a:ext>
            </a:extLst>
          </p:cNvPr>
          <p:cNvSpPr/>
          <p:nvPr/>
        </p:nvSpPr>
        <p:spPr>
          <a:xfrm>
            <a:off x="365760" y="813176"/>
            <a:ext cx="1797368" cy="4204403"/>
          </a:xfrm>
          <a:prstGeom prst="rect">
            <a:avLst/>
          </a:prstGeom>
          <a:solidFill>
            <a:srgbClr val="1F4E79"/>
          </a:solidFill>
          <a:ln w="12700">
            <a:solidFill>
              <a:srgbClr val="1F4E79"/>
            </a:solidFill>
            <a:prstDash val="solid"/>
          </a:ln>
          <a:effectLst>
            <a:outerShdw blurRad="101600" dist="38100" dir="8100000" algn="bl" rotWithShape="0">
              <a:srgbClr val="000000">
                <a:alpha val="12000"/>
              </a:srgbClr>
            </a:outerShdw>
          </a:effectLst>
        </p:spPr>
      </p:sp>
      <p:sp>
        <p:nvSpPr>
          <p:cNvPr id="7" name="Shape 5">
            <a:extLst>
              <a:ext uri="{FF2B5EF4-FFF2-40B4-BE49-F238E27FC236}">
                <a16:creationId xmlns:a16="http://schemas.microsoft.com/office/drawing/2014/main" id="{1D77C008-55D2-B839-9D25-8FAD5BFC30B2}"/>
              </a:ext>
            </a:extLst>
          </p:cNvPr>
          <p:cNvSpPr/>
          <p:nvPr/>
        </p:nvSpPr>
        <p:spPr>
          <a:xfrm>
            <a:off x="2504395" y="809775"/>
            <a:ext cx="6146278" cy="4219709"/>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a:extLst>
              <a:ext uri="{FF2B5EF4-FFF2-40B4-BE49-F238E27FC236}">
                <a16:creationId xmlns:a16="http://schemas.microsoft.com/office/drawing/2014/main" id="{E6B1FD27-6FC9-6633-4179-E5BD3C1C2A55}"/>
              </a:ext>
            </a:extLst>
          </p:cNvPr>
          <p:cNvSpPr/>
          <p:nvPr/>
        </p:nvSpPr>
        <p:spPr>
          <a:xfrm>
            <a:off x="2504395" y="809775"/>
            <a:ext cx="122055" cy="4219709"/>
          </a:xfrm>
          <a:prstGeom prst="rect">
            <a:avLst/>
          </a:prstGeom>
          <a:solidFill>
            <a:srgbClr val="21A0D2"/>
          </a:solidFill>
          <a:ln w="12700">
            <a:solidFill>
              <a:srgbClr val="21A0D2"/>
            </a:solidFill>
            <a:prstDash val="solid"/>
          </a:ln>
        </p:spPr>
      </p:sp>
      <p:sp>
        <p:nvSpPr>
          <p:cNvPr id="9" name="Text 7">
            <a:extLst>
              <a:ext uri="{FF2B5EF4-FFF2-40B4-BE49-F238E27FC236}">
                <a16:creationId xmlns:a16="http://schemas.microsoft.com/office/drawing/2014/main" id="{99DC006C-BD32-3E7F-6CE8-F5CB4027025D}"/>
              </a:ext>
            </a:extLst>
          </p:cNvPr>
          <p:cNvSpPr/>
          <p:nvPr/>
        </p:nvSpPr>
        <p:spPr>
          <a:xfrm>
            <a:off x="2697480" y="850392"/>
            <a:ext cx="5943600" cy="347472"/>
          </a:xfrm>
          <a:prstGeom prst="rect">
            <a:avLst/>
          </a:prstGeom>
          <a:noFill/>
          <a:ln/>
        </p:spPr>
        <p:txBody>
          <a:bodyPr wrap="square" lIns="91440" tIns="45720" rIns="91440" bIns="45720" rtlCol="0" anchor="ctr"/>
          <a:lstStyle/>
          <a:p>
            <a:pPr marL="0" indent="0">
              <a:buNone/>
            </a:pPr>
            <a:endParaRPr lang="en-US" sz="1500" b="1">
              <a:solidFill>
                <a:srgbClr val="1F4E79"/>
              </a:solidFill>
              <a:ea typeface="Calibri"/>
              <a:cs typeface="Calibri"/>
            </a:endParaRPr>
          </a:p>
        </p:txBody>
      </p:sp>
      <p:sp>
        <p:nvSpPr>
          <p:cNvPr id="10" name="Text 8">
            <a:extLst>
              <a:ext uri="{FF2B5EF4-FFF2-40B4-BE49-F238E27FC236}">
                <a16:creationId xmlns:a16="http://schemas.microsoft.com/office/drawing/2014/main" id="{BD61E15B-C11A-3B6D-1F20-9CBFBFC35280}"/>
              </a:ext>
            </a:extLst>
          </p:cNvPr>
          <p:cNvSpPr/>
          <p:nvPr/>
        </p:nvSpPr>
        <p:spPr>
          <a:xfrm>
            <a:off x="2697480" y="1188720"/>
            <a:ext cx="5943600" cy="713232"/>
          </a:xfrm>
          <a:prstGeom prst="rect">
            <a:avLst/>
          </a:prstGeom>
          <a:noFill/>
          <a:ln/>
        </p:spPr>
        <p:txBody>
          <a:bodyPr wrap="square" lIns="91440" tIns="45720" rIns="91440" bIns="45720" rtlCol="0" anchor="ctr"/>
          <a:lstStyle/>
          <a:p>
            <a:pPr marL="0" indent="0">
              <a:buNone/>
            </a:pPr>
            <a:endParaRPr lang="en-US" sz="1200">
              <a:solidFill>
                <a:srgbClr val="1A2A3A"/>
              </a:solidFill>
              <a:ea typeface="Calibri"/>
              <a:cs typeface="Calibri"/>
            </a:endParaRPr>
          </a:p>
        </p:txBody>
      </p:sp>
      <p:pic>
        <p:nvPicPr>
          <p:cNvPr id="12" name="Image 11" descr="wordpress logo png, wordpress icône transparent png 20975579 PNG">
            <a:extLst>
              <a:ext uri="{FF2B5EF4-FFF2-40B4-BE49-F238E27FC236}">
                <a16:creationId xmlns:a16="http://schemas.microsoft.com/office/drawing/2014/main" id="{086F2538-E0F7-C835-DC2D-27F5E63FB0D1}"/>
              </a:ext>
            </a:extLst>
          </p:cNvPr>
          <p:cNvPicPr>
            <a:picLocks noChangeAspect="1"/>
          </p:cNvPicPr>
          <p:nvPr/>
        </p:nvPicPr>
        <p:blipFill>
          <a:blip r:embed="rId3"/>
          <a:stretch>
            <a:fillRect/>
          </a:stretch>
        </p:blipFill>
        <p:spPr>
          <a:xfrm>
            <a:off x="365011" y="1900918"/>
            <a:ext cx="1790700" cy="1790700"/>
          </a:xfrm>
          <a:prstGeom prst="rect">
            <a:avLst/>
          </a:prstGeom>
        </p:spPr>
      </p:pic>
      <p:sp>
        <p:nvSpPr>
          <p:cNvPr id="29" name="Flèche : droite 28">
            <a:extLst>
              <a:ext uri="{FF2B5EF4-FFF2-40B4-BE49-F238E27FC236}">
                <a16:creationId xmlns:a16="http://schemas.microsoft.com/office/drawing/2014/main" id="{89B5AE63-71D8-7A34-EAEB-1FA7FB54C77B}"/>
              </a:ext>
            </a:extLst>
          </p:cNvPr>
          <p:cNvSpPr/>
          <p:nvPr/>
        </p:nvSpPr>
        <p:spPr>
          <a:xfrm>
            <a:off x="2818303" y="1028068"/>
            <a:ext cx="538609" cy="201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68C6422A-69EB-D354-2369-045D9240E031}"/>
              </a:ext>
            </a:extLst>
          </p:cNvPr>
          <p:cNvSpPr txBox="1"/>
          <p:nvPr/>
        </p:nvSpPr>
        <p:spPr>
          <a:xfrm>
            <a:off x="3653517" y="862352"/>
            <a:ext cx="2439082" cy="73866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d-ID" sz="2400" b="1" i="0" u="none" strike="noStrike" baseline="0">
                <a:solidFill>
                  <a:srgbClr val="4472C4"/>
                </a:solidFill>
                <a:latin typeface="Source Sans Pro Light"/>
              </a:rPr>
              <a:t>Facile à utiliser</a:t>
            </a:r>
            <a:r>
              <a:rPr sz="2400" b="0" i="0">
                <a:solidFill>
                  <a:srgbClr val="4472C4"/>
                </a:solidFill>
                <a:latin typeface="Source Sans Pro Light"/>
                <a:ea typeface="Source Sans Pro Light"/>
                <a:cs typeface="Source Sans Pro Light"/>
              </a:rPr>
              <a:t>​</a:t>
            </a:r>
            <a:endParaRPr lang="fr-FR">
              <a:solidFill>
                <a:srgbClr val="4472C4"/>
              </a:solidFill>
            </a:endParaRPr>
          </a:p>
          <a:p>
            <a:pPr algn="ctr"/>
            <a:endParaRPr lang="fr-FR">
              <a:solidFill>
                <a:srgbClr val="4472C4"/>
              </a:solidFill>
            </a:endParaRPr>
          </a:p>
        </p:txBody>
      </p:sp>
      <p:sp>
        <p:nvSpPr>
          <p:cNvPr id="31" name="Flèche : droite 30">
            <a:extLst>
              <a:ext uri="{FF2B5EF4-FFF2-40B4-BE49-F238E27FC236}">
                <a16:creationId xmlns:a16="http://schemas.microsoft.com/office/drawing/2014/main" id="{252C3929-76D6-E43B-F87C-E2F89F25B6AC}"/>
              </a:ext>
            </a:extLst>
          </p:cNvPr>
          <p:cNvSpPr/>
          <p:nvPr/>
        </p:nvSpPr>
        <p:spPr>
          <a:xfrm>
            <a:off x="2818303" y="1696519"/>
            <a:ext cx="538609" cy="201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Flèche : droite 31">
            <a:extLst>
              <a:ext uri="{FF2B5EF4-FFF2-40B4-BE49-F238E27FC236}">
                <a16:creationId xmlns:a16="http://schemas.microsoft.com/office/drawing/2014/main" id="{9ECF14B9-7BDC-C700-D8E0-8C4C14E8D9D6}"/>
              </a:ext>
            </a:extLst>
          </p:cNvPr>
          <p:cNvSpPr/>
          <p:nvPr/>
        </p:nvSpPr>
        <p:spPr>
          <a:xfrm>
            <a:off x="2818303" y="2283327"/>
            <a:ext cx="538609" cy="201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Flèche : droite 32">
            <a:extLst>
              <a:ext uri="{FF2B5EF4-FFF2-40B4-BE49-F238E27FC236}">
                <a16:creationId xmlns:a16="http://schemas.microsoft.com/office/drawing/2014/main" id="{136B3B14-9D55-797D-160D-DEB12FACBE3A}"/>
              </a:ext>
            </a:extLst>
          </p:cNvPr>
          <p:cNvSpPr/>
          <p:nvPr/>
        </p:nvSpPr>
        <p:spPr>
          <a:xfrm>
            <a:off x="2818303" y="2992599"/>
            <a:ext cx="538609" cy="201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473D5B77-9852-FCFE-2E65-0A8F8D59574F}"/>
              </a:ext>
            </a:extLst>
          </p:cNvPr>
          <p:cNvSpPr txBox="1"/>
          <p:nvPr/>
        </p:nvSpPr>
        <p:spPr>
          <a:xfrm>
            <a:off x="3469820" y="1551216"/>
            <a:ext cx="346472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d-ID" sz="2400" b="1" i="0" u="none" strike="noStrike" baseline="0">
                <a:solidFill>
                  <a:schemeClr val="accent1"/>
                </a:solidFill>
                <a:latin typeface="Source Sans Pro Light"/>
              </a:rPr>
              <a:t>Gratuit et open source</a:t>
            </a:r>
            <a:r>
              <a:rPr sz="2400" b="0" i="0">
                <a:solidFill>
                  <a:schemeClr val="accent1"/>
                </a:solidFill>
                <a:latin typeface="Source Sans Pro Light"/>
                <a:ea typeface="Source Sans Pro Light"/>
                <a:cs typeface="Source Sans Pro Light"/>
              </a:rPr>
              <a:t>​</a:t>
            </a:r>
            <a:endParaRPr lang="fr-FR" sz="2400">
              <a:solidFill>
                <a:schemeClr val="accent1"/>
              </a:solidFill>
              <a:ea typeface="Calibri"/>
              <a:cs typeface="Calibri"/>
            </a:endParaRPr>
          </a:p>
          <a:p>
            <a:pPr algn="ctr"/>
            <a:endParaRPr lang="fr-FR" sz="2400">
              <a:solidFill>
                <a:schemeClr val="accent1"/>
              </a:solidFill>
              <a:ea typeface="Calibri"/>
              <a:cs typeface="Calibri"/>
            </a:endParaRPr>
          </a:p>
        </p:txBody>
      </p:sp>
      <p:sp>
        <p:nvSpPr>
          <p:cNvPr id="35" name="ZoneTexte 34">
            <a:extLst>
              <a:ext uri="{FF2B5EF4-FFF2-40B4-BE49-F238E27FC236}">
                <a16:creationId xmlns:a16="http://schemas.microsoft.com/office/drawing/2014/main" id="{81889278-B4D7-A061-B4C9-F2F6EFABFFA4}"/>
              </a:ext>
            </a:extLst>
          </p:cNvPr>
          <p:cNvSpPr txBox="1"/>
          <p:nvPr/>
        </p:nvSpPr>
        <p:spPr>
          <a:xfrm>
            <a:off x="3383076" y="2158433"/>
            <a:ext cx="4572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d-ID" sz="2400" b="1" i="0" u="none" strike="noStrike" baseline="0">
                <a:solidFill>
                  <a:schemeClr val="accent1"/>
                </a:solidFill>
                <a:latin typeface="Source Sans Pro Light"/>
              </a:rPr>
              <a:t>Flexible et personnalisable</a:t>
            </a:r>
            <a:r>
              <a:rPr sz="2400" b="0" i="0">
                <a:solidFill>
                  <a:schemeClr val="accent1"/>
                </a:solidFill>
                <a:latin typeface="Source Sans Pro Light"/>
                <a:ea typeface="Source Sans Pro Light"/>
                <a:cs typeface="Source Sans Pro Light"/>
              </a:rPr>
              <a:t>​</a:t>
            </a:r>
            <a:endParaRPr lang="fr-FR" sz="2400">
              <a:solidFill>
                <a:schemeClr val="accent1"/>
              </a:solidFill>
              <a:ea typeface="Calibri"/>
              <a:cs typeface="Calibri"/>
            </a:endParaRPr>
          </a:p>
          <a:p>
            <a:pPr algn="ctr"/>
            <a:endParaRPr lang="fr-FR" sz="2400">
              <a:solidFill>
                <a:schemeClr val="accent1"/>
              </a:solidFill>
              <a:ea typeface="Calibri"/>
              <a:cs typeface="Calibri"/>
            </a:endParaRPr>
          </a:p>
        </p:txBody>
      </p:sp>
      <p:sp>
        <p:nvSpPr>
          <p:cNvPr id="36" name="ZoneTexte 35">
            <a:extLst>
              <a:ext uri="{FF2B5EF4-FFF2-40B4-BE49-F238E27FC236}">
                <a16:creationId xmlns:a16="http://schemas.microsoft.com/office/drawing/2014/main" id="{2D2FAF86-94EA-0E4F-F126-F960A4BCAA65}"/>
              </a:ext>
            </a:extLst>
          </p:cNvPr>
          <p:cNvSpPr txBox="1"/>
          <p:nvPr/>
        </p:nvSpPr>
        <p:spPr>
          <a:xfrm>
            <a:off x="3383076" y="2780960"/>
            <a:ext cx="340859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d-ID" sz="2400" b="1" i="0" u="none" strike="noStrike" baseline="0">
                <a:solidFill>
                  <a:schemeClr val="accent1"/>
                </a:solidFill>
                <a:latin typeface="Source Sans Pro Light"/>
              </a:rPr>
              <a:t>Communauté très active</a:t>
            </a:r>
            <a:r>
              <a:rPr sz="2400" b="0" i="0">
                <a:solidFill>
                  <a:schemeClr val="accent1"/>
                </a:solidFill>
                <a:latin typeface="Source Sans Pro Light"/>
                <a:ea typeface="Source Sans Pro Light"/>
                <a:cs typeface="Source Sans Pro Light"/>
              </a:rPr>
              <a:t>​</a:t>
            </a:r>
            <a:endParaRPr lang="fr-FR" sz="2400">
              <a:solidFill>
                <a:schemeClr val="accent1"/>
              </a:solidFill>
              <a:ea typeface="Calibri"/>
              <a:cs typeface="Calibri"/>
            </a:endParaRPr>
          </a:p>
          <a:p>
            <a:pPr algn="ctr"/>
            <a:endParaRPr lang="fr-FR" sz="2400">
              <a:solidFill>
                <a:schemeClr val="accent1"/>
              </a:solidFill>
              <a:ea typeface="Calibri"/>
              <a:cs typeface="Calibri"/>
            </a:endParaRPr>
          </a:p>
        </p:txBody>
      </p:sp>
      <p:sp>
        <p:nvSpPr>
          <p:cNvPr id="37" name="Flèche : droite 36">
            <a:extLst>
              <a:ext uri="{FF2B5EF4-FFF2-40B4-BE49-F238E27FC236}">
                <a16:creationId xmlns:a16="http://schemas.microsoft.com/office/drawing/2014/main" id="{9A29C3BC-FA10-ED10-5793-09A4375587FF}"/>
              </a:ext>
            </a:extLst>
          </p:cNvPr>
          <p:cNvSpPr/>
          <p:nvPr/>
        </p:nvSpPr>
        <p:spPr>
          <a:xfrm>
            <a:off x="2818303" y="3819232"/>
            <a:ext cx="538609" cy="201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lèche : droite 37">
            <a:extLst>
              <a:ext uri="{FF2B5EF4-FFF2-40B4-BE49-F238E27FC236}">
                <a16:creationId xmlns:a16="http://schemas.microsoft.com/office/drawing/2014/main" id="{90E939D9-73C9-DA8E-E500-7A20273E80DB}"/>
              </a:ext>
            </a:extLst>
          </p:cNvPr>
          <p:cNvSpPr/>
          <p:nvPr/>
        </p:nvSpPr>
        <p:spPr>
          <a:xfrm>
            <a:off x="2930562" y="4656071"/>
            <a:ext cx="538609" cy="201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8BB21DEF-1C4B-C519-19E1-0A2337AE7488}"/>
              </a:ext>
            </a:extLst>
          </p:cNvPr>
          <p:cNvSpPr txBox="1"/>
          <p:nvPr/>
        </p:nvSpPr>
        <p:spPr>
          <a:xfrm>
            <a:off x="3357563" y="3423897"/>
            <a:ext cx="416888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b="1" i="0" u="none" strike="noStrike" baseline="0">
                <a:solidFill>
                  <a:schemeClr val="accent1"/>
                </a:solidFill>
                <a:latin typeface="Source Sans Pro Light"/>
              </a:rPr>
              <a:t>Optimisé pour le référencement (SEO)</a:t>
            </a:r>
            <a:r>
              <a:rPr sz="2400" b="0" i="0">
                <a:solidFill>
                  <a:schemeClr val="accent1"/>
                </a:solidFill>
                <a:latin typeface="Source Sans Pro Light"/>
                <a:ea typeface="Source Sans Pro Light"/>
                <a:cs typeface="Source Sans Pro Light"/>
              </a:rPr>
              <a:t>​</a:t>
            </a:r>
            <a:endParaRPr lang="fr-FR" sz="2400">
              <a:solidFill>
                <a:schemeClr val="accent1"/>
              </a:solidFill>
              <a:ea typeface="Calibri"/>
              <a:cs typeface="Calibri"/>
            </a:endParaRPr>
          </a:p>
          <a:p>
            <a:pPr algn="ctr"/>
            <a:endParaRPr lang="fr-FR" sz="2400">
              <a:solidFill>
                <a:schemeClr val="accent1"/>
              </a:solidFill>
              <a:ea typeface="Calibri"/>
              <a:cs typeface="Calibri"/>
            </a:endParaRPr>
          </a:p>
        </p:txBody>
      </p:sp>
      <p:sp>
        <p:nvSpPr>
          <p:cNvPr id="40" name="ZoneTexte 39">
            <a:extLst>
              <a:ext uri="{FF2B5EF4-FFF2-40B4-BE49-F238E27FC236}">
                <a16:creationId xmlns:a16="http://schemas.microsoft.com/office/drawing/2014/main" id="{DC7B3C5C-CA51-415A-8A09-730E34C3387F}"/>
              </a:ext>
            </a:extLst>
          </p:cNvPr>
          <p:cNvSpPr txBox="1"/>
          <p:nvPr/>
        </p:nvSpPr>
        <p:spPr>
          <a:xfrm>
            <a:off x="3469821" y="4444433"/>
            <a:ext cx="4572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b="1" i="0" u="none" strike="noStrike" baseline="0">
                <a:solidFill>
                  <a:schemeClr val="accent1"/>
                </a:solidFill>
                <a:latin typeface="Source Sans Pro Light"/>
              </a:rPr>
              <a:t>Réactif et adapté aux mobiles</a:t>
            </a:r>
            <a:r>
              <a:rPr sz="2400" b="0" i="0">
                <a:solidFill>
                  <a:schemeClr val="accent1"/>
                </a:solidFill>
                <a:latin typeface="Source Sans Pro Light"/>
                <a:ea typeface="Source Sans Pro Light"/>
                <a:cs typeface="Source Sans Pro Light"/>
              </a:rPr>
              <a:t>​</a:t>
            </a:r>
            <a:endParaRPr lang="fr-FR" sz="2400">
              <a:solidFill>
                <a:schemeClr val="accent1"/>
              </a:solidFill>
              <a:ea typeface="Calibri"/>
              <a:cs typeface="Calibri"/>
            </a:endParaRPr>
          </a:p>
          <a:p>
            <a:pPr algn="ctr"/>
            <a:endParaRPr lang="fr-FR" sz="2400">
              <a:solidFill>
                <a:schemeClr val="accent1"/>
              </a:solidFill>
              <a:ea typeface="Calibri"/>
              <a:cs typeface="Calibri"/>
            </a:endParaRPr>
          </a:p>
        </p:txBody>
      </p:sp>
      <p:sp>
        <p:nvSpPr>
          <p:cNvPr id="13" name="Rectangle 12">
            <a:extLst>
              <a:ext uri="{FF2B5EF4-FFF2-40B4-BE49-F238E27FC236}">
                <a16:creationId xmlns:a16="http://schemas.microsoft.com/office/drawing/2014/main" id="{26973763-DB21-E8F7-F334-919AE0DECE0D}"/>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5" name="ZoneTexte 14">
            <a:extLst>
              <a:ext uri="{FF2B5EF4-FFF2-40B4-BE49-F238E27FC236}">
                <a16:creationId xmlns:a16="http://schemas.microsoft.com/office/drawing/2014/main" id="{2A538C81-C4E0-040D-7462-540F32C11062}"/>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19</a:t>
            </a:r>
          </a:p>
        </p:txBody>
      </p:sp>
    </p:spTree>
    <p:extLst>
      <p:ext uri="{BB962C8B-B14F-4D97-AF65-F5344CB8AC3E}">
        <p14:creationId xmlns:p14="http://schemas.microsoft.com/office/powerpoint/2010/main" val="327727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AA64F2FE-D42B-11D0-C543-6CEF0936F58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C5B404-C7BB-A284-7F07-9026F1A13072}"/>
              </a:ext>
            </a:extLst>
          </p:cNvPr>
          <p:cNvSpPr/>
          <p:nvPr/>
        </p:nvSpPr>
        <p:spPr>
          <a:xfrm>
            <a:off x="-9686" y="-4191"/>
            <a:ext cx="9138505" cy="531935"/>
          </a:xfrm>
          <a:prstGeom prst="rect">
            <a:avLst/>
          </a:prstGeom>
          <a:solidFill>
            <a:srgbClr val="1F4E79"/>
          </a:solidFill>
          <a:ln w="12700">
            <a:solidFill>
              <a:srgbClr val="1F4E79"/>
            </a:solidFill>
            <a:prstDash val="solid"/>
          </a:ln>
        </p:spPr>
      </p:sp>
      <p:sp>
        <p:nvSpPr>
          <p:cNvPr id="3" name="Text 1">
            <a:extLst>
              <a:ext uri="{FF2B5EF4-FFF2-40B4-BE49-F238E27FC236}">
                <a16:creationId xmlns:a16="http://schemas.microsoft.com/office/drawing/2014/main" id="{53ADD570-4ABB-DC43-93FC-C85AB9804DCD}"/>
              </a:ext>
            </a:extLst>
          </p:cNvPr>
          <p:cNvSpPr/>
          <p:nvPr/>
        </p:nvSpPr>
        <p:spPr>
          <a:xfrm>
            <a:off x="733845" y="0"/>
            <a:ext cx="8412480" cy="685800"/>
          </a:xfrm>
          <a:prstGeom prst="rect">
            <a:avLst/>
          </a:prstGeom>
          <a:noFill/>
          <a:ln/>
        </p:spPr>
        <p:txBody>
          <a:bodyPr wrap="square" lIns="91440" tIns="45720" rIns="91440" bIns="45720" rtlCol="0" anchor="ctr"/>
          <a:lstStyle/>
          <a:p>
            <a:pPr marL="0" indent="0">
              <a:buNone/>
            </a:pPr>
            <a:endParaRPr lang="en-US" sz="2000" b="1">
              <a:solidFill>
                <a:srgbClr val="FFFFFF"/>
              </a:solidFill>
              <a:ea typeface="Calibri"/>
              <a:cs typeface="Calibri"/>
            </a:endParaRPr>
          </a:p>
        </p:txBody>
      </p:sp>
      <p:sp>
        <p:nvSpPr>
          <p:cNvPr id="11" name="ZoneTexte 10">
            <a:extLst>
              <a:ext uri="{FF2B5EF4-FFF2-40B4-BE49-F238E27FC236}">
                <a16:creationId xmlns:a16="http://schemas.microsoft.com/office/drawing/2014/main" id="{BB960598-0E96-25C6-3756-909760596C17}"/>
              </a:ext>
            </a:extLst>
          </p:cNvPr>
          <p:cNvSpPr txBox="1"/>
          <p:nvPr/>
        </p:nvSpPr>
        <p:spPr>
          <a:xfrm>
            <a:off x="678657" y="10206"/>
            <a:ext cx="79601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800" b="1" i="0" u="none" strike="noStrike" baseline="0">
                <a:solidFill>
                  <a:schemeClr val="bg1"/>
                </a:solidFill>
                <a:latin typeface="Calibri Light"/>
              </a:rPr>
              <a:t>Différence entre </a:t>
            </a:r>
            <a:r>
              <a:rPr lang="fr-FR" sz="2800" b="1" i="1" u="none" strike="noStrike" baseline="0">
                <a:solidFill>
                  <a:schemeClr val="bg1"/>
                </a:solidFill>
                <a:latin typeface="Calibri Light"/>
              </a:rPr>
              <a:t>WordPress.com </a:t>
            </a:r>
            <a:r>
              <a:rPr lang="fr-FR" sz="2800" b="1" i="0" u="none" strike="noStrike" baseline="0">
                <a:solidFill>
                  <a:schemeClr val="bg1"/>
                </a:solidFill>
                <a:latin typeface="Calibri Light"/>
              </a:rPr>
              <a:t>et </a:t>
            </a:r>
            <a:r>
              <a:rPr lang="fr-FR" sz="2800" b="1" i="1" u="none" strike="noStrike" baseline="0">
                <a:solidFill>
                  <a:schemeClr val="bg1"/>
                </a:solidFill>
                <a:latin typeface="Calibri Light"/>
              </a:rPr>
              <a:t>WordPress.org</a:t>
            </a:r>
            <a:r>
              <a:rPr sz="2800" b="0" i="0">
                <a:solidFill>
                  <a:schemeClr val="bg1"/>
                </a:solidFill>
                <a:latin typeface="Calibri Light"/>
                <a:ea typeface="Calibri Light"/>
                <a:cs typeface="Calibri Light"/>
              </a:rPr>
              <a:t>​</a:t>
            </a:r>
            <a:endParaRPr lang="fr-FR" sz="2800">
              <a:solidFill>
                <a:schemeClr val="bg1"/>
              </a:solidFill>
              <a:ea typeface="Calibri"/>
              <a:cs typeface="Calibri"/>
            </a:endParaRPr>
          </a:p>
          <a:p>
            <a:pPr algn="ctr"/>
            <a:endParaRPr lang="fr-FR" sz="3200">
              <a:solidFill>
                <a:schemeClr val="bg1"/>
              </a:solidFill>
              <a:ea typeface="Calibri"/>
              <a:cs typeface="Calibri"/>
            </a:endParaRPr>
          </a:p>
        </p:txBody>
      </p:sp>
      <p:graphicFrame>
        <p:nvGraphicFramePr>
          <p:cNvPr id="5" name="Tableau 4">
            <a:extLst>
              <a:ext uri="{FF2B5EF4-FFF2-40B4-BE49-F238E27FC236}">
                <a16:creationId xmlns:a16="http://schemas.microsoft.com/office/drawing/2014/main" id="{C0B66303-EF54-0C54-C4B5-45C9C3B6124F}"/>
              </a:ext>
            </a:extLst>
          </p:cNvPr>
          <p:cNvGraphicFramePr>
            <a:graphicFrameLocks noGrp="1"/>
          </p:cNvGraphicFramePr>
          <p:nvPr>
            <p:extLst>
              <p:ext uri="{D42A27DB-BD31-4B8C-83A1-F6EECF244321}">
                <p14:modId xmlns:p14="http://schemas.microsoft.com/office/powerpoint/2010/main" val="129060288"/>
              </p:ext>
            </p:extLst>
          </p:nvPr>
        </p:nvGraphicFramePr>
        <p:xfrm>
          <a:off x="-10990" y="527538"/>
          <a:ext cx="9178296" cy="4792038"/>
        </p:xfrm>
        <a:graphic>
          <a:graphicData uri="http://schemas.openxmlformats.org/drawingml/2006/table">
            <a:tbl>
              <a:tblPr firstRow="1" bandRow="1">
                <a:tableStyleId>{5C22544A-7EE6-4342-B048-85BDC9FD1C3A}</a:tableStyleId>
              </a:tblPr>
              <a:tblGrid>
                <a:gridCol w="3059432">
                  <a:extLst>
                    <a:ext uri="{9D8B030D-6E8A-4147-A177-3AD203B41FA5}">
                      <a16:colId xmlns:a16="http://schemas.microsoft.com/office/drawing/2014/main" val="390956306"/>
                    </a:ext>
                  </a:extLst>
                </a:gridCol>
                <a:gridCol w="3059432">
                  <a:extLst>
                    <a:ext uri="{9D8B030D-6E8A-4147-A177-3AD203B41FA5}">
                      <a16:colId xmlns:a16="http://schemas.microsoft.com/office/drawing/2014/main" val="609818984"/>
                    </a:ext>
                  </a:extLst>
                </a:gridCol>
                <a:gridCol w="3059432">
                  <a:extLst>
                    <a:ext uri="{9D8B030D-6E8A-4147-A177-3AD203B41FA5}">
                      <a16:colId xmlns:a16="http://schemas.microsoft.com/office/drawing/2014/main" val="3582369739"/>
                    </a:ext>
                  </a:extLst>
                </a:gridCol>
              </a:tblGrid>
              <a:tr h="464696">
                <a:tc>
                  <a:txBody>
                    <a:bodyPr/>
                    <a:lstStyle/>
                    <a:p>
                      <a:pPr lvl="0">
                        <a:buNone/>
                      </a:pPr>
                      <a:r>
                        <a:rPr lang="fr-FR" sz="1800" b="0" i="0" u="none" strike="noStrike" noProof="0">
                          <a:latin typeface="Calibri"/>
                          <a:ea typeface="Calibri"/>
                          <a:cs typeface="Calibri"/>
                        </a:rPr>
                        <a:t>Critère</a:t>
                      </a:r>
                      <a:endParaRPr lang="fr-FR"/>
                    </a:p>
                  </a:txBody>
                  <a:tcPr/>
                </a:tc>
                <a:tc>
                  <a:txBody>
                    <a:bodyPr/>
                    <a:lstStyle/>
                    <a:p>
                      <a:pPr lvl="0">
                        <a:buNone/>
                      </a:pPr>
                      <a:r>
                        <a:rPr lang="fr-FR" sz="1800" b="0" i="0" u="none" strike="noStrike" noProof="0">
                          <a:latin typeface="Calibri"/>
                          <a:ea typeface="Calibri"/>
                          <a:cs typeface="Calibri"/>
                        </a:rPr>
                        <a:t>WordPress.com</a:t>
                      </a:r>
                      <a:endParaRPr lang="fr-FR"/>
                    </a:p>
                  </a:txBody>
                  <a:tcPr/>
                </a:tc>
                <a:tc>
                  <a:txBody>
                    <a:bodyPr/>
                    <a:lstStyle/>
                    <a:p>
                      <a:pPr lvl="0">
                        <a:buNone/>
                      </a:pPr>
                      <a:r>
                        <a:rPr lang="fr-FR" sz="1800" b="0" i="0" u="none" strike="noStrike" noProof="0">
                          <a:latin typeface="Calibri"/>
                          <a:ea typeface="Calibri"/>
                          <a:cs typeface="Calibri"/>
                        </a:rPr>
                        <a:t>WordPress.org</a:t>
                      </a:r>
                      <a:endParaRPr lang="fr-FR"/>
                    </a:p>
                  </a:txBody>
                  <a:tcPr/>
                </a:tc>
                <a:extLst>
                  <a:ext uri="{0D108BD9-81ED-4DB2-BD59-A6C34878D82A}">
                    <a16:rowId xmlns:a16="http://schemas.microsoft.com/office/drawing/2014/main" val="3881076900"/>
                  </a:ext>
                </a:extLst>
              </a:tr>
              <a:tr h="464696">
                <a:tc>
                  <a:txBody>
                    <a:bodyPr/>
                    <a:lstStyle/>
                    <a:p>
                      <a:pPr lvl="0">
                        <a:buNone/>
                      </a:pPr>
                      <a:r>
                        <a:rPr lang="fr-FR" sz="1800" b="0" i="0" u="none" strike="noStrike" noProof="0">
                          <a:latin typeface="Calibri"/>
                          <a:ea typeface="Calibri"/>
                          <a:cs typeface="Calibri"/>
                        </a:rPr>
                        <a:t>🧠 Principe</a:t>
                      </a:r>
                      <a:endParaRPr lang="fr-FR" sz="1800"/>
                    </a:p>
                  </a:txBody>
                  <a:tcPr/>
                </a:tc>
                <a:tc>
                  <a:txBody>
                    <a:bodyPr/>
                    <a:lstStyle/>
                    <a:p>
                      <a:pPr lvl="0">
                        <a:buNone/>
                      </a:pPr>
                      <a:r>
                        <a:rPr lang="fr-FR" sz="1800" b="0" i="0" u="none" strike="noStrike" noProof="0">
                          <a:latin typeface="Calibri"/>
                          <a:ea typeface="Calibri"/>
                          <a:cs typeface="Calibri"/>
                        </a:rPr>
                        <a:t>Plateforme prête à l’emploi</a:t>
                      </a:r>
                      <a:endParaRPr lang="fr-FR"/>
                    </a:p>
                  </a:txBody>
                  <a:tcPr/>
                </a:tc>
                <a:tc>
                  <a:txBody>
                    <a:bodyPr/>
                    <a:lstStyle/>
                    <a:p>
                      <a:pPr lvl="0">
                        <a:buNone/>
                      </a:pPr>
                      <a:r>
                        <a:rPr lang="fr-FR" sz="1800" b="0" i="0" u="none" strike="noStrike" noProof="0">
                          <a:latin typeface="Calibri"/>
                          <a:ea typeface="Calibri"/>
                          <a:cs typeface="Calibri"/>
                        </a:rPr>
                        <a:t>Logiciel à installer</a:t>
                      </a:r>
                      <a:endParaRPr lang="fr-FR"/>
                    </a:p>
                  </a:txBody>
                  <a:tcPr/>
                </a:tc>
                <a:extLst>
                  <a:ext uri="{0D108BD9-81ED-4DB2-BD59-A6C34878D82A}">
                    <a16:rowId xmlns:a16="http://schemas.microsoft.com/office/drawing/2014/main" val="1398084171"/>
                  </a:ext>
                </a:extLst>
              </a:tr>
              <a:tr h="464696">
                <a:tc>
                  <a:txBody>
                    <a:bodyPr/>
                    <a:lstStyle/>
                    <a:p>
                      <a:pPr lvl="0">
                        <a:buNone/>
                      </a:pPr>
                      <a:r>
                        <a:rPr lang="fr-FR" sz="1600" b="0" i="0" u="none" strike="noStrike" noProof="0">
                          <a:latin typeface="Calibri"/>
                          <a:ea typeface="Calibri"/>
                          <a:cs typeface="Calibri"/>
                        </a:rPr>
                        <a:t>🌐 Hébergement</a:t>
                      </a:r>
                      <a:endParaRPr lang="fr-FR" sz="1600"/>
                    </a:p>
                  </a:txBody>
                  <a:tcPr/>
                </a:tc>
                <a:tc>
                  <a:txBody>
                    <a:bodyPr/>
                    <a:lstStyle/>
                    <a:p>
                      <a:pPr lvl="0">
                        <a:buNone/>
                      </a:pPr>
                      <a:r>
                        <a:rPr lang="fr-FR" sz="1800" b="0" i="0" u="none" strike="noStrike" noProof="0">
                          <a:latin typeface="Calibri"/>
                          <a:ea typeface="Calibri"/>
                          <a:cs typeface="Calibri"/>
                        </a:rPr>
                        <a:t>Inclus (géré par WordPress)</a:t>
                      </a:r>
                      <a:endParaRPr lang="fr-FR"/>
                    </a:p>
                  </a:txBody>
                  <a:tcPr/>
                </a:tc>
                <a:tc>
                  <a:txBody>
                    <a:bodyPr/>
                    <a:lstStyle/>
                    <a:p>
                      <a:pPr lvl="0">
                        <a:buNone/>
                      </a:pPr>
                      <a:r>
                        <a:rPr lang="fr-FR" sz="1800" b="0" i="0" u="none" strike="noStrike" noProof="0">
                          <a:latin typeface="Calibri"/>
                          <a:ea typeface="Calibri"/>
                          <a:cs typeface="Calibri"/>
                        </a:rPr>
                        <a:t>À acheter séparément</a:t>
                      </a:r>
                      <a:endParaRPr lang="fr-FR"/>
                    </a:p>
                  </a:txBody>
                  <a:tcPr/>
                </a:tc>
                <a:extLst>
                  <a:ext uri="{0D108BD9-81ED-4DB2-BD59-A6C34878D82A}">
                    <a16:rowId xmlns:a16="http://schemas.microsoft.com/office/drawing/2014/main" val="3752997235"/>
                  </a:ext>
                </a:extLst>
              </a:tr>
              <a:tr h="686942">
                <a:tc>
                  <a:txBody>
                    <a:bodyPr/>
                    <a:lstStyle/>
                    <a:p>
                      <a:pPr lvl="0">
                        <a:buNone/>
                      </a:pPr>
                      <a:r>
                        <a:rPr lang="fr-FR" sz="1800" b="0" i="0" u="none" strike="noStrike" noProof="0">
                          <a:latin typeface="Calibri"/>
                          <a:ea typeface="Calibri"/>
                          <a:cs typeface="Calibri"/>
                        </a:rPr>
                        <a:t>⚙️ Installation</a:t>
                      </a:r>
                      <a:endParaRPr lang="fr-FR"/>
                    </a:p>
                  </a:txBody>
                  <a:tcPr/>
                </a:tc>
                <a:tc>
                  <a:txBody>
                    <a:bodyPr/>
                    <a:lstStyle/>
                    <a:p>
                      <a:pPr lvl="0">
                        <a:buNone/>
                      </a:pPr>
                      <a:r>
                        <a:rPr lang="fr-FR" sz="1800" b="0" i="0" u="none" strike="noStrike" noProof="0">
                          <a:latin typeface="Calibri"/>
                          <a:ea typeface="Calibri"/>
                          <a:cs typeface="Calibri"/>
                        </a:rPr>
                        <a:t>Très facile</a:t>
                      </a:r>
                      <a:endParaRPr lang="fr-FR"/>
                    </a:p>
                  </a:txBody>
                  <a:tcPr/>
                </a:tc>
                <a:tc>
                  <a:txBody>
                    <a:bodyPr/>
                    <a:lstStyle/>
                    <a:p>
                      <a:pPr lvl="0">
                        <a:buNone/>
                      </a:pPr>
                      <a:r>
                        <a:rPr lang="fr-FR" sz="1800" b="0" i="0" u="none" strike="noStrike" noProof="0">
                          <a:latin typeface="Calibri"/>
                          <a:ea typeface="Calibri"/>
                          <a:cs typeface="Calibri"/>
                        </a:rPr>
                        <a:t>Technique (installer + configurer)</a:t>
                      </a:r>
                      <a:endParaRPr lang="fr-FR"/>
                    </a:p>
                  </a:txBody>
                  <a:tcPr/>
                </a:tc>
                <a:extLst>
                  <a:ext uri="{0D108BD9-81ED-4DB2-BD59-A6C34878D82A}">
                    <a16:rowId xmlns:a16="http://schemas.microsoft.com/office/drawing/2014/main" val="3306051014"/>
                  </a:ext>
                </a:extLst>
              </a:tr>
              <a:tr h="697044">
                <a:tc>
                  <a:txBody>
                    <a:bodyPr/>
                    <a:lstStyle/>
                    <a:p>
                      <a:pPr lvl="0">
                        <a:buNone/>
                      </a:pPr>
                      <a:r>
                        <a:rPr lang="fr-FR" sz="1600" b="0" i="0" u="none" strike="noStrike" noProof="0">
                          <a:latin typeface="Calibri"/>
                          <a:ea typeface="Calibri"/>
                          <a:cs typeface="Calibri"/>
                        </a:rPr>
                        <a:t>🎨 Personnalisation</a:t>
                      </a:r>
                      <a:endParaRPr lang="fr-FR" sz="1600"/>
                    </a:p>
                  </a:txBody>
                  <a:tcPr/>
                </a:tc>
                <a:tc>
                  <a:txBody>
                    <a:bodyPr/>
                    <a:lstStyle/>
                    <a:p>
                      <a:pPr lvl="0">
                        <a:buNone/>
                      </a:pPr>
                      <a:r>
                        <a:rPr lang="fr-FR" sz="1800" b="0" i="0" u="none" strike="noStrike" noProof="0">
                          <a:latin typeface="Calibri"/>
                          <a:ea typeface="Calibri"/>
                          <a:cs typeface="Calibri"/>
                        </a:rPr>
                        <a:t>Limitée (surtout gratuit)</a:t>
                      </a:r>
                      <a:endParaRPr lang="fr-FR"/>
                    </a:p>
                  </a:txBody>
                  <a:tcPr/>
                </a:tc>
                <a:tc>
                  <a:txBody>
                    <a:bodyPr/>
                    <a:lstStyle/>
                    <a:p>
                      <a:pPr lvl="0">
                        <a:buNone/>
                      </a:pPr>
                      <a:r>
                        <a:rPr lang="fr-FR" sz="1800" b="0" i="0" u="none" strike="noStrike" noProof="0">
                          <a:latin typeface="Calibri"/>
                          <a:ea typeface="Calibri"/>
                          <a:cs typeface="Calibri"/>
                        </a:rPr>
                        <a:t>Illimitée (thèmes + code)</a:t>
                      </a:r>
                      <a:endParaRPr lang="fr-FR"/>
                    </a:p>
                  </a:txBody>
                  <a:tcPr/>
                </a:tc>
                <a:extLst>
                  <a:ext uri="{0D108BD9-81ED-4DB2-BD59-A6C34878D82A}">
                    <a16:rowId xmlns:a16="http://schemas.microsoft.com/office/drawing/2014/main" val="254301775"/>
                  </a:ext>
                </a:extLst>
              </a:tr>
              <a:tr h="686942">
                <a:tc>
                  <a:txBody>
                    <a:bodyPr/>
                    <a:lstStyle/>
                    <a:p>
                      <a:pPr lvl="0">
                        <a:buNone/>
                      </a:pPr>
                      <a:r>
                        <a:rPr lang="fr-FR" sz="1800" b="0" i="0" u="none" strike="noStrike" noProof="0">
                          <a:latin typeface="Calibri"/>
                          <a:ea typeface="Calibri"/>
                          <a:cs typeface="Calibri"/>
                        </a:rPr>
                        <a:t>🔌 Plugins</a:t>
                      </a:r>
                      <a:endParaRPr lang="fr-FR"/>
                    </a:p>
                  </a:txBody>
                  <a:tcPr/>
                </a:tc>
                <a:tc>
                  <a:txBody>
                    <a:bodyPr/>
                    <a:lstStyle/>
                    <a:p>
                      <a:pPr lvl="0">
                        <a:buNone/>
                      </a:pPr>
                      <a:r>
                        <a:rPr lang="fr-FR" sz="1800" b="0" i="0" u="none" strike="noStrike" noProof="0">
                          <a:latin typeface="Calibri"/>
                          <a:ea typeface="Calibri"/>
                          <a:cs typeface="Calibri"/>
                        </a:rPr>
                        <a:t>Limités ou payants</a:t>
                      </a:r>
                      <a:endParaRPr lang="fr-FR"/>
                    </a:p>
                  </a:txBody>
                  <a:tcPr/>
                </a:tc>
                <a:tc>
                  <a:txBody>
                    <a:bodyPr/>
                    <a:lstStyle/>
                    <a:p>
                      <a:pPr lvl="0" algn="l">
                        <a:lnSpc>
                          <a:spcPct val="100000"/>
                        </a:lnSpc>
                        <a:spcBef>
                          <a:spcPts val="0"/>
                        </a:spcBef>
                        <a:spcAft>
                          <a:spcPts val="0"/>
                        </a:spcAft>
                        <a:buNone/>
                      </a:pPr>
                      <a:r>
                        <a:rPr lang="fr-FR" sz="1800" b="0" i="0" u="none" strike="noStrike" noProof="0">
                          <a:solidFill>
                            <a:srgbClr val="000000"/>
                          </a:solidFill>
                          <a:latin typeface="Calibri"/>
                          <a:ea typeface="Calibri"/>
                          <a:cs typeface="Calibri"/>
                        </a:rPr>
                        <a:t>Illimités et gratuits</a:t>
                      </a:r>
                    </a:p>
                    <a:p>
                      <a:pPr lvl="0">
                        <a:buNone/>
                      </a:pPr>
                      <a:endParaRPr lang="fr-FR"/>
                    </a:p>
                  </a:txBody>
                  <a:tcPr/>
                </a:tc>
                <a:extLst>
                  <a:ext uri="{0D108BD9-81ED-4DB2-BD59-A6C34878D82A}">
                    <a16:rowId xmlns:a16="http://schemas.microsoft.com/office/drawing/2014/main" val="3424861569"/>
                  </a:ext>
                </a:extLst>
              </a:tr>
              <a:tr h="686942">
                <a:tc>
                  <a:txBody>
                    <a:bodyPr/>
                    <a:lstStyle/>
                    <a:p>
                      <a:pPr lvl="0">
                        <a:buNone/>
                      </a:pPr>
                      <a:r>
                        <a:rPr lang="fr-FR" sz="1800" b="0" i="0" u="none" strike="noStrike" noProof="0">
                          <a:latin typeface="Calibri"/>
                          <a:ea typeface="Calibri"/>
                          <a:cs typeface="Calibri"/>
                        </a:rPr>
                        <a:t>💰 Coût</a:t>
                      </a:r>
                      <a:endParaRPr lang="fr-FR"/>
                    </a:p>
                  </a:txBody>
                  <a:tcPr/>
                </a:tc>
                <a:tc>
                  <a:txBody>
                    <a:bodyPr/>
                    <a:lstStyle/>
                    <a:p>
                      <a:pPr lvl="0">
                        <a:buNone/>
                      </a:pPr>
                      <a:r>
                        <a:rPr lang="fr-FR" sz="1800" b="0" i="0" u="none" strike="noStrike" noProof="0">
                          <a:latin typeface="Calibri"/>
                          <a:ea typeface="Calibri"/>
                          <a:cs typeface="Calibri"/>
                        </a:rPr>
                        <a:t>Gratuit + options payantes</a:t>
                      </a:r>
                      <a:endParaRPr lang="fr-FR"/>
                    </a:p>
                  </a:txBody>
                  <a:tcPr/>
                </a:tc>
                <a:tc>
                  <a:txBody>
                    <a:bodyPr/>
                    <a:lstStyle/>
                    <a:p>
                      <a:pPr lvl="0">
                        <a:buNone/>
                      </a:pPr>
                      <a:r>
                        <a:rPr lang="fr-FR" sz="1800" b="0" i="0" u="none" strike="noStrike" noProof="0">
                          <a:latin typeface="Calibri"/>
                          <a:ea typeface="Calibri"/>
                          <a:cs typeface="Calibri"/>
                        </a:rPr>
                        <a:t>Gratuit mais hébergement payant</a:t>
                      </a:r>
                      <a:endParaRPr lang="fr-FR"/>
                    </a:p>
                  </a:txBody>
                  <a:tcPr/>
                </a:tc>
                <a:extLst>
                  <a:ext uri="{0D108BD9-81ED-4DB2-BD59-A6C34878D82A}">
                    <a16:rowId xmlns:a16="http://schemas.microsoft.com/office/drawing/2014/main" val="248972654"/>
                  </a:ext>
                </a:extLst>
              </a:tr>
              <a:tr h="464696">
                <a:tc>
                  <a:txBody>
                    <a:bodyPr/>
                    <a:lstStyle/>
                    <a:p>
                      <a:pPr lvl="0">
                        <a:buNone/>
                      </a:pPr>
                      <a:r>
                        <a:rPr lang="fr-FR" sz="1800" b="0" i="0" u="none" strike="noStrike" noProof="0">
                          <a:latin typeface="Calibri"/>
                          <a:ea typeface="Calibri"/>
                          <a:cs typeface="Calibri"/>
                        </a:rPr>
                        <a:t>🔒 Sécurité</a:t>
                      </a:r>
                      <a:endParaRPr lang="fr-FR"/>
                    </a:p>
                  </a:txBody>
                  <a:tcPr/>
                </a:tc>
                <a:tc>
                  <a:txBody>
                    <a:bodyPr/>
                    <a:lstStyle/>
                    <a:p>
                      <a:pPr lvl="0">
                        <a:buNone/>
                      </a:pPr>
                      <a:r>
                        <a:rPr lang="fr-FR" sz="1800" b="0" i="0" u="none" strike="noStrike" noProof="0">
                          <a:latin typeface="Calibri"/>
                          <a:ea typeface="Calibri"/>
                          <a:cs typeface="Calibri"/>
                        </a:rPr>
                        <a:t>Gérée automatiquement</a:t>
                      </a:r>
                      <a:endParaRPr lang="fr-FR"/>
                    </a:p>
                  </a:txBody>
                  <a:tcPr/>
                </a:tc>
                <a:tc>
                  <a:txBody>
                    <a:bodyPr/>
                    <a:lstStyle/>
                    <a:p>
                      <a:pPr lvl="0">
                        <a:buNone/>
                      </a:pPr>
                      <a:r>
                        <a:rPr lang="fr-FR" sz="1800" b="0" i="0" u="none" strike="noStrike" noProof="0">
                          <a:latin typeface="Calibri"/>
                          <a:ea typeface="Calibri"/>
                          <a:cs typeface="Calibri"/>
                        </a:rPr>
                        <a:t>À gérer soi-même</a:t>
                      </a:r>
                    </a:p>
                    <a:p>
                      <a:pPr lvl="0">
                        <a:buNone/>
                      </a:pPr>
                      <a:r>
                        <a:rPr lang="fr-FR" sz="1800" b="0" i="0" u="none" strike="noStrike" noProof="0">
                          <a:latin typeface="Calibri"/>
                          <a:ea typeface="Calibri"/>
                          <a:cs typeface="Calibri"/>
                        </a:rPr>
                        <a:t>                                         </a:t>
                      </a:r>
                    </a:p>
                  </a:txBody>
                  <a:tcPr/>
                </a:tc>
                <a:extLst>
                  <a:ext uri="{0D108BD9-81ED-4DB2-BD59-A6C34878D82A}">
                    <a16:rowId xmlns:a16="http://schemas.microsoft.com/office/drawing/2014/main" val="2378596893"/>
                  </a:ext>
                </a:extLst>
              </a:tr>
            </a:tbl>
          </a:graphicData>
        </a:graphic>
      </p:graphicFrame>
      <p:sp>
        <p:nvSpPr>
          <p:cNvPr id="6" name="Rectangle 5">
            <a:extLst>
              <a:ext uri="{FF2B5EF4-FFF2-40B4-BE49-F238E27FC236}">
                <a16:creationId xmlns:a16="http://schemas.microsoft.com/office/drawing/2014/main" id="{52D24247-52D5-6A11-1140-B1F4C30CF07A}"/>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id-ID" sz="1600" b="1">
                <a:solidFill>
                  <a:schemeClr val="bg1"/>
                </a:solidFill>
                <a:ea typeface="Calibri"/>
                <a:cs typeface="Calibri"/>
              </a:rPr>
              <a:t>20</a:t>
            </a:r>
            <a:endParaRPr lang="id-ID" sz="1600" b="1">
              <a:solidFill>
                <a:schemeClr val="bg1"/>
              </a:solidFill>
            </a:endParaRPr>
          </a:p>
        </p:txBody>
      </p:sp>
    </p:spTree>
    <p:extLst>
      <p:ext uri="{BB962C8B-B14F-4D97-AF65-F5344CB8AC3E}">
        <p14:creationId xmlns:p14="http://schemas.microsoft.com/office/powerpoint/2010/main" val="296420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BEA2A610-12ED-45B8-3DAF-3D5AE60034EF}"/>
              </a:ext>
            </a:extLst>
          </p:cNvPr>
          <p:cNvGraphicFramePr>
            <a:graphicFrameLocks noGrp="1"/>
          </p:cNvGraphicFramePr>
          <p:nvPr>
            <p:extLst>
              <p:ext uri="{D42A27DB-BD31-4B8C-83A1-F6EECF244321}">
                <p14:modId xmlns:p14="http://schemas.microsoft.com/office/powerpoint/2010/main" val="3005562984"/>
              </p:ext>
            </p:extLst>
          </p:nvPr>
        </p:nvGraphicFramePr>
        <p:xfrm>
          <a:off x="10990" y="-38466"/>
          <a:ext cx="9178299" cy="5203178"/>
        </p:xfrm>
        <a:graphic>
          <a:graphicData uri="http://schemas.openxmlformats.org/drawingml/2006/table">
            <a:tbl>
              <a:tblPr firstRow="1" bandRow="1">
                <a:tableStyleId>{5C22544A-7EE6-4342-B048-85BDC9FD1C3A}</a:tableStyleId>
              </a:tblPr>
              <a:tblGrid>
                <a:gridCol w="3059433">
                  <a:extLst>
                    <a:ext uri="{9D8B030D-6E8A-4147-A177-3AD203B41FA5}">
                      <a16:colId xmlns:a16="http://schemas.microsoft.com/office/drawing/2014/main" val="3032417262"/>
                    </a:ext>
                  </a:extLst>
                </a:gridCol>
                <a:gridCol w="3059433">
                  <a:extLst>
                    <a:ext uri="{9D8B030D-6E8A-4147-A177-3AD203B41FA5}">
                      <a16:colId xmlns:a16="http://schemas.microsoft.com/office/drawing/2014/main" val="78328698"/>
                    </a:ext>
                  </a:extLst>
                </a:gridCol>
                <a:gridCol w="3059433">
                  <a:extLst>
                    <a:ext uri="{9D8B030D-6E8A-4147-A177-3AD203B41FA5}">
                      <a16:colId xmlns:a16="http://schemas.microsoft.com/office/drawing/2014/main" val="2096052425"/>
                    </a:ext>
                  </a:extLst>
                </a:gridCol>
              </a:tblGrid>
              <a:tr h="741839">
                <a:tc>
                  <a:txBody>
                    <a:bodyPr/>
                    <a:lstStyle/>
                    <a:p>
                      <a:pPr algn="l" rtl="0" fontAlgn="base">
                        <a:lnSpc>
                          <a:spcPts val="2175"/>
                        </a:lnSpc>
                        <a:buNone/>
                      </a:pPr>
                      <a:r>
                        <a:rPr lang="fr-FR" sz="1800" b="0" i="0" u="none" strike="noStrike">
                          <a:solidFill>
                            <a:srgbClr val="FFFFFF"/>
                          </a:solidFill>
                          <a:effectLst/>
                          <a:latin typeface="Calibri" panose="020F0502020204030204" pitchFamily="34" charset="0"/>
                        </a:rPr>
                        <a:t>Critère</a:t>
                      </a:r>
                      <a:endParaRPr lang="fr-FR" b="1" i="0">
                        <a:solidFill>
                          <a:srgbClr val="FFFFFF"/>
                        </a:solidFill>
                        <a:effectLst/>
                      </a:endParaRP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37729" cap="flat" cmpd="sng" algn="ctr">
                      <a:solidFill>
                        <a:srgbClr val="FFFFFF"/>
                      </a:solidFill>
                      <a:prstDash val="solid"/>
                      <a:round/>
                      <a:headEnd type="none" w="med" len="med"/>
                      <a:tailEnd type="none" w="med" len="med"/>
                    </a:lnB>
                  </a:tcPr>
                </a:tc>
                <a:tc>
                  <a:txBody>
                    <a:bodyPr/>
                    <a:lstStyle/>
                    <a:p>
                      <a:pPr algn="l" rtl="0" fontAlgn="base">
                        <a:lnSpc>
                          <a:spcPts val="2175"/>
                        </a:lnSpc>
                        <a:buNone/>
                      </a:pPr>
                      <a:r>
                        <a:rPr lang="fr-FR" sz="1800" b="0" i="0" u="none" strike="noStrike">
                          <a:solidFill>
                            <a:srgbClr val="FFFFFF"/>
                          </a:solidFill>
                          <a:effectLst/>
                          <a:latin typeface="Calibri" panose="020F0502020204030204" pitchFamily="34" charset="0"/>
                        </a:rPr>
                        <a:t>WordPress.com</a:t>
                      </a:r>
                      <a:endParaRPr lang="fr-FR" b="1" i="0">
                        <a:solidFill>
                          <a:srgbClr val="FFFFFF"/>
                        </a:solidFill>
                        <a:effectLst/>
                      </a:endParaRP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37729" cap="flat" cmpd="sng" algn="ctr">
                      <a:solidFill>
                        <a:srgbClr val="FFFFFF"/>
                      </a:solidFill>
                      <a:prstDash val="solid"/>
                      <a:round/>
                      <a:headEnd type="none" w="med" len="med"/>
                      <a:tailEnd type="none" w="med" len="med"/>
                    </a:lnB>
                  </a:tcPr>
                </a:tc>
                <a:tc>
                  <a:txBody>
                    <a:bodyPr/>
                    <a:lstStyle/>
                    <a:p>
                      <a:pPr algn="l" rtl="0" fontAlgn="base">
                        <a:lnSpc>
                          <a:spcPts val="2175"/>
                        </a:lnSpc>
                        <a:buNone/>
                      </a:pPr>
                      <a:r>
                        <a:rPr lang="fr-FR" sz="1800" b="0" i="0" u="none" strike="noStrike">
                          <a:solidFill>
                            <a:srgbClr val="FFFFFF"/>
                          </a:solidFill>
                          <a:effectLst/>
                          <a:latin typeface="Calibri" panose="020F0502020204030204" pitchFamily="34" charset="0"/>
                        </a:rPr>
                        <a:t>WordPress.org</a:t>
                      </a:r>
                      <a:endParaRPr lang="fr-FR" b="1" i="0">
                        <a:solidFill>
                          <a:srgbClr val="FFFFFF"/>
                        </a:solidFill>
                        <a:effectLst/>
                      </a:endParaRP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3772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7746044"/>
                  </a:ext>
                </a:extLst>
              </a:tr>
              <a:tr h="741839">
                <a:tc>
                  <a:txBody>
                    <a:bodyPr/>
                    <a:lstStyle/>
                    <a:p>
                      <a:pPr lvl="0" algn="l">
                        <a:lnSpc>
                          <a:spcPts val="2175"/>
                        </a:lnSpc>
                        <a:buNone/>
                      </a:pPr>
                      <a:r>
                        <a:rPr lang="fr-FR" sz="1800" b="0" i="0" u="none" strike="noStrike" noProof="0">
                          <a:solidFill>
                            <a:srgbClr val="000000"/>
                          </a:solidFill>
                          <a:effectLst/>
                        </a:rPr>
                        <a:t>🔄 Maintenance</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37729"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Automatique</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37729"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Manuelle</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37729"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317004690"/>
                  </a:ext>
                </a:extLst>
              </a:tr>
              <a:tr h="741839">
                <a:tc>
                  <a:txBody>
                    <a:bodyPr/>
                    <a:lstStyle/>
                    <a:p>
                      <a:pPr lvl="0" algn="l">
                        <a:lnSpc>
                          <a:spcPts val="1875"/>
                        </a:lnSpc>
                        <a:buNone/>
                      </a:pPr>
                      <a:r>
                        <a:rPr lang="fr-FR" sz="1600" b="0" i="0" u="none" strike="noStrike" noProof="0">
                          <a:solidFill>
                            <a:srgbClr val="000000"/>
                          </a:solidFill>
                          <a:effectLst/>
                        </a:rPr>
                        <a:t>Nom de domaine </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Inclus (en version payante) </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algn="l" rtl="0" fontAlgn="base">
                        <a:lnSpc>
                          <a:spcPts val="2175"/>
                        </a:lnSpc>
                        <a:buNone/>
                      </a:pPr>
                      <a:r>
                        <a:rPr lang="fr-FR" sz="1800" b="0" i="0" u="none" strike="noStrike">
                          <a:solidFill>
                            <a:srgbClr val="000000"/>
                          </a:solidFill>
                          <a:effectLst/>
                          <a:latin typeface="Calibri" panose="020F0502020204030204" pitchFamily="34" charset="0"/>
                        </a:rPr>
                        <a:t>À acheter séparément</a:t>
                      </a:r>
                      <a:endParaRPr lang="fr-FR" b="0" i="0">
                        <a:solidFill>
                          <a:srgbClr val="000000"/>
                        </a:solidFill>
                        <a:effectLst/>
                      </a:endParaRP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248483184"/>
                  </a:ext>
                </a:extLst>
              </a:tr>
              <a:tr h="927299">
                <a:tc>
                  <a:txBody>
                    <a:bodyPr/>
                    <a:lstStyle/>
                    <a:p>
                      <a:pPr lvl="0" algn="l">
                        <a:lnSpc>
                          <a:spcPts val="2175"/>
                        </a:lnSpc>
                        <a:buNone/>
                      </a:pPr>
                      <a:r>
                        <a:rPr lang="fr-FR" sz="1800" b="0" i="0" u="none" strike="noStrike" noProof="0">
                          <a:solidFill>
                            <a:srgbClr val="000000"/>
                          </a:solidFill>
                          <a:effectLst/>
                        </a:rPr>
                        <a:t>💻 Accès au code</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Très limité</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Accès complet (HTML, CSS, PHP)</a:t>
                      </a:r>
                      <a:endParaRPr lang="fr-FR" noProof="0"/>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632364656"/>
                  </a:ext>
                </a:extLst>
              </a:tr>
              <a:tr h="1123063">
                <a:tc>
                  <a:txBody>
                    <a:bodyPr/>
                    <a:lstStyle/>
                    <a:p>
                      <a:pPr lvl="0" algn="l">
                        <a:lnSpc>
                          <a:spcPts val="1875"/>
                        </a:lnSpc>
                        <a:buNone/>
                      </a:pPr>
                      <a:r>
                        <a:rPr lang="fr-FR" sz="1600" b="0" i="0" u="none" strike="noStrike" noProof="0">
                          <a:solidFill>
                            <a:srgbClr val="000000"/>
                          </a:solidFill>
                          <a:effectLst/>
                        </a:rPr>
                        <a:t>🚀 Performance</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Gérée par la plateforme</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Dépend de ton hébergeur</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873862416"/>
                  </a:ext>
                </a:extLst>
              </a:tr>
              <a:tr h="927299">
                <a:tc>
                  <a:txBody>
                    <a:bodyPr/>
                    <a:lstStyle/>
                    <a:p>
                      <a:pPr lvl="0" algn="l">
                        <a:lnSpc>
                          <a:spcPts val="2175"/>
                        </a:lnSpc>
                        <a:buNone/>
                      </a:pPr>
                      <a:r>
                        <a:rPr lang="fr-FR" sz="1800" b="0" i="0" u="none" strike="noStrike" noProof="0">
                          <a:solidFill>
                            <a:srgbClr val="000000"/>
                          </a:solidFill>
                          <a:effectLst/>
                        </a:rPr>
                        <a:t>🧑‍💻 Niveau requis</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Débutant</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tc>
                  <a:txBody>
                    <a:bodyPr/>
                    <a:lstStyle/>
                    <a:p>
                      <a:pPr lvl="0" algn="l">
                        <a:lnSpc>
                          <a:spcPts val="2175"/>
                        </a:lnSpc>
                        <a:buNone/>
                      </a:pPr>
                      <a:r>
                        <a:rPr lang="fr-FR" sz="1800" b="0" i="0" u="none" strike="noStrike" noProof="0">
                          <a:solidFill>
                            <a:srgbClr val="000000"/>
                          </a:solidFill>
                          <a:effectLst/>
                        </a:rPr>
                        <a:t>Intermédiaire / avancé</a:t>
                      </a:r>
                      <a:endParaRPr lang="fr-FR"/>
                    </a:p>
                  </a:txBody>
                  <a:tcPr marL="90564" marR="90564" marT="45282" marB="45282">
                    <a:lnL w="12573" cap="flat" cmpd="sng" algn="ctr">
                      <a:solidFill>
                        <a:srgbClr val="FFFFFF"/>
                      </a:solidFill>
                      <a:prstDash val="solid"/>
                      <a:round/>
                      <a:headEnd type="none" w="med" len="med"/>
                      <a:tailEnd type="none" w="med" len="med"/>
                    </a:lnL>
                    <a:lnR w="12573" cap="flat" cmpd="sng" algn="ctr">
                      <a:solidFill>
                        <a:srgbClr val="FFFFFF"/>
                      </a:solidFill>
                      <a:prstDash val="solid"/>
                      <a:round/>
                      <a:headEnd type="none" w="med" len="med"/>
                      <a:tailEnd type="none" w="med" len="med"/>
                    </a:lnR>
                    <a:lnT w="12573" cap="flat" cmpd="sng" algn="ctr">
                      <a:solidFill>
                        <a:srgbClr val="FFFFFF"/>
                      </a:solidFill>
                      <a:prstDash val="solid"/>
                      <a:round/>
                      <a:headEnd type="none" w="med" len="med"/>
                      <a:tailEnd type="none" w="med" len="med"/>
                    </a:lnT>
                    <a:lnB w="1257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316024817"/>
                  </a:ext>
                </a:extLst>
              </a:tr>
            </a:tbl>
          </a:graphicData>
        </a:graphic>
      </p:graphicFrame>
      <p:sp>
        <p:nvSpPr>
          <p:cNvPr id="5" name="Rectangle 4">
            <a:extLst>
              <a:ext uri="{FF2B5EF4-FFF2-40B4-BE49-F238E27FC236}">
                <a16:creationId xmlns:a16="http://schemas.microsoft.com/office/drawing/2014/main" id="{0D13705E-EAB6-F6B5-0991-D9A4D2951C2B}"/>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7" name="ZoneTexte 6">
            <a:extLst>
              <a:ext uri="{FF2B5EF4-FFF2-40B4-BE49-F238E27FC236}">
                <a16:creationId xmlns:a16="http://schemas.microsoft.com/office/drawing/2014/main" id="{80CDCA49-65C5-497F-5CA8-B6C0A2452793}"/>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21</a:t>
            </a:r>
          </a:p>
        </p:txBody>
      </p:sp>
    </p:spTree>
    <p:extLst>
      <p:ext uri="{BB962C8B-B14F-4D97-AF65-F5344CB8AC3E}">
        <p14:creationId xmlns:p14="http://schemas.microsoft.com/office/powerpoint/2010/main" val="379131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181D3D-C4C9-55DF-C5B4-21670D7F783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16D50CC-53BE-A9DC-9433-2B9FE825BF5D}"/>
              </a:ext>
            </a:extLst>
          </p:cNvPr>
          <p:cNvSpPr txBox="1"/>
          <p:nvPr/>
        </p:nvSpPr>
        <p:spPr>
          <a:xfrm>
            <a:off x="3392063" y="3169345"/>
            <a:ext cx="2236430" cy="1200329"/>
          </a:xfrm>
          <a:prstGeom prst="rect">
            <a:avLst/>
          </a:prstGeom>
          <a:noFill/>
        </p:spPr>
        <p:txBody>
          <a:bodyPr wrap="square" rtlCol="0">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de-DE" sz="3600">
                <a:solidFill>
                  <a:schemeClr val="bg1">
                    <a:lumMod val="50000"/>
                  </a:schemeClr>
                </a:solidFill>
                <a:latin typeface="+mj-lt"/>
              </a:rPr>
              <a:t>Conclusion</a:t>
            </a:r>
            <a:endParaRPr lang="en-US" sz="3600">
              <a:solidFill>
                <a:schemeClr val="bg1">
                  <a:lumMod val="50000"/>
                </a:schemeClr>
              </a:solidFill>
              <a:latin typeface="+mj-lt"/>
            </a:endParaRPr>
          </a:p>
        </p:txBody>
      </p:sp>
      <p:sp>
        <p:nvSpPr>
          <p:cNvPr id="2" name="Isosceles Triangle 1">
            <a:extLst>
              <a:ext uri="{FF2B5EF4-FFF2-40B4-BE49-F238E27FC236}">
                <a16:creationId xmlns:a16="http://schemas.microsoft.com/office/drawing/2014/main" id="{F9B72711-AD5F-8271-5DB7-F2619680F500}"/>
              </a:ext>
            </a:extLst>
          </p:cNvPr>
          <p:cNvSpPr/>
          <p:nvPr/>
        </p:nvSpPr>
        <p:spPr>
          <a:xfrm rot="10800000" flipH="1" flipV="1">
            <a:off x="4411297" y="2988000"/>
            <a:ext cx="197963" cy="116857"/>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61" name="Straight Connector 60">
            <a:extLst>
              <a:ext uri="{FF2B5EF4-FFF2-40B4-BE49-F238E27FC236}">
                <a16:creationId xmlns:a16="http://schemas.microsoft.com/office/drawing/2014/main" id="{60CC1304-6930-576D-AE99-C926A5E03B4D}"/>
              </a:ext>
            </a:extLst>
          </p:cNvPr>
          <p:cNvCxnSpPr/>
          <p:nvPr/>
        </p:nvCxnSpPr>
        <p:spPr>
          <a:xfrm>
            <a:off x="4499861" y="1"/>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AF97E83-58B6-29C9-DB69-985E9D33BAD6}"/>
              </a:ext>
            </a:extLst>
          </p:cNvPr>
          <p:cNvSpPr txBox="1"/>
          <p:nvPr/>
        </p:nvSpPr>
        <p:spPr>
          <a:xfrm>
            <a:off x="-143466" y="609741"/>
            <a:ext cx="3409085" cy="369332"/>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id-ID" sz="1800" b="1">
                <a:solidFill>
                  <a:schemeClr val="bg1">
                    <a:lumMod val="50000"/>
                  </a:schemeClr>
                </a:solidFill>
                <a:latin typeface="+mj-lt"/>
              </a:rPr>
              <a:t>Démonstration rapide</a:t>
            </a:r>
            <a:endParaRPr lang="de-DE" sz="1800">
              <a:solidFill>
                <a:schemeClr val="bg1">
                  <a:lumMod val="50000"/>
                </a:schemeClr>
              </a:solidFill>
              <a:latin typeface="+mj-lt"/>
              <a:ea typeface="Calibri Light"/>
              <a:cs typeface="Calibri Light"/>
            </a:endParaRPr>
          </a:p>
        </p:txBody>
      </p:sp>
      <p:sp>
        <p:nvSpPr>
          <p:cNvPr id="63" name="TextBox 62">
            <a:extLst>
              <a:ext uri="{FF2B5EF4-FFF2-40B4-BE49-F238E27FC236}">
                <a16:creationId xmlns:a16="http://schemas.microsoft.com/office/drawing/2014/main" id="{BE37B729-61D8-CBC7-BAB3-1CD592F65481}"/>
              </a:ext>
            </a:extLst>
          </p:cNvPr>
          <p:cNvSpPr txBox="1"/>
          <p:nvPr/>
        </p:nvSpPr>
        <p:spPr>
          <a:xfrm>
            <a:off x="1199316" y="932509"/>
            <a:ext cx="1961900" cy="415498"/>
          </a:xfrm>
          <a:prstGeom prst="rect">
            <a:avLst/>
          </a:prstGeom>
          <a:noFill/>
        </p:spPr>
        <p:txBody>
          <a:bodyPr wrap="square" lIns="91440" tIns="45720" rIns="91440" bIns="45720" rtlCol="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fr-FR" sz="1050">
                <a:solidFill>
                  <a:schemeClr val="bg1">
                    <a:lumMod val="65000"/>
                  </a:schemeClr>
                </a:solidFill>
                <a:ea typeface="+mn-lt"/>
                <a:cs typeface="+mn-lt"/>
              </a:rPr>
              <a:t> ajout de contenu, personnalisation.</a:t>
            </a:r>
            <a:endParaRPr lang="en-US">
              <a:solidFill>
                <a:schemeClr val="bg1">
                  <a:lumMod val="65000"/>
                </a:schemeClr>
              </a:solidFill>
            </a:endParaRPr>
          </a:p>
        </p:txBody>
      </p:sp>
      <p:sp>
        <p:nvSpPr>
          <p:cNvPr id="64" name="Oval 63">
            <a:extLst>
              <a:ext uri="{FF2B5EF4-FFF2-40B4-BE49-F238E27FC236}">
                <a16:creationId xmlns:a16="http://schemas.microsoft.com/office/drawing/2014/main" id="{C5398A05-5ADA-1FEE-653E-75C78CBAB8DA}"/>
              </a:ext>
            </a:extLst>
          </p:cNvPr>
          <p:cNvSpPr/>
          <p:nvPr/>
        </p:nvSpPr>
        <p:spPr>
          <a:xfrm>
            <a:off x="4467857" y="948566"/>
            <a:ext cx="84842" cy="84842"/>
          </a:xfrm>
          <a:prstGeom prst="ellipse">
            <a:avLst/>
          </a:prstGeom>
          <a:solidFill>
            <a:schemeClr val="accent5"/>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65" name="Straight Connector 64">
            <a:extLst>
              <a:ext uri="{FF2B5EF4-FFF2-40B4-BE49-F238E27FC236}">
                <a16:creationId xmlns:a16="http://schemas.microsoft.com/office/drawing/2014/main" id="{1830CDB2-B9FE-2DCE-CDA7-C99041013904}"/>
              </a:ext>
            </a:extLst>
          </p:cNvPr>
          <p:cNvCxnSpPr/>
          <p:nvPr/>
        </p:nvCxnSpPr>
        <p:spPr>
          <a:xfrm>
            <a:off x="4074289" y="1005128"/>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D4397DD-349A-1740-D6FC-6E94A9403E5F}"/>
              </a:ext>
            </a:extLst>
          </p:cNvPr>
          <p:cNvCxnSpPr/>
          <p:nvPr/>
        </p:nvCxnSpPr>
        <p:spPr>
          <a:xfrm>
            <a:off x="4510278" y="1039969"/>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4638EDAA-9989-C8E9-1D8A-14A41E2BCD92}"/>
              </a:ext>
            </a:extLst>
          </p:cNvPr>
          <p:cNvSpPr/>
          <p:nvPr/>
        </p:nvSpPr>
        <p:spPr>
          <a:xfrm>
            <a:off x="4467857" y="1988535"/>
            <a:ext cx="84842" cy="84842"/>
          </a:xfrm>
          <a:prstGeom prst="ellipse">
            <a:avLst/>
          </a:prstGeom>
          <a:solidFill>
            <a:schemeClr val="accent6"/>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cxnSp>
        <p:nvCxnSpPr>
          <p:cNvPr id="69" name="Straight Connector 68">
            <a:extLst>
              <a:ext uri="{FF2B5EF4-FFF2-40B4-BE49-F238E27FC236}">
                <a16:creationId xmlns:a16="http://schemas.microsoft.com/office/drawing/2014/main" id="{87F04E78-9B33-9F74-8B6A-3FCB210B6E12}"/>
              </a:ext>
            </a:extLst>
          </p:cNvPr>
          <p:cNvCxnSpPr/>
          <p:nvPr/>
        </p:nvCxnSpPr>
        <p:spPr>
          <a:xfrm>
            <a:off x="4552699" y="2045096"/>
            <a:ext cx="393569"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C27EA48E-5D8B-1F08-623A-2E25FA82F681}"/>
              </a:ext>
            </a:extLst>
          </p:cNvPr>
          <p:cNvSpPr/>
          <p:nvPr/>
        </p:nvSpPr>
        <p:spPr>
          <a:xfrm>
            <a:off x="4946268" y="1649710"/>
            <a:ext cx="790773" cy="790773"/>
          </a:xfrm>
          <a:prstGeom prst="rect">
            <a:avLst/>
          </a:prstGeom>
          <a:solidFill>
            <a:schemeClr val="accent6"/>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71" name="TextBox 70">
            <a:extLst>
              <a:ext uri="{FF2B5EF4-FFF2-40B4-BE49-F238E27FC236}">
                <a16:creationId xmlns:a16="http://schemas.microsoft.com/office/drawing/2014/main" id="{62954EEA-CF69-F37E-98A7-D22D66B18E23}"/>
              </a:ext>
            </a:extLst>
          </p:cNvPr>
          <p:cNvSpPr txBox="1"/>
          <p:nvPr/>
        </p:nvSpPr>
        <p:spPr>
          <a:xfrm>
            <a:off x="5769157" y="1803726"/>
            <a:ext cx="1801214" cy="646331"/>
          </a:xfrm>
          <a:prstGeom prst="rect">
            <a:avLst/>
          </a:prstGeom>
          <a:noFill/>
        </p:spPr>
        <p:txBody>
          <a:bodyPr wrap="square" rtlCol="0">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id-ID" sz="1800" b="1">
                <a:solidFill>
                  <a:schemeClr val="bg1">
                    <a:lumMod val="50000"/>
                  </a:schemeClr>
                </a:solidFill>
                <a:latin typeface="+mj-lt"/>
              </a:rPr>
              <a:t>La partie pratique</a:t>
            </a:r>
          </a:p>
        </p:txBody>
      </p:sp>
      <p:cxnSp>
        <p:nvCxnSpPr>
          <p:cNvPr id="73" name="Straight Connector 72">
            <a:extLst>
              <a:ext uri="{FF2B5EF4-FFF2-40B4-BE49-F238E27FC236}">
                <a16:creationId xmlns:a16="http://schemas.microsoft.com/office/drawing/2014/main" id="{FF2A6705-ECF4-DEE6-DC24-6FECE8B19ABA}"/>
              </a:ext>
            </a:extLst>
          </p:cNvPr>
          <p:cNvCxnSpPr/>
          <p:nvPr/>
        </p:nvCxnSpPr>
        <p:spPr>
          <a:xfrm>
            <a:off x="4510278" y="2070766"/>
            <a:ext cx="0" cy="936881"/>
          </a:xfrm>
          <a:prstGeom prst="line">
            <a:avLst/>
          </a:prstGeom>
          <a:ln w="25400">
            <a:solidFill>
              <a:schemeClr val="bg1">
                <a:lumMod val="85000"/>
              </a:schemeClr>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75" name="Freeform 11">
            <a:extLst>
              <a:ext uri="{FF2B5EF4-FFF2-40B4-BE49-F238E27FC236}">
                <a16:creationId xmlns:a16="http://schemas.microsoft.com/office/drawing/2014/main" id="{5D997E47-04B1-C62B-FC8D-56EC1B71B2AC}"/>
              </a:ext>
            </a:extLst>
          </p:cNvPr>
          <p:cNvSpPr>
            <a:spLocks noEditPoints="1"/>
          </p:cNvSpPr>
          <p:nvPr/>
        </p:nvSpPr>
        <p:spPr bwMode="auto">
          <a:xfrm>
            <a:off x="5194900" y="1886449"/>
            <a:ext cx="289874" cy="289013"/>
          </a:xfrm>
          <a:custGeom>
            <a:avLst/>
            <a:gdLst>
              <a:gd name="T0" fmla="*/ 839 w 852"/>
              <a:gd name="T1" fmla="*/ 4 h 850"/>
              <a:gd name="T2" fmla="*/ 824 w 852"/>
              <a:gd name="T3" fmla="*/ 0 h 850"/>
              <a:gd name="T4" fmla="*/ 810 w 852"/>
              <a:gd name="T5" fmla="*/ 5 h 850"/>
              <a:gd name="T6" fmla="*/ 13 w 852"/>
              <a:gd name="T7" fmla="*/ 536 h 850"/>
              <a:gd name="T8" fmla="*/ 1 w 852"/>
              <a:gd name="T9" fmla="*/ 561 h 850"/>
              <a:gd name="T10" fmla="*/ 18 w 852"/>
              <a:gd name="T11" fmla="*/ 583 h 850"/>
              <a:gd name="T12" fmla="*/ 225 w 852"/>
              <a:gd name="T13" fmla="*/ 666 h 850"/>
              <a:gd name="T14" fmla="*/ 323 w 852"/>
              <a:gd name="T15" fmla="*/ 837 h 850"/>
              <a:gd name="T16" fmla="*/ 346 w 852"/>
              <a:gd name="T17" fmla="*/ 850 h 850"/>
              <a:gd name="T18" fmla="*/ 346 w 852"/>
              <a:gd name="T19" fmla="*/ 850 h 850"/>
              <a:gd name="T20" fmla="*/ 369 w 852"/>
              <a:gd name="T21" fmla="*/ 837 h 850"/>
              <a:gd name="T22" fmla="*/ 424 w 852"/>
              <a:gd name="T23" fmla="*/ 745 h 850"/>
              <a:gd name="T24" fmla="*/ 682 w 852"/>
              <a:gd name="T25" fmla="*/ 848 h 850"/>
              <a:gd name="T26" fmla="*/ 691 w 852"/>
              <a:gd name="T27" fmla="*/ 850 h 850"/>
              <a:gd name="T28" fmla="*/ 705 w 852"/>
              <a:gd name="T29" fmla="*/ 847 h 850"/>
              <a:gd name="T30" fmla="*/ 718 w 852"/>
              <a:gd name="T31" fmla="*/ 828 h 850"/>
              <a:gd name="T32" fmla="*/ 850 w 852"/>
              <a:gd name="T33" fmla="*/ 31 h 850"/>
              <a:gd name="T34" fmla="*/ 839 w 852"/>
              <a:gd name="T35" fmla="*/ 4 h 850"/>
              <a:gd name="T36" fmla="*/ 84 w 852"/>
              <a:gd name="T37" fmla="*/ 552 h 850"/>
              <a:gd name="T38" fmla="*/ 700 w 852"/>
              <a:gd name="T39" fmla="*/ 142 h 850"/>
              <a:gd name="T40" fmla="*/ 252 w 852"/>
              <a:gd name="T41" fmla="*/ 621 h 850"/>
              <a:gd name="T42" fmla="*/ 245 w 852"/>
              <a:gd name="T43" fmla="*/ 616 h 850"/>
              <a:gd name="T44" fmla="*/ 84 w 852"/>
              <a:gd name="T45" fmla="*/ 552 h 850"/>
              <a:gd name="T46" fmla="*/ 272 w 852"/>
              <a:gd name="T47" fmla="*/ 639 h 850"/>
              <a:gd name="T48" fmla="*/ 271 w 852"/>
              <a:gd name="T49" fmla="*/ 639 h 850"/>
              <a:gd name="T50" fmla="*/ 774 w 852"/>
              <a:gd name="T51" fmla="*/ 101 h 850"/>
              <a:gd name="T52" fmla="*/ 346 w 852"/>
              <a:gd name="T53" fmla="*/ 769 h 850"/>
              <a:gd name="T54" fmla="*/ 272 w 852"/>
              <a:gd name="T55" fmla="*/ 639 h 850"/>
              <a:gd name="T56" fmla="*/ 671 w 852"/>
              <a:gd name="T57" fmla="*/ 787 h 850"/>
              <a:gd name="T58" fmla="*/ 444 w 852"/>
              <a:gd name="T59" fmla="*/ 696 h 850"/>
              <a:gd name="T60" fmla="*/ 427 w 852"/>
              <a:gd name="T61" fmla="*/ 693 h 850"/>
              <a:gd name="T62" fmla="*/ 777 w 852"/>
              <a:gd name="T63" fmla="*/ 151 h 850"/>
              <a:gd name="T64" fmla="*/ 671 w 852"/>
              <a:gd name="T65" fmla="*/ 787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52" h="850">
                <a:moveTo>
                  <a:pt x="839" y="4"/>
                </a:moveTo>
                <a:cubicBezTo>
                  <a:pt x="834" y="2"/>
                  <a:pt x="829" y="0"/>
                  <a:pt x="824" y="0"/>
                </a:cubicBezTo>
                <a:cubicBezTo>
                  <a:pt x="819" y="0"/>
                  <a:pt x="814" y="2"/>
                  <a:pt x="810" y="5"/>
                </a:cubicBezTo>
                <a:cubicBezTo>
                  <a:pt x="13" y="536"/>
                  <a:pt x="13" y="536"/>
                  <a:pt x="13" y="536"/>
                </a:cubicBezTo>
                <a:cubicBezTo>
                  <a:pt x="5" y="541"/>
                  <a:pt x="0" y="551"/>
                  <a:pt x="1" y="561"/>
                </a:cubicBezTo>
                <a:cubicBezTo>
                  <a:pt x="2" y="570"/>
                  <a:pt x="9" y="579"/>
                  <a:pt x="18" y="583"/>
                </a:cubicBezTo>
                <a:cubicBezTo>
                  <a:pt x="225" y="666"/>
                  <a:pt x="225" y="666"/>
                  <a:pt x="225" y="666"/>
                </a:cubicBezTo>
                <a:cubicBezTo>
                  <a:pt x="323" y="837"/>
                  <a:pt x="323" y="837"/>
                  <a:pt x="323" y="837"/>
                </a:cubicBezTo>
                <a:cubicBezTo>
                  <a:pt x="328" y="845"/>
                  <a:pt x="337" y="850"/>
                  <a:pt x="346" y="850"/>
                </a:cubicBezTo>
                <a:cubicBezTo>
                  <a:pt x="346" y="850"/>
                  <a:pt x="346" y="850"/>
                  <a:pt x="346" y="850"/>
                </a:cubicBezTo>
                <a:cubicBezTo>
                  <a:pt x="356" y="850"/>
                  <a:pt x="364" y="845"/>
                  <a:pt x="369" y="837"/>
                </a:cubicBezTo>
                <a:cubicBezTo>
                  <a:pt x="424" y="745"/>
                  <a:pt x="424" y="745"/>
                  <a:pt x="424" y="745"/>
                </a:cubicBezTo>
                <a:cubicBezTo>
                  <a:pt x="682" y="848"/>
                  <a:pt x="682" y="848"/>
                  <a:pt x="682" y="848"/>
                </a:cubicBezTo>
                <a:cubicBezTo>
                  <a:pt x="685" y="849"/>
                  <a:pt x="688" y="850"/>
                  <a:pt x="691" y="850"/>
                </a:cubicBezTo>
                <a:cubicBezTo>
                  <a:pt x="696" y="850"/>
                  <a:pt x="700" y="849"/>
                  <a:pt x="705" y="847"/>
                </a:cubicBezTo>
                <a:cubicBezTo>
                  <a:pt x="712" y="843"/>
                  <a:pt x="716" y="836"/>
                  <a:pt x="718" y="828"/>
                </a:cubicBezTo>
                <a:cubicBezTo>
                  <a:pt x="850" y="31"/>
                  <a:pt x="850" y="31"/>
                  <a:pt x="850" y="31"/>
                </a:cubicBezTo>
                <a:cubicBezTo>
                  <a:pt x="852" y="21"/>
                  <a:pt x="848" y="10"/>
                  <a:pt x="839" y="4"/>
                </a:cubicBezTo>
                <a:close/>
                <a:moveTo>
                  <a:pt x="84" y="552"/>
                </a:moveTo>
                <a:cubicBezTo>
                  <a:pt x="700" y="142"/>
                  <a:pt x="700" y="142"/>
                  <a:pt x="700" y="142"/>
                </a:cubicBezTo>
                <a:cubicBezTo>
                  <a:pt x="252" y="621"/>
                  <a:pt x="252" y="621"/>
                  <a:pt x="252" y="621"/>
                </a:cubicBezTo>
                <a:cubicBezTo>
                  <a:pt x="250" y="619"/>
                  <a:pt x="248" y="617"/>
                  <a:pt x="245" y="616"/>
                </a:cubicBezTo>
                <a:lnTo>
                  <a:pt x="84" y="552"/>
                </a:lnTo>
                <a:close/>
                <a:moveTo>
                  <a:pt x="272" y="639"/>
                </a:moveTo>
                <a:cubicBezTo>
                  <a:pt x="272" y="639"/>
                  <a:pt x="271" y="639"/>
                  <a:pt x="271" y="639"/>
                </a:cubicBezTo>
                <a:cubicBezTo>
                  <a:pt x="774" y="101"/>
                  <a:pt x="774" y="101"/>
                  <a:pt x="774" y="101"/>
                </a:cubicBezTo>
                <a:cubicBezTo>
                  <a:pt x="346" y="769"/>
                  <a:pt x="346" y="769"/>
                  <a:pt x="346" y="769"/>
                </a:cubicBezTo>
                <a:lnTo>
                  <a:pt x="272" y="639"/>
                </a:lnTo>
                <a:close/>
                <a:moveTo>
                  <a:pt x="671" y="787"/>
                </a:moveTo>
                <a:cubicBezTo>
                  <a:pt x="444" y="696"/>
                  <a:pt x="444" y="696"/>
                  <a:pt x="444" y="696"/>
                </a:cubicBezTo>
                <a:cubicBezTo>
                  <a:pt x="438" y="694"/>
                  <a:pt x="433" y="693"/>
                  <a:pt x="427" y="693"/>
                </a:cubicBezTo>
                <a:cubicBezTo>
                  <a:pt x="777" y="151"/>
                  <a:pt x="777" y="151"/>
                  <a:pt x="777" y="151"/>
                </a:cubicBezTo>
                <a:lnTo>
                  <a:pt x="671" y="787"/>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id-ID" sz="1013"/>
          </a:p>
        </p:txBody>
      </p:sp>
      <p:sp>
        <p:nvSpPr>
          <p:cNvPr id="25" name="Rectangle 24">
            <a:extLst>
              <a:ext uri="{FF2B5EF4-FFF2-40B4-BE49-F238E27FC236}">
                <a16:creationId xmlns:a16="http://schemas.microsoft.com/office/drawing/2014/main" id="{3A6F6180-8A19-C544-A026-4C7CB3557022}"/>
              </a:ext>
            </a:extLst>
          </p:cNvPr>
          <p:cNvSpPr/>
          <p:nvPr/>
        </p:nvSpPr>
        <p:spPr>
          <a:xfrm>
            <a:off x="4944450" y="2378572"/>
            <a:ext cx="790773" cy="651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3" name="Rectangle 2">
            <a:extLst>
              <a:ext uri="{FF2B5EF4-FFF2-40B4-BE49-F238E27FC236}">
                <a16:creationId xmlns:a16="http://schemas.microsoft.com/office/drawing/2014/main" id="{D132CFD4-DC57-80D0-4CCA-F8EAEB5F2C01}"/>
              </a:ext>
            </a:extLst>
          </p:cNvPr>
          <p:cNvSpPr/>
          <p:nvPr/>
        </p:nvSpPr>
        <p:spPr>
          <a:xfrm>
            <a:off x="3308871" y="609741"/>
            <a:ext cx="790773" cy="790773"/>
          </a:xfrm>
          <a:prstGeom prst="rect">
            <a:avLst/>
          </a:prstGeom>
          <a:solidFill>
            <a:schemeClr val="accent6"/>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5" name="Rectangle 4">
            <a:extLst>
              <a:ext uri="{FF2B5EF4-FFF2-40B4-BE49-F238E27FC236}">
                <a16:creationId xmlns:a16="http://schemas.microsoft.com/office/drawing/2014/main" id="{9CBB2FE1-F473-8412-5898-4DF1E921E472}"/>
              </a:ext>
            </a:extLst>
          </p:cNvPr>
          <p:cNvSpPr/>
          <p:nvPr/>
        </p:nvSpPr>
        <p:spPr>
          <a:xfrm>
            <a:off x="3307053" y="1338603"/>
            <a:ext cx="790773" cy="651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0" name="ZoneTexte 9">
            <a:extLst>
              <a:ext uri="{FF2B5EF4-FFF2-40B4-BE49-F238E27FC236}">
                <a16:creationId xmlns:a16="http://schemas.microsoft.com/office/drawing/2014/main" id="{C46D6ED5-5B9B-D722-33F0-A79E91C6018F}"/>
              </a:ext>
            </a:extLst>
          </p:cNvPr>
          <p:cNvSpPr txBox="1"/>
          <p:nvPr/>
        </p:nvSpPr>
        <p:spPr>
          <a:xfrm>
            <a:off x="6669237" y="1951055"/>
            <a:ext cx="2291303" cy="253916"/>
          </a:xfrm>
          <a:prstGeom prst="rect">
            <a:avLst/>
          </a:prstGeom>
          <a:noFill/>
        </p:spPr>
        <p:txBody>
          <a:bodyPr wrap="square" lIns="91440" tIns="45720" rIns="91440" bIns="45720" anchor="t">
            <a:spAutoFit/>
          </a:bodyP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fr-FR" sz="1050">
                <a:solidFill>
                  <a:schemeClr val="bg1">
                    <a:lumMod val="65000"/>
                  </a:schemeClr>
                </a:solidFill>
                <a:ea typeface="Calibri"/>
                <a:cs typeface="Calibri"/>
              </a:rPr>
              <a:t>Site vitrine </a:t>
            </a:r>
            <a:r>
              <a:rPr lang="fr-FR" sz="1050" err="1">
                <a:solidFill>
                  <a:schemeClr val="bg1">
                    <a:lumMod val="65000"/>
                  </a:schemeClr>
                </a:solidFill>
                <a:ea typeface="Calibri"/>
                <a:cs typeface="Calibri"/>
              </a:rPr>
              <a:t>boukidan</a:t>
            </a:r>
          </a:p>
        </p:txBody>
      </p:sp>
      <p:pic>
        <p:nvPicPr>
          <p:cNvPr id="4" name="Graphic 3" descr="Internet with solid fill">
            <a:extLst>
              <a:ext uri="{FF2B5EF4-FFF2-40B4-BE49-F238E27FC236}">
                <a16:creationId xmlns:a16="http://schemas.microsoft.com/office/drawing/2014/main" id="{E37E6554-7D91-90B5-DD11-22B2EF385E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64706" y="585788"/>
            <a:ext cx="685800" cy="721519"/>
          </a:xfrm>
          <a:prstGeom prst="rect">
            <a:avLst/>
          </a:prstGeom>
        </p:spPr>
      </p:pic>
      <p:sp>
        <p:nvSpPr>
          <p:cNvPr id="7" name="Rectangle 6">
            <a:extLst>
              <a:ext uri="{FF2B5EF4-FFF2-40B4-BE49-F238E27FC236}">
                <a16:creationId xmlns:a16="http://schemas.microsoft.com/office/drawing/2014/main" id="{64607785-A6DB-988A-E398-823EADD2BC48}"/>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1" name="ZoneTexte 10">
            <a:extLst>
              <a:ext uri="{FF2B5EF4-FFF2-40B4-BE49-F238E27FC236}">
                <a16:creationId xmlns:a16="http://schemas.microsoft.com/office/drawing/2014/main" id="{D98D7E45-9720-76A9-E712-8D7A6B4583B8}"/>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22</a:t>
            </a:r>
          </a:p>
        </p:txBody>
      </p:sp>
    </p:spTree>
    <p:extLst>
      <p:ext uri="{BB962C8B-B14F-4D97-AF65-F5344CB8AC3E}">
        <p14:creationId xmlns:p14="http://schemas.microsoft.com/office/powerpoint/2010/main" val="5247151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p:cTn id="7" dur="500" fill="hold"/>
                                        <p:tgtEl>
                                          <p:spTgt spid="64"/>
                                        </p:tgtEl>
                                        <p:attrNameLst>
                                          <p:attrName>ppt_w</p:attrName>
                                        </p:attrNameLst>
                                      </p:cBhvr>
                                      <p:tavLst>
                                        <p:tav tm="0">
                                          <p:val>
                                            <p:fltVal val="0"/>
                                          </p:val>
                                        </p:tav>
                                        <p:tav tm="100000">
                                          <p:val>
                                            <p:strVal val="#ppt_w"/>
                                          </p:val>
                                        </p:tav>
                                      </p:tavLst>
                                    </p:anim>
                                    <p:anim calcmode="lin" valueType="num">
                                      <p:cBhvr>
                                        <p:cTn id="8" dur="500" fill="hold"/>
                                        <p:tgtEl>
                                          <p:spTgt spid="64"/>
                                        </p:tgtEl>
                                        <p:attrNameLst>
                                          <p:attrName>ppt_h</p:attrName>
                                        </p:attrNameLst>
                                      </p:cBhvr>
                                      <p:tavLst>
                                        <p:tav tm="0">
                                          <p:val>
                                            <p:fltVal val="0"/>
                                          </p:val>
                                        </p:tav>
                                        <p:tav tm="100000">
                                          <p:val>
                                            <p:strVal val="#ppt_h"/>
                                          </p:val>
                                        </p:tav>
                                      </p:tavLst>
                                    </p:anim>
                                    <p:animEffect transition="in" filter="fade">
                                      <p:cBhvr>
                                        <p:cTn id="9" dur="500"/>
                                        <p:tgtEl>
                                          <p:spTgt spid="64"/>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wipe(right)">
                                      <p:cBhvr>
                                        <p:cTn id="13" dur="500"/>
                                        <p:tgtEl>
                                          <p:spTgt spid="65"/>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67"/>
                                        </p:tgtEl>
                                        <p:attrNameLst>
                                          <p:attrName>style.visibility</p:attrName>
                                        </p:attrNameLst>
                                      </p:cBhvr>
                                      <p:to>
                                        <p:strVal val="visible"/>
                                      </p:to>
                                    </p:set>
                                    <p:animEffect transition="in" filter="wipe(up)">
                                      <p:cBhvr>
                                        <p:cTn id="24" dur="500"/>
                                        <p:tgtEl>
                                          <p:spTgt spid="67"/>
                                        </p:tgtEl>
                                      </p:cBhvr>
                                    </p:animEffect>
                                  </p:childTnLst>
                                </p:cTn>
                              </p:par>
                            </p:childTnLst>
                          </p:cTn>
                        </p:par>
                        <p:par>
                          <p:cTn id="25" fill="hold">
                            <p:stCondLst>
                              <p:cond delay="2000"/>
                            </p:stCondLst>
                            <p:childTnLst>
                              <p:par>
                                <p:cTn id="26" presetID="53" presetClass="entr" presetSubtype="16" fill="hold" grpId="0" nodeType="afterEffect">
                                  <p:stCondLst>
                                    <p:cond delay="0"/>
                                  </p:stCondLst>
                                  <p:childTnLst>
                                    <p:set>
                                      <p:cBhvr>
                                        <p:cTn id="27" dur="1" fill="hold">
                                          <p:stCondLst>
                                            <p:cond delay="0"/>
                                          </p:stCondLst>
                                        </p:cTn>
                                        <p:tgtEl>
                                          <p:spTgt spid="68"/>
                                        </p:tgtEl>
                                        <p:attrNameLst>
                                          <p:attrName>style.visibility</p:attrName>
                                        </p:attrNameLst>
                                      </p:cBhvr>
                                      <p:to>
                                        <p:strVal val="visible"/>
                                      </p:to>
                                    </p:set>
                                    <p:anim calcmode="lin" valueType="num">
                                      <p:cBhvr>
                                        <p:cTn id="28" dur="500" fill="hold"/>
                                        <p:tgtEl>
                                          <p:spTgt spid="68"/>
                                        </p:tgtEl>
                                        <p:attrNameLst>
                                          <p:attrName>ppt_w</p:attrName>
                                        </p:attrNameLst>
                                      </p:cBhvr>
                                      <p:tavLst>
                                        <p:tav tm="0">
                                          <p:val>
                                            <p:fltVal val="0"/>
                                          </p:val>
                                        </p:tav>
                                        <p:tav tm="100000">
                                          <p:val>
                                            <p:strVal val="#ppt_w"/>
                                          </p:val>
                                        </p:tav>
                                      </p:tavLst>
                                    </p:anim>
                                    <p:anim calcmode="lin" valueType="num">
                                      <p:cBhvr>
                                        <p:cTn id="29" dur="500" fill="hold"/>
                                        <p:tgtEl>
                                          <p:spTgt spid="68"/>
                                        </p:tgtEl>
                                        <p:attrNameLst>
                                          <p:attrName>ppt_h</p:attrName>
                                        </p:attrNameLst>
                                      </p:cBhvr>
                                      <p:tavLst>
                                        <p:tav tm="0">
                                          <p:val>
                                            <p:fltVal val="0"/>
                                          </p:val>
                                        </p:tav>
                                        <p:tav tm="100000">
                                          <p:val>
                                            <p:strVal val="#ppt_h"/>
                                          </p:val>
                                        </p:tav>
                                      </p:tavLst>
                                    </p:anim>
                                    <p:animEffect transition="in" filter="fade">
                                      <p:cBhvr>
                                        <p:cTn id="30" dur="500"/>
                                        <p:tgtEl>
                                          <p:spTgt spid="68"/>
                                        </p:tgtEl>
                                      </p:cBhvr>
                                    </p:animEffect>
                                  </p:childTnLst>
                                </p:cTn>
                              </p:par>
                            </p:childTnLst>
                          </p:cTn>
                        </p:par>
                        <p:par>
                          <p:cTn id="31" fill="hold">
                            <p:stCondLst>
                              <p:cond delay="2500"/>
                            </p:stCondLst>
                            <p:childTnLst>
                              <p:par>
                                <p:cTn id="32" presetID="22" presetClass="entr" presetSubtype="8" fill="hold" nodeType="after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wipe(left)">
                                      <p:cBhvr>
                                        <p:cTn id="34" dur="500"/>
                                        <p:tgtEl>
                                          <p:spTgt spid="69"/>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fade">
                                      <p:cBhvr>
                                        <p:cTn id="38" dur="500"/>
                                        <p:tgtEl>
                                          <p:spTgt spid="70"/>
                                        </p:tgtEl>
                                      </p:cBhvr>
                                    </p:animEffect>
                                  </p:childTnLst>
                                </p:cTn>
                              </p:par>
                            </p:childTnLst>
                          </p:cTn>
                        </p:par>
                        <p:par>
                          <p:cTn id="39" fill="hold">
                            <p:stCondLst>
                              <p:cond delay="3500"/>
                            </p:stCondLst>
                            <p:childTnLst>
                              <p:par>
                                <p:cTn id="40" presetID="53" presetClass="entr" presetSubtype="16" fill="hold" grpId="0" nodeType="afterEffect">
                                  <p:stCondLst>
                                    <p:cond delay="0"/>
                                  </p:stCondLst>
                                  <p:childTnLst>
                                    <p:set>
                                      <p:cBhvr>
                                        <p:cTn id="41" dur="1" fill="hold">
                                          <p:stCondLst>
                                            <p:cond delay="0"/>
                                          </p:stCondLst>
                                        </p:cTn>
                                        <p:tgtEl>
                                          <p:spTgt spid="75"/>
                                        </p:tgtEl>
                                        <p:attrNameLst>
                                          <p:attrName>style.visibility</p:attrName>
                                        </p:attrNameLst>
                                      </p:cBhvr>
                                      <p:to>
                                        <p:strVal val="visible"/>
                                      </p:to>
                                    </p:set>
                                    <p:anim calcmode="lin" valueType="num">
                                      <p:cBhvr>
                                        <p:cTn id="42" dur="500" fill="hold"/>
                                        <p:tgtEl>
                                          <p:spTgt spid="75"/>
                                        </p:tgtEl>
                                        <p:attrNameLst>
                                          <p:attrName>ppt_w</p:attrName>
                                        </p:attrNameLst>
                                      </p:cBhvr>
                                      <p:tavLst>
                                        <p:tav tm="0">
                                          <p:val>
                                            <p:fltVal val="0"/>
                                          </p:val>
                                        </p:tav>
                                        <p:tav tm="100000">
                                          <p:val>
                                            <p:strVal val="#ppt_w"/>
                                          </p:val>
                                        </p:tav>
                                      </p:tavLst>
                                    </p:anim>
                                    <p:anim calcmode="lin" valueType="num">
                                      <p:cBhvr>
                                        <p:cTn id="43" dur="500" fill="hold"/>
                                        <p:tgtEl>
                                          <p:spTgt spid="75"/>
                                        </p:tgtEl>
                                        <p:attrNameLst>
                                          <p:attrName>ppt_h</p:attrName>
                                        </p:attrNameLst>
                                      </p:cBhvr>
                                      <p:tavLst>
                                        <p:tav tm="0">
                                          <p:val>
                                            <p:fltVal val="0"/>
                                          </p:val>
                                        </p:tav>
                                        <p:tav tm="100000">
                                          <p:val>
                                            <p:strVal val="#ppt_h"/>
                                          </p:val>
                                        </p:tav>
                                      </p:tavLst>
                                    </p:anim>
                                    <p:animEffect transition="in" filter="fade">
                                      <p:cBhvr>
                                        <p:cTn id="44" dur="500"/>
                                        <p:tgtEl>
                                          <p:spTgt spid="75"/>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71"/>
                                        </p:tgtEl>
                                        <p:attrNameLst>
                                          <p:attrName>style.visibility</p:attrName>
                                        </p:attrNameLst>
                                      </p:cBhvr>
                                      <p:to>
                                        <p:strVal val="visible"/>
                                      </p:to>
                                    </p:set>
                                    <p:animEffect transition="in" filter="fade">
                                      <p:cBhvr>
                                        <p:cTn id="48" dur="500"/>
                                        <p:tgtEl>
                                          <p:spTgt spid="71"/>
                                        </p:tgtEl>
                                      </p:cBhvr>
                                    </p:animEffect>
                                  </p:childTnLst>
                                </p:cTn>
                              </p:par>
                            </p:childTnLst>
                          </p:cTn>
                        </p:par>
                        <p:par>
                          <p:cTn id="49" fill="hold">
                            <p:stCondLst>
                              <p:cond delay="4500"/>
                            </p:stCondLst>
                            <p:childTnLst>
                              <p:par>
                                <p:cTn id="50" presetID="22" presetClass="entr" presetSubtype="1" fill="hold" nodeType="after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wipe(up)">
                                      <p:cBhvr>
                                        <p:cTn id="52" dur="500"/>
                                        <p:tgtEl>
                                          <p:spTgt spid="73"/>
                                        </p:tgtEl>
                                      </p:cBhvr>
                                    </p:animEffect>
                                  </p:childTnLst>
                                </p:cTn>
                              </p:par>
                            </p:childTnLst>
                          </p:cTn>
                        </p:par>
                        <p:par>
                          <p:cTn id="53" fill="hold">
                            <p:stCondLst>
                              <p:cond delay="5000"/>
                            </p:stCondLst>
                            <p:childTnLst>
                              <p:par>
                                <p:cTn id="54" presetID="42" presetClass="entr" presetSubtype="0" fill="hold" grpId="0" nodeType="after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500"/>
                                        <p:tgtEl>
                                          <p:spTgt spid="2"/>
                                        </p:tgtEl>
                                      </p:cBhvr>
                                    </p:animEffect>
                                    <p:anim calcmode="lin" valueType="num">
                                      <p:cBhvr>
                                        <p:cTn id="57" dur="500" fill="hold"/>
                                        <p:tgtEl>
                                          <p:spTgt spid="2"/>
                                        </p:tgtEl>
                                        <p:attrNameLst>
                                          <p:attrName>ppt_x</p:attrName>
                                        </p:attrNameLst>
                                      </p:cBhvr>
                                      <p:tavLst>
                                        <p:tav tm="0">
                                          <p:val>
                                            <p:strVal val="#ppt_x"/>
                                          </p:val>
                                        </p:tav>
                                        <p:tav tm="100000">
                                          <p:val>
                                            <p:strVal val="#ppt_x"/>
                                          </p:val>
                                        </p:tav>
                                      </p:tavLst>
                                    </p:anim>
                                    <p:anim calcmode="lin" valueType="num">
                                      <p:cBhvr>
                                        <p:cTn id="58" dur="500" fill="hold"/>
                                        <p:tgtEl>
                                          <p:spTgt spid="2"/>
                                        </p:tgtEl>
                                        <p:attrNameLst>
                                          <p:attrName>ppt_y</p:attrName>
                                        </p:attrNameLst>
                                      </p:cBhvr>
                                      <p:tavLst>
                                        <p:tav tm="0">
                                          <p:val>
                                            <p:strVal val="#ppt_y+.1"/>
                                          </p:val>
                                        </p:tav>
                                        <p:tav tm="100000">
                                          <p:val>
                                            <p:strVal val="#ppt_y"/>
                                          </p:val>
                                        </p:tav>
                                      </p:tavLst>
                                    </p:anim>
                                  </p:childTnLst>
                                </p:cTn>
                              </p:par>
                            </p:childTnLst>
                          </p:cTn>
                        </p:par>
                        <p:par>
                          <p:cTn id="59" fill="hold">
                            <p:stCondLst>
                              <p:cond delay="5500"/>
                            </p:stCondLst>
                            <p:childTnLst>
                              <p:par>
                                <p:cTn id="60" presetID="10" presetClass="entr" presetSubtype="0"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500"/>
                                        <p:tgtEl>
                                          <p:spTgt spid="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childTnLst>
                          </p:cTn>
                        </p:par>
                        <p:par>
                          <p:cTn id="66" fill="hold">
                            <p:stCondLst>
                              <p:cond delay="6000"/>
                            </p:stCondLst>
                            <p:childTnLst>
                              <p:par>
                                <p:cTn id="67" presetID="10" presetClass="entr" presetSubtype="0" fill="hold" grpId="0" nodeType="after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fade">
                                      <p:cBhvr>
                                        <p:cTn id="69" dur="500"/>
                                        <p:tgtEl>
                                          <p:spTgt spid="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500"/>
                                        <p:tgtEl>
                                          <p:spTgt spid="5"/>
                                        </p:tgtEl>
                                      </p:cBhvr>
                                    </p:animEffect>
                                  </p:childTnLst>
                                </p:cTn>
                              </p:par>
                            </p:childTnLst>
                          </p:cTn>
                        </p:par>
                        <p:par>
                          <p:cTn id="73" fill="hold">
                            <p:stCondLst>
                              <p:cond delay="6500"/>
                            </p:stCondLst>
                            <p:childTnLst>
                              <p:par>
                                <p:cTn id="74" presetID="10" presetClass="entr" presetSubtype="0" fill="hold" grpId="0" nodeType="after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fade">
                                      <p:cBhvr>
                                        <p:cTn id="7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P spid="62" grpId="0"/>
      <p:bldP spid="63" grpId="0"/>
      <p:bldP spid="64" grpId="0" animBg="1"/>
      <p:bldP spid="68" grpId="0" animBg="1"/>
      <p:bldP spid="70" grpId="0" animBg="1"/>
      <p:bldP spid="71" grpId="0"/>
      <p:bldP spid="75" grpId="0" animBg="1"/>
      <p:bldP spid="25" grpId="0" animBg="1"/>
      <p:bldP spid="3" grpId="0" animBg="1"/>
      <p:bldP spid="5"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Une image contenant texte, capture d’écran, logiciel, Page web&#10;&#10;Le contenu généré par l’IA peut être incorrect.">
            <a:extLst>
              <a:ext uri="{FF2B5EF4-FFF2-40B4-BE49-F238E27FC236}">
                <a16:creationId xmlns:a16="http://schemas.microsoft.com/office/drawing/2014/main" id="{7FB1B136-AE35-9DF6-8431-20456E684719}"/>
              </a:ext>
            </a:extLst>
          </p:cNvPr>
          <p:cNvPicPr>
            <a:picLocks noChangeAspect="1"/>
          </p:cNvPicPr>
          <p:nvPr/>
        </p:nvPicPr>
        <p:blipFill>
          <a:blip r:embed="rId2"/>
          <a:stretch>
            <a:fillRect/>
          </a:stretch>
        </p:blipFill>
        <p:spPr>
          <a:xfrm>
            <a:off x="0" y="540393"/>
            <a:ext cx="9144000" cy="4498143"/>
          </a:xfrm>
          <a:prstGeom prst="rect">
            <a:avLst/>
          </a:prstGeom>
        </p:spPr>
      </p:pic>
      <p:sp>
        <p:nvSpPr>
          <p:cNvPr id="4" name="Rectangle 3">
            <a:extLst>
              <a:ext uri="{FF2B5EF4-FFF2-40B4-BE49-F238E27FC236}">
                <a16:creationId xmlns:a16="http://schemas.microsoft.com/office/drawing/2014/main" id="{2C1B621D-FEF6-E856-4030-5C06B7AA051F}"/>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6" name="ZoneTexte 5">
            <a:extLst>
              <a:ext uri="{FF2B5EF4-FFF2-40B4-BE49-F238E27FC236}">
                <a16:creationId xmlns:a16="http://schemas.microsoft.com/office/drawing/2014/main" id="{91D630CC-9DEC-EB4C-A9F8-AE92115F8E7E}"/>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23</a:t>
            </a:r>
          </a:p>
        </p:txBody>
      </p:sp>
    </p:spTree>
    <p:extLst>
      <p:ext uri="{BB962C8B-B14F-4D97-AF65-F5344CB8AC3E}">
        <p14:creationId xmlns:p14="http://schemas.microsoft.com/office/powerpoint/2010/main" val="32738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A38C6A-D08D-15A1-5B30-2917DC6600E1}"/>
              </a:ext>
            </a:extLst>
          </p:cNvPr>
          <p:cNvSpPr/>
          <p:nvPr/>
        </p:nvSpPr>
        <p:spPr>
          <a:xfrm>
            <a:off x="8785" y="1643"/>
            <a:ext cx="4551880" cy="5144627"/>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rgbClr val="9466AA"/>
              </a:solidFill>
              <a:highlight>
                <a:srgbClr val="F5F5F5"/>
              </a:highlight>
              <a:latin typeface="Consolas"/>
              <a:ea typeface="Calibri"/>
              <a:cs typeface="Calibri"/>
            </a:endParaRPr>
          </a:p>
        </p:txBody>
      </p:sp>
      <p:sp>
        <p:nvSpPr>
          <p:cNvPr id="3" name="TextBox 2">
            <a:extLst>
              <a:ext uri="{FF2B5EF4-FFF2-40B4-BE49-F238E27FC236}">
                <a16:creationId xmlns:a16="http://schemas.microsoft.com/office/drawing/2014/main" id="{702FB648-3B23-171D-453E-8667181A0F63}"/>
              </a:ext>
            </a:extLst>
          </p:cNvPr>
          <p:cNvSpPr txBox="1"/>
          <p:nvPr/>
        </p:nvSpPr>
        <p:spPr>
          <a:xfrm>
            <a:off x="269991" y="289276"/>
            <a:ext cx="4310221" cy="4435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0C885EE6-DEC5-EEA6-4D3B-7D1501314322}"/>
              </a:ext>
            </a:extLst>
          </p:cNvPr>
          <p:cNvSpPr txBox="1"/>
          <p:nvPr/>
        </p:nvSpPr>
        <p:spPr>
          <a:xfrm>
            <a:off x="19195" y="100627"/>
            <a:ext cx="4557139" cy="4939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9466AA"/>
                </a:solidFill>
                <a:highlight>
                  <a:srgbClr val="F5F5F5"/>
                </a:highlight>
                <a:latin typeface="Consolas"/>
              </a:rPr>
              <a:t>function</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traiter_contact_pharmacie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E17092"/>
                </a:solidFill>
                <a:highlight>
                  <a:srgbClr val="F5F5F5"/>
                </a:highlight>
                <a:latin typeface="Consolas"/>
              </a:rPr>
              <a:t>if</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isset</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envoyer_pharmacie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&amp;&amp;</a:t>
            </a:r>
            <a:endParaRPr lang="en-US" sz="1000">
              <a:ea typeface="Calibri"/>
              <a:cs typeface="Calibri"/>
            </a:endParaRPr>
          </a:p>
          <a:p>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isset</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contact_nonce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&amp;&amp;</a:t>
            </a:r>
            <a:endParaRPr lang="en-US" sz="1000">
              <a:ea typeface="Calibri"/>
              <a:cs typeface="Calibri"/>
            </a:endParaRPr>
          </a:p>
          <a:p>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wp_verify_nonce</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contact_nonce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contact_pharmacie</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E17092"/>
                </a:solidFill>
                <a:highlight>
                  <a:srgbClr val="F5F5F5"/>
                </a:highlight>
                <a:latin typeface="Consolas"/>
              </a:rPr>
              <a:t>global</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9466AA"/>
                </a:solidFill>
                <a:highlight>
                  <a:srgbClr val="F5F5F5"/>
                </a:highlight>
                <a:latin typeface="Consolas"/>
              </a:rPr>
              <a:t>wpdb</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table</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messages_pharmacie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i="1">
                <a:solidFill>
                  <a:srgbClr val="BA9AB9"/>
                </a:solidFill>
                <a:highlight>
                  <a:srgbClr val="F5F5F5"/>
                </a:highlight>
                <a:latin typeface="Consolas"/>
              </a:rPr>
              <a:t>// ← </a:t>
            </a:r>
            <a:r>
              <a:rPr lang="en-US" sz="1000" i="1" err="1">
                <a:solidFill>
                  <a:srgbClr val="BA9AB9"/>
                </a:solidFill>
                <a:highlight>
                  <a:srgbClr val="F5F5F5"/>
                </a:highlight>
                <a:latin typeface="Consolas"/>
              </a:rPr>
              <a:t>votre</a:t>
            </a:r>
            <a:r>
              <a:rPr lang="en-US" sz="1000" i="1">
                <a:solidFill>
                  <a:srgbClr val="BA9AB9"/>
                </a:solidFill>
                <a:highlight>
                  <a:srgbClr val="F5F5F5"/>
                </a:highlight>
                <a:latin typeface="Consolas"/>
              </a:rPr>
              <a:t> table sans </a:t>
            </a:r>
            <a:r>
              <a:rPr lang="en-US" sz="1000" i="1" err="1">
                <a:solidFill>
                  <a:srgbClr val="BA9AB9"/>
                </a:solidFill>
                <a:highlight>
                  <a:srgbClr val="F5F5F5"/>
                </a:highlight>
                <a:latin typeface="Consolas"/>
              </a:rPr>
              <a:t>préfixe</a:t>
            </a:r>
            <a:r>
              <a:rPr lang="en-US" sz="1000" i="1">
                <a:solidFill>
                  <a:srgbClr val="BA9AB9"/>
                </a:solidFill>
                <a:highlight>
                  <a:srgbClr val="F5F5F5"/>
                </a:highlight>
                <a:latin typeface="Consolas"/>
              </a:rPr>
              <a:t> wp_</a:t>
            </a:r>
            <a:endParaRPr lang="en-US" sz="1000">
              <a:ea typeface="Calibri"/>
              <a:cs typeface="Calibri"/>
            </a:endParaRPr>
          </a:p>
          <a:p>
            <a:br>
              <a:rPr lang="en-US"/>
            </a:b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9466AA"/>
                </a:solidFill>
                <a:highlight>
                  <a:srgbClr val="F5F5F5"/>
                </a:highlight>
                <a:latin typeface="Consolas"/>
              </a:rPr>
              <a:t>wpdb</a:t>
            </a:r>
            <a:r>
              <a:rPr lang="en-US" sz="1000">
                <a:solidFill>
                  <a:srgbClr val="777777"/>
                </a:solidFill>
                <a:highlight>
                  <a:srgbClr val="F5F5F5"/>
                </a:highlight>
                <a:latin typeface="Consolas"/>
              </a:rPr>
              <a:t>-&gt;</a:t>
            </a:r>
            <a:r>
              <a:rPr lang="en-US" sz="1000" b="1">
                <a:solidFill>
                  <a:srgbClr val="9D3C5E"/>
                </a:solidFill>
                <a:highlight>
                  <a:srgbClr val="F5F5F5"/>
                </a:highlight>
                <a:latin typeface="Consolas"/>
              </a:rPr>
              <a:t>insert</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table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nom</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=&gt;</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sanitize_text_field</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nom</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email</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=&gt;</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sanitize_email</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email</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message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=&gt;</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sanitize_textarea_field</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message</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pharmacie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=&gt;</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sanitize_text_field</a:t>
            </a:r>
            <a:r>
              <a:rPr lang="en-US" sz="1000">
                <a:solidFill>
                  <a:srgbClr val="777777"/>
                </a:solidFill>
                <a:highlight>
                  <a:srgbClr val="F5F5F5"/>
                </a:highlight>
                <a:latin typeface="Consolas"/>
              </a:rPr>
              <a:t>($</a:t>
            </a:r>
            <a:r>
              <a:rPr lang="en-US" sz="1000">
                <a:solidFill>
                  <a:srgbClr val="9466AA"/>
                </a:solidFill>
                <a:highlight>
                  <a:srgbClr val="F5F5F5"/>
                </a:highlight>
                <a:latin typeface="Consolas"/>
              </a:rPr>
              <a:t>_POST</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pharmacie</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date_envoi</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=&gt;</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current_time</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mysql</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endParaRPr lang="en-US" sz="1000">
              <a:ea typeface="Calibri"/>
              <a:cs typeface="Calibri"/>
            </a:endParaRPr>
          </a:p>
          <a:p>
            <a:br>
              <a:rPr lang="en-US"/>
            </a:br>
            <a:endParaRPr lang="en-US" sz="1000">
              <a:ea typeface="Calibri"/>
              <a:cs typeface="Calibri"/>
            </a:endParaRPr>
          </a:p>
          <a:p>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wp_redirect</a:t>
            </a:r>
            <a:r>
              <a:rPr lang="en-US" sz="1000">
                <a:solidFill>
                  <a:srgbClr val="777777"/>
                </a:solidFill>
                <a:highlight>
                  <a:srgbClr val="F5F5F5"/>
                </a:highlight>
                <a:latin typeface="Consolas"/>
              </a:rPr>
              <a:t>(</a:t>
            </a:r>
            <a:r>
              <a:rPr lang="en-US" sz="1000" b="1" err="1">
                <a:solidFill>
                  <a:srgbClr val="9D3C5E"/>
                </a:solidFill>
                <a:highlight>
                  <a:srgbClr val="F5F5F5"/>
                </a:highlight>
                <a:latin typeface="Consolas"/>
              </a:rPr>
              <a:t>add_query_arg</a:t>
            </a:r>
            <a:r>
              <a:rPr lang="en-US" sz="1000">
                <a:solidFill>
                  <a:srgbClr val="777777"/>
                </a:solidFill>
                <a:highlight>
                  <a:srgbClr val="F5F5F5"/>
                </a:highlight>
                <a:latin typeface="Consolas"/>
              </a:rPr>
              <a:t>('</a:t>
            </a:r>
            <a:r>
              <a:rPr lang="en-US" sz="1000">
                <a:solidFill>
                  <a:srgbClr val="1F6E89"/>
                </a:solidFill>
                <a:highlight>
                  <a:srgbClr val="F5F5F5"/>
                </a:highlight>
                <a:latin typeface="Consolas"/>
              </a:rPr>
              <a:t>contact</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envoye</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b="1" err="1">
                <a:solidFill>
                  <a:srgbClr val="9D3C5E"/>
                </a:solidFill>
                <a:highlight>
                  <a:srgbClr val="F5F5F5"/>
                </a:highlight>
                <a:latin typeface="Consolas"/>
              </a:rPr>
              <a:t>get_permalink</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E17092"/>
                </a:solidFill>
                <a:highlight>
                  <a:srgbClr val="F5F5F5"/>
                </a:highlight>
                <a:latin typeface="Consolas"/>
              </a:rPr>
              <a:t>exit</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endParaRPr lang="en-US" sz="1000">
              <a:ea typeface="Calibri"/>
              <a:cs typeface="Calibri"/>
            </a:endParaRPr>
          </a:p>
          <a:p>
            <a:r>
              <a:rPr lang="en-US" sz="1000">
                <a:solidFill>
                  <a:srgbClr val="777777"/>
                </a:solidFill>
                <a:highlight>
                  <a:srgbClr val="F5F5F5"/>
                </a:highlight>
                <a:latin typeface="Consolas"/>
              </a:rPr>
              <a:t>}</a:t>
            </a:r>
            <a:endParaRPr lang="en-US" sz="1000">
              <a:ea typeface="Calibri"/>
              <a:cs typeface="Calibri"/>
            </a:endParaRPr>
          </a:p>
          <a:p>
            <a:r>
              <a:rPr lang="en-US" sz="1000" b="1" err="1">
                <a:solidFill>
                  <a:srgbClr val="9D3C5E"/>
                </a:solidFill>
                <a:highlight>
                  <a:srgbClr val="F5F5F5"/>
                </a:highlight>
                <a:latin typeface="Consolas"/>
              </a:rPr>
              <a:t>add_action</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template_redirect</a:t>
            </a:r>
            <a:r>
              <a:rPr lang="en-US" sz="1000">
                <a:solidFill>
                  <a:srgbClr val="777777"/>
                </a:solidFill>
                <a:highlight>
                  <a:srgbClr val="F5F5F5"/>
                </a:highlight>
                <a:latin typeface="Consolas"/>
              </a:rPr>
              <a:t>',</a:t>
            </a:r>
            <a:r>
              <a:rPr lang="en-US" sz="1000">
                <a:solidFill>
                  <a:srgbClr val="333333"/>
                </a:solidFill>
                <a:highlight>
                  <a:srgbClr val="F5F5F5"/>
                </a:highlight>
                <a:latin typeface="Consolas"/>
              </a:rPr>
              <a:t> </a:t>
            </a:r>
            <a:r>
              <a:rPr lang="en-US" sz="1000">
                <a:solidFill>
                  <a:srgbClr val="777777"/>
                </a:solidFill>
                <a:highlight>
                  <a:srgbClr val="F5F5F5"/>
                </a:highlight>
                <a:latin typeface="Consolas"/>
              </a:rPr>
              <a:t>'</a:t>
            </a:r>
            <a:r>
              <a:rPr lang="en-US" sz="1000" err="1">
                <a:solidFill>
                  <a:srgbClr val="1F6E89"/>
                </a:solidFill>
                <a:highlight>
                  <a:srgbClr val="F5F5F5"/>
                </a:highlight>
                <a:latin typeface="Consolas"/>
              </a:rPr>
              <a:t>traiter_contact_pharmacie</a:t>
            </a:r>
            <a:r>
              <a:rPr lang="en-US" sz="1000">
                <a:solidFill>
                  <a:srgbClr val="777777"/>
                </a:solidFill>
                <a:highlight>
                  <a:srgbClr val="F5F5F5"/>
                </a:highlight>
                <a:latin typeface="Consolas"/>
              </a:rPr>
              <a:t>');</a:t>
            </a:r>
            <a:endParaRPr lang="en-US" sz="1000">
              <a:ea typeface="Calibri"/>
              <a:cs typeface="Calibri"/>
            </a:endParaRPr>
          </a:p>
          <a:p>
            <a:pPr algn="l"/>
            <a:endParaRPr lang="en-US" sz="900">
              <a:ea typeface="Calibri"/>
              <a:cs typeface="Calibri"/>
            </a:endParaRPr>
          </a:p>
        </p:txBody>
      </p:sp>
      <p:sp>
        <p:nvSpPr>
          <p:cNvPr id="5" name="Rectangle 4">
            <a:extLst>
              <a:ext uri="{FF2B5EF4-FFF2-40B4-BE49-F238E27FC236}">
                <a16:creationId xmlns:a16="http://schemas.microsoft.com/office/drawing/2014/main" id="{B5035448-85C1-A655-76A0-629585367A1C}"/>
              </a:ext>
            </a:extLst>
          </p:cNvPr>
          <p:cNvSpPr/>
          <p:nvPr/>
        </p:nvSpPr>
        <p:spPr>
          <a:xfrm>
            <a:off x="4587929" y="1642"/>
            <a:ext cx="4944784" cy="5144627"/>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rgbClr val="9466AA"/>
              </a:solidFill>
              <a:highlight>
                <a:srgbClr val="F5F5F5"/>
              </a:highlight>
              <a:latin typeface="Consolas"/>
              <a:ea typeface="Calibri"/>
              <a:cs typeface="Calibri"/>
            </a:endParaRPr>
          </a:p>
        </p:txBody>
      </p:sp>
      <p:sp>
        <p:nvSpPr>
          <p:cNvPr id="6" name="TextBox 5">
            <a:extLst>
              <a:ext uri="{FF2B5EF4-FFF2-40B4-BE49-F238E27FC236}">
                <a16:creationId xmlns:a16="http://schemas.microsoft.com/office/drawing/2014/main" id="{E7C4DCF5-318A-2F01-FFE1-ED6DFE459923}"/>
              </a:ext>
            </a:extLst>
          </p:cNvPr>
          <p:cNvSpPr txBox="1"/>
          <p:nvPr/>
        </p:nvSpPr>
        <p:spPr>
          <a:xfrm>
            <a:off x="4573010" y="2438"/>
            <a:ext cx="4802755" cy="5243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ea typeface="+mn-lt"/>
                <a:cs typeface="+mn-lt"/>
              </a:rPr>
              <a:t>&lt;?</a:t>
            </a:r>
            <a:r>
              <a:rPr lang="en-US" sz="700" err="1">
                <a:ea typeface="+mn-lt"/>
                <a:cs typeface="+mn-lt"/>
              </a:rPr>
              <a:t>php</a:t>
            </a:r>
            <a:endParaRPr lang="en-US" sz="700" err="1">
              <a:ea typeface="Calibri"/>
              <a:cs typeface="Calibri"/>
            </a:endParaRPr>
          </a:p>
          <a:p>
            <a:r>
              <a:rPr lang="en-US" sz="700">
                <a:ea typeface="+mn-lt"/>
                <a:cs typeface="+mn-lt"/>
              </a:rPr>
              <a:t>function </a:t>
            </a:r>
            <a:r>
              <a:rPr lang="en-US" sz="700" err="1">
                <a:ea typeface="+mn-lt"/>
                <a:cs typeface="+mn-lt"/>
              </a:rPr>
              <a:t>traiter_contact_pharmacie</a:t>
            </a:r>
            <a:r>
              <a:rPr lang="en-US" sz="700">
                <a:ea typeface="+mn-lt"/>
                <a:cs typeface="+mn-lt"/>
              </a:rPr>
              <a:t>() {</a:t>
            </a:r>
            <a:endParaRPr lang="en-US" sz="700">
              <a:ea typeface="Calibri"/>
              <a:cs typeface="Calibri"/>
            </a:endParaRPr>
          </a:p>
          <a:p>
            <a:r>
              <a:rPr lang="en-US" sz="700">
                <a:ea typeface="+mn-lt"/>
                <a:cs typeface="+mn-lt"/>
              </a:rPr>
              <a:t>    if (</a:t>
            </a:r>
            <a:endParaRPr lang="en-US" sz="700">
              <a:ea typeface="Calibri"/>
              <a:cs typeface="Calibri"/>
            </a:endParaRPr>
          </a:p>
          <a:p>
            <a:r>
              <a:rPr lang="en-US" sz="700">
                <a:ea typeface="+mn-lt"/>
                <a:cs typeface="+mn-lt"/>
              </a:rPr>
              <a:t>        </a:t>
            </a:r>
            <a:r>
              <a:rPr lang="en-US" sz="700" err="1">
                <a:ea typeface="+mn-lt"/>
                <a:cs typeface="+mn-lt"/>
              </a:rPr>
              <a:t>isset</a:t>
            </a:r>
            <a:r>
              <a:rPr lang="en-US" sz="700">
                <a:ea typeface="+mn-lt"/>
                <a:cs typeface="+mn-lt"/>
              </a:rPr>
              <a:t>($_POST['</a:t>
            </a:r>
            <a:r>
              <a:rPr lang="en-US" sz="700" err="1">
                <a:ea typeface="+mn-lt"/>
                <a:cs typeface="+mn-lt"/>
              </a:rPr>
              <a:t>envoyer_pharmacie</a:t>
            </a:r>
            <a:r>
              <a:rPr lang="en-US" sz="700">
                <a:ea typeface="+mn-lt"/>
                <a:cs typeface="+mn-lt"/>
              </a:rPr>
              <a:t>']) &amp;&amp;</a:t>
            </a:r>
            <a:endParaRPr lang="en-US" sz="700">
              <a:ea typeface="Calibri"/>
              <a:cs typeface="Calibri"/>
            </a:endParaRPr>
          </a:p>
          <a:p>
            <a:r>
              <a:rPr lang="en-US" sz="700">
                <a:ea typeface="+mn-lt"/>
                <a:cs typeface="+mn-lt"/>
              </a:rPr>
              <a:t>        </a:t>
            </a:r>
            <a:r>
              <a:rPr lang="en-US" sz="700" err="1">
                <a:ea typeface="+mn-lt"/>
                <a:cs typeface="+mn-lt"/>
              </a:rPr>
              <a:t>isset</a:t>
            </a:r>
            <a:r>
              <a:rPr lang="en-US" sz="700">
                <a:ea typeface="+mn-lt"/>
                <a:cs typeface="+mn-lt"/>
              </a:rPr>
              <a:t>($_POST['nom']) &amp;&amp;</a:t>
            </a:r>
            <a:endParaRPr lang="en-US" sz="700">
              <a:ea typeface="Calibri"/>
              <a:cs typeface="Calibri"/>
            </a:endParaRPr>
          </a:p>
          <a:p>
            <a:r>
              <a:rPr lang="en-US" sz="700">
                <a:ea typeface="+mn-lt"/>
                <a:cs typeface="+mn-lt"/>
              </a:rPr>
              <a:t>        </a:t>
            </a:r>
            <a:r>
              <a:rPr lang="en-US" sz="700" err="1">
                <a:ea typeface="+mn-lt"/>
                <a:cs typeface="+mn-lt"/>
              </a:rPr>
              <a:t>isset</a:t>
            </a:r>
            <a:r>
              <a:rPr lang="en-US" sz="700">
                <a:ea typeface="+mn-lt"/>
                <a:cs typeface="+mn-lt"/>
              </a:rPr>
              <a:t>($_POST['email']) &amp;&amp;</a:t>
            </a:r>
            <a:endParaRPr lang="en-US" sz="700">
              <a:ea typeface="Calibri"/>
              <a:cs typeface="Calibri"/>
            </a:endParaRPr>
          </a:p>
          <a:p>
            <a:r>
              <a:rPr lang="en-US" sz="700">
                <a:ea typeface="+mn-lt"/>
                <a:cs typeface="+mn-lt"/>
              </a:rPr>
              <a:t>        </a:t>
            </a:r>
            <a:r>
              <a:rPr lang="en-US" sz="700" err="1">
                <a:ea typeface="+mn-lt"/>
                <a:cs typeface="+mn-lt"/>
              </a:rPr>
              <a:t>isset</a:t>
            </a:r>
            <a:r>
              <a:rPr lang="en-US" sz="700">
                <a:ea typeface="+mn-lt"/>
                <a:cs typeface="+mn-lt"/>
              </a:rPr>
              <a:t>($_POST['message']) &amp;&amp;</a:t>
            </a:r>
            <a:endParaRPr lang="en-US" sz="700">
              <a:ea typeface="Calibri"/>
              <a:cs typeface="Calibri"/>
            </a:endParaRPr>
          </a:p>
          <a:p>
            <a:r>
              <a:rPr lang="en-US" sz="700">
                <a:ea typeface="+mn-lt"/>
                <a:cs typeface="+mn-lt"/>
              </a:rPr>
              <a:t>        </a:t>
            </a:r>
            <a:r>
              <a:rPr lang="en-US" sz="700" err="1">
                <a:ea typeface="+mn-lt"/>
                <a:cs typeface="+mn-lt"/>
              </a:rPr>
              <a:t>isset</a:t>
            </a:r>
            <a:r>
              <a:rPr lang="en-US" sz="700">
                <a:ea typeface="+mn-lt"/>
                <a:cs typeface="+mn-lt"/>
              </a:rPr>
              <a:t>($_POST['</a:t>
            </a:r>
            <a:r>
              <a:rPr lang="en-US" sz="700" err="1">
                <a:ea typeface="+mn-lt"/>
                <a:cs typeface="+mn-lt"/>
              </a:rPr>
              <a:t>pharmacie</a:t>
            </a:r>
            <a:r>
              <a:rPr lang="en-US" sz="700">
                <a:ea typeface="+mn-lt"/>
                <a:cs typeface="+mn-lt"/>
              </a:rPr>
              <a:t>'])</a:t>
            </a:r>
            <a:endParaRPr lang="en-US" sz="700">
              <a:ea typeface="Calibri"/>
              <a:cs typeface="Calibri"/>
            </a:endParaRPr>
          </a:p>
          <a:p>
            <a:r>
              <a:rPr lang="en-US" sz="700">
                <a:ea typeface="+mn-lt"/>
                <a:cs typeface="+mn-lt"/>
              </a:rPr>
              <a:t>    ) {</a:t>
            </a:r>
            <a:endParaRPr lang="en-US" sz="700">
              <a:ea typeface="Calibri"/>
              <a:cs typeface="Calibri"/>
            </a:endParaRPr>
          </a:p>
          <a:p>
            <a:r>
              <a:rPr lang="en-US" sz="700">
                <a:ea typeface="+mn-lt"/>
                <a:cs typeface="+mn-lt"/>
              </a:rPr>
              <a:t>        // </a:t>
            </a:r>
            <a:r>
              <a:rPr lang="en-US" sz="700" err="1">
                <a:ea typeface="+mn-lt"/>
                <a:cs typeface="+mn-lt"/>
              </a:rPr>
              <a:t>Connexion</a:t>
            </a:r>
            <a:r>
              <a:rPr lang="en-US" sz="700">
                <a:ea typeface="+mn-lt"/>
                <a:cs typeface="+mn-lt"/>
              </a:rPr>
              <a:t> à la base MySQL</a:t>
            </a:r>
            <a:endParaRPr lang="en-US" sz="700">
              <a:ea typeface="Calibri"/>
              <a:cs typeface="Calibri"/>
            </a:endParaRPr>
          </a:p>
          <a:p>
            <a:r>
              <a:rPr lang="en-US" sz="700">
                <a:ea typeface="+mn-lt"/>
                <a:cs typeface="+mn-lt"/>
              </a:rPr>
              <a:t>        $</a:t>
            </a:r>
            <a:r>
              <a:rPr lang="en-US" sz="700" err="1">
                <a:ea typeface="+mn-lt"/>
                <a:cs typeface="+mn-lt"/>
              </a:rPr>
              <a:t>servername</a:t>
            </a:r>
            <a:r>
              <a:rPr lang="en-US" sz="700">
                <a:ea typeface="+mn-lt"/>
                <a:cs typeface="+mn-lt"/>
              </a:rPr>
              <a:t> = "localhost";</a:t>
            </a:r>
            <a:endParaRPr lang="en-US" sz="700">
              <a:ea typeface="Calibri"/>
              <a:cs typeface="Calibri"/>
            </a:endParaRPr>
          </a:p>
          <a:p>
            <a:r>
              <a:rPr lang="en-US" sz="700">
                <a:ea typeface="+mn-lt"/>
                <a:cs typeface="+mn-lt"/>
              </a:rPr>
              <a:t>        $username   = "root";</a:t>
            </a:r>
            <a:endParaRPr lang="en-US" sz="700">
              <a:ea typeface="Calibri"/>
              <a:cs typeface="Calibri"/>
            </a:endParaRPr>
          </a:p>
          <a:p>
            <a:r>
              <a:rPr lang="en-US" sz="700">
                <a:ea typeface="+mn-lt"/>
                <a:cs typeface="+mn-lt"/>
              </a:rPr>
              <a:t>        $password   = "";</a:t>
            </a:r>
            <a:endParaRPr lang="en-US" sz="700">
              <a:ea typeface="Calibri"/>
              <a:cs typeface="Calibri"/>
            </a:endParaRPr>
          </a:p>
          <a:p>
            <a:r>
              <a:rPr lang="en-US" sz="700">
                <a:ea typeface="+mn-lt"/>
                <a:cs typeface="+mn-lt"/>
              </a:rPr>
              <a:t>        $</a:t>
            </a:r>
            <a:r>
              <a:rPr lang="en-US" sz="700" err="1">
                <a:ea typeface="+mn-lt"/>
                <a:cs typeface="+mn-lt"/>
              </a:rPr>
              <a:t>dbname</a:t>
            </a:r>
            <a:r>
              <a:rPr lang="en-US" sz="700">
                <a:ea typeface="+mn-lt"/>
                <a:cs typeface="+mn-lt"/>
              </a:rPr>
              <a:t>     = "</a:t>
            </a:r>
            <a:r>
              <a:rPr lang="en-US" sz="700" err="1">
                <a:ea typeface="+mn-lt"/>
                <a:cs typeface="+mn-lt"/>
              </a:rPr>
              <a:t>ma_base</a:t>
            </a:r>
            <a:r>
              <a:rPr lang="en-US" sz="700">
                <a:ea typeface="+mn-lt"/>
                <a:cs typeface="+mn-lt"/>
              </a:rPr>
              <a:t>";</a:t>
            </a:r>
            <a:endParaRPr lang="en-US" sz="700">
              <a:ea typeface="Calibri"/>
              <a:cs typeface="Calibri"/>
            </a:endParaRPr>
          </a:p>
          <a:p>
            <a:endParaRPr lang="en-US" sz="700">
              <a:ea typeface="Calibri"/>
              <a:cs typeface="Calibri"/>
            </a:endParaRPr>
          </a:p>
          <a:p>
            <a:r>
              <a:rPr lang="en-US" sz="700">
                <a:ea typeface="+mn-lt"/>
                <a:cs typeface="+mn-lt"/>
              </a:rPr>
              <a:t>        $conn = new </a:t>
            </a:r>
            <a:r>
              <a:rPr lang="en-US" sz="700" err="1">
                <a:ea typeface="+mn-lt"/>
                <a:cs typeface="+mn-lt"/>
              </a:rPr>
              <a:t>mysqli</a:t>
            </a:r>
            <a:r>
              <a:rPr lang="en-US" sz="700">
                <a:ea typeface="+mn-lt"/>
                <a:cs typeface="+mn-lt"/>
              </a:rPr>
              <a:t>($</a:t>
            </a:r>
            <a:r>
              <a:rPr lang="en-US" sz="700" err="1">
                <a:ea typeface="+mn-lt"/>
                <a:cs typeface="+mn-lt"/>
              </a:rPr>
              <a:t>servername</a:t>
            </a:r>
            <a:r>
              <a:rPr lang="en-US" sz="700">
                <a:ea typeface="+mn-lt"/>
                <a:cs typeface="+mn-lt"/>
              </a:rPr>
              <a:t>, $username, $password, $</a:t>
            </a:r>
            <a:r>
              <a:rPr lang="en-US" sz="700" err="1">
                <a:ea typeface="+mn-lt"/>
                <a:cs typeface="+mn-lt"/>
              </a:rPr>
              <a:t>dbname</a:t>
            </a:r>
            <a:r>
              <a:rPr lang="en-US" sz="700">
                <a:ea typeface="+mn-lt"/>
                <a:cs typeface="+mn-lt"/>
              </a:rPr>
              <a:t>);</a:t>
            </a:r>
            <a:endParaRPr lang="en-US" sz="700">
              <a:ea typeface="Calibri"/>
              <a:cs typeface="Calibri"/>
            </a:endParaRPr>
          </a:p>
          <a:p>
            <a:r>
              <a:rPr lang="en-US" sz="700">
                <a:ea typeface="+mn-lt"/>
                <a:cs typeface="+mn-lt"/>
              </a:rPr>
              <a:t>        if ($conn-&gt;</a:t>
            </a:r>
            <a:r>
              <a:rPr lang="en-US" sz="700" err="1">
                <a:ea typeface="+mn-lt"/>
                <a:cs typeface="+mn-lt"/>
              </a:rPr>
              <a:t>connect_error</a:t>
            </a:r>
            <a:r>
              <a:rPr lang="en-US" sz="700">
                <a:ea typeface="+mn-lt"/>
                <a:cs typeface="+mn-lt"/>
              </a:rPr>
              <a:t>) {</a:t>
            </a:r>
            <a:endParaRPr lang="en-US" sz="700"/>
          </a:p>
          <a:p>
            <a:r>
              <a:rPr lang="en-US" sz="700">
                <a:ea typeface="+mn-lt"/>
                <a:cs typeface="+mn-lt"/>
              </a:rPr>
              <a:t>            die("</a:t>
            </a:r>
            <a:r>
              <a:rPr lang="en-US" sz="700" err="1">
                <a:ea typeface="+mn-lt"/>
                <a:cs typeface="+mn-lt"/>
              </a:rPr>
              <a:t>Connexion</a:t>
            </a:r>
            <a:r>
              <a:rPr lang="en-US" sz="700">
                <a:ea typeface="+mn-lt"/>
                <a:cs typeface="+mn-lt"/>
              </a:rPr>
              <a:t> </a:t>
            </a:r>
            <a:r>
              <a:rPr lang="en-US" sz="700" err="1">
                <a:ea typeface="+mn-lt"/>
                <a:cs typeface="+mn-lt"/>
              </a:rPr>
              <a:t>échouée</a:t>
            </a:r>
            <a:r>
              <a:rPr lang="en-US" sz="700">
                <a:ea typeface="+mn-lt"/>
                <a:cs typeface="+mn-lt"/>
              </a:rPr>
              <a:t> : " . $conn-&gt;</a:t>
            </a:r>
            <a:r>
              <a:rPr lang="en-US" sz="700" err="1">
                <a:ea typeface="+mn-lt"/>
                <a:cs typeface="+mn-lt"/>
              </a:rPr>
              <a:t>connect_error</a:t>
            </a:r>
            <a:r>
              <a:rPr lang="en-US" sz="700">
                <a:ea typeface="+mn-lt"/>
                <a:cs typeface="+mn-lt"/>
              </a:rPr>
              <a:t>);</a:t>
            </a:r>
            <a:endParaRPr lang="en-US" sz="700">
              <a:ea typeface="Calibri"/>
              <a:cs typeface="Calibri"/>
            </a:endParaRPr>
          </a:p>
          <a:p>
            <a:r>
              <a:rPr lang="en-US" sz="700">
                <a:ea typeface="+mn-lt"/>
                <a:cs typeface="+mn-lt"/>
              </a:rPr>
              <a:t>        }</a:t>
            </a:r>
            <a:endParaRPr lang="en-US" sz="700"/>
          </a:p>
          <a:p>
            <a:r>
              <a:rPr lang="en-US" sz="700">
                <a:ea typeface="+mn-lt"/>
                <a:cs typeface="+mn-lt"/>
              </a:rPr>
              <a:t>        // </a:t>
            </a:r>
            <a:r>
              <a:rPr lang="en-US" sz="700" err="1">
                <a:ea typeface="+mn-lt"/>
                <a:cs typeface="+mn-lt"/>
              </a:rPr>
              <a:t>Sécuriser</a:t>
            </a:r>
            <a:r>
              <a:rPr lang="en-US" sz="700">
                <a:ea typeface="+mn-lt"/>
                <a:cs typeface="+mn-lt"/>
              </a:rPr>
              <a:t> les données</a:t>
            </a:r>
            <a:endParaRPr lang="en-US" sz="700"/>
          </a:p>
          <a:p>
            <a:r>
              <a:rPr lang="en-US" sz="700">
                <a:ea typeface="+mn-lt"/>
                <a:cs typeface="+mn-lt"/>
              </a:rPr>
              <a:t>        $nom       = </a:t>
            </a:r>
            <a:r>
              <a:rPr lang="en-US" sz="700" err="1">
                <a:ea typeface="+mn-lt"/>
                <a:cs typeface="+mn-lt"/>
              </a:rPr>
              <a:t>htmlspecialchars</a:t>
            </a:r>
            <a:r>
              <a:rPr lang="en-US" sz="700">
                <a:ea typeface="+mn-lt"/>
                <a:cs typeface="+mn-lt"/>
              </a:rPr>
              <a:t>($_POST['nom']);</a:t>
            </a:r>
            <a:endParaRPr lang="en-US" sz="700">
              <a:ea typeface="Calibri"/>
              <a:cs typeface="Calibri"/>
            </a:endParaRPr>
          </a:p>
          <a:p>
            <a:r>
              <a:rPr lang="en-US" sz="700">
                <a:ea typeface="+mn-lt"/>
                <a:cs typeface="+mn-lt"/>
              </a:rPr>
              <a:t>        $email     = </a:t>
            </a:r>
            <a:r>
              <a:rPr lang="en-US" sz="700" err="1">
                <a:ea typeface="+mn-lt"/>
                <a:cs typeface="+mn-lt"/>
              </a:rPr>
              <a:t>filter_var</a:t>
            </a:r>
            <a:r>
              <a:rPr lang="en-US" sz="700">
                <a:ea typeface="+mn-lt"/>
                <a:cs typeface="+mn-lt"/>
              </a:rPr>
              <a:t>($_POST['email'], FILTER_SANITIZE_EMAIL);</a:t>
            </a:r>
            <a:endParaRPr lang="en-US" sz="700">
              <a:ea typeface="Calibri"/>
              <a:cs typeface="Calibri"/>
            </a:endParaRPr>
          </a:p>
          <a:p>
            <a:r>
              <a:rPr lang="en-US" sz="700">
                <a:ea typeface="+mn-lt"/>
                <a:cs typeface="+mn-lt"/>
              </a:rPr>
              <a:t>        $message   = </a:t>
            </a:r>
            <a:r>
              <a:rPr lang="en-US" sz="700" err="1">
                <a:ea typeface="+mn-lt"/>
                <a:cs typeface="+mn-lt"/>
              </a:rPr>
              <a:t>htmlspecialchars</a:t>
            </a:r>
            <a:r>
              <a:rPr lang="en-US" sz="700">
                <a:ea typeface="+mn-lt"/>
                <a:cs typeface="+mn-lt"/>
              </a:rPr>
              <a:t>($_POST['message']);</a:t>
            </a:r>
            <a:endParaRPr lang="en-US" sz="700">
              <a:ea typeface="Calibri"/>
              <a:cs typeface="Calibri"/>
            </a:endParaRPr>
          </a:p>
          <a:p>
            <a:r>
              <a:rPr lang="en-US" sz="700">
                <a:ea typeface="+mn-lt"/>
                <a:cs typeface="+mn-lt"/>
              </a:rPr>
              <a:t>        $pharmacie = </a:t>
            </a:r>
            <a:r>
              <a:rPr lang="en-US" sz="700" err="1">
                <a:ea typeface="+mn-lt"/>
                <a:cs typeface="+mn-lt"/>
              </a:rPr>
              <a:t>htmlspecialchars</a:t>
            </a:r>
            <a:r>
              <a:rPr lang="en-US" sz="700">
                <a:ea typeface="+mn-lt"/>
                <a:cs typeface="+mn-lt"/>
              </a:rPr>
              <a:t>($_POST['pharmacie']);</a:t>
            </a:r>
            <a:endParaRPr lang="en-US" sz="700">
              <a:ea typeface="Calibri"/>
              <a:cs typeface="Calibri"/>
            </a:endParaRPr>
          </a:p>
          <a:p>
            <a:r>
              <a:rPr lang="en-US" sz="700">
                <a:ea typeface="+mn-lt"/>
                <a:cs typeface="+mn-lt"/>
              </a:rPr>
              <a:t>        $</a:t>
            </a:r>
            <a:r>
              <a:rPr lang="en-US" sz="700" err="1">
                <a:ea typeface="+mn-lt"/>
                <a:cs typeface="+mn-lt"/>
              </a:rPr>
              <a:t>date_envoi</a:t>
            </a:r>
            <a:r>
              <a:rPr lang="en-US" sz="700">
                <a:ea typeface="+mn-lt"/>
                <a:cs typeface="+mn-lt"/>
              </a:rPr>
              <a:t> = date("Y-m-d </a:t>
            </a:r>
            <a:r>
              <a:rPr lang="en-US" sz="700" err="1">
                <a:ea typeface="+mn-lt"/>
                <a:cs typeface="+mn-lt"/>
              </a:rPr>
              <a:t>H:i:s</a:t>
            </a:r>
            <a:r>
              <a:rPr lang="en-US" sz="700">
                <a:ea typeface="+mn-lt"/>
                <a:cs typeface="+mn-lt"/>
              </a:rPr>
              <a:t>");</a:t>
            </a:r>
            <a:endParaRPr lang="en-US" sz="700">
              <a:ea typeface="Calibri"/>
              <a:cs typeface="Calibri"/>
            </a:endParaRPr>
          </a:p>
          <a:p>
            <a:r>
              <a:rPr lang="en-US" sz="700">
                <a:ea typeface="+mn-lt"/>
                <a:cs typeface="+mn-lt"/>
              </a:rPr>
              <a:t>        // </a:t>
            </a:r>
            <a:r>
              <a:rPr lang="en-US" sz="700" err="1">
                <a:ea typeface="+mn-lt"/>
                <a:cs typeface="+mn-lt"/>
              </a:rPr>
              <a:t>Requête</a:t>
            </a:r>
            <a:r>
              <a:rPr lang="en-US" sz="700">
                <a:ea typeface="+mn-lt"/>
                <a:cs typeface="+mn-lt"/>
              </a:rPr>
              <a:t> </a:t>
            </a:r>
            <a:r>
              <a:rPr lang="en-US" sz="700" err="1">
                <a:ea typeface="+mn-lt"/>
                <a:cs typeface="+mn-lt"/>
              </a:rPr>
              <a:t>préparée</a:t>
            </a:r>
            <a:r>
              <a:rPr lang="en-US" sz="700">
                <a:ea typeface="+mn-lt"/>
                <a:cs typeface="+mn-lt"/>
              </a:rPr>
              <a:t> pour </a:t>
            </a:r>
            <a:r>
              <a:rPr lang="en-US" sz="700" err="1">
                <a:ea typeface="+mn-lt"/>
                <a:cs typeface="+mn-lt"/>
              </a:rPr>
              <a:t>éviter</a:t>
            </a:r>
            <a:r>
              <a:rPr lang="en-US" sz="700">
                <a:ea typeface="+mn-lt"/>
                <a:cs typeface="+mn-lt"/>
              </a:rPr>
              <a:t> les injections SQL</a:t>
            </a:r>
            <a:endParaRPr lang="en-US" sz="700">
              <a:ea typeface="Calibri"/>
              <a:cs typeface="Calibri"/>
            </a:endParaRPr>
          </a:p>
          <a:p>
            <a:r>
              <a:rPr lang="en-US" sz="700">
                <a:ea typeface="+mn-lt"/>
                <a:cs typeface="+mn-lt"/>
              </a:rPr>
              <a:t>        $</a:t>
            </a:r>
            <a:r>
              <a:rPr lang="en-US" sz="700" err="1">
                <a:ea typeface="+mn-lt"/>
                <a:cs typeface="+mn-lt"/>
              </a:rPr>
              <a:t>stmt</a:t>
            </a:r>
            <a:r>
              <a:rPr lang="en-US" sz="700">
                <a:ea typeface="+mn-lt"/>
                <a:cs typeface="+mn-lt"/>
              </a:rPr>
              <a:t> = $conn-&gt;prepare("INSERT INTO </a:t>
            </a:r>
            <a:r>
              <a:rPr lang="en-US" sz="700" err="1">
                <a:ea typeface="+mn-lt"/>
                <a:cs typeface="+mn-lt"/>
              </a:rPr>
              <a:t>messages_pharmacie</a:t>
            </a:r>
            <a:r>
              <a:rPr lang="en-US" sz="700">
                <a:ea typeface="+mn-lt"/>
                <a:cs typeface="+mn-lt"/>
              </a:rPr>
              <a:t> (nom, email, message, </a:t>
            </a:r>
            <a:r>
              <a:rPr lang="en-US" sz="700" err="1">
                <a:ea typeface="+mn-lt"/>
                <a:cs typeface="+mn-lt"/>
              </a:rPr>
              <a:t>pharmacie</a:t>
            </a:r>
            <a:r>
              <a:rPr lang="en-US" sz="700">
                <a:ea typeface="+mn-lt"/>
                <a:cs typeface="+mn-lt"/>
              </a:rPr>
              <a:t>, </a:t>
            </a:r>
            <a:r>
              <a:rPr lang="en-US" sz="700" err="1">
                <a:ea typeface="+mn-lt"/>
                <a:cs typeface="+mn-lt"/>
              </a:rPr>
              <a:t>date_envoi</a:t>
            </a:r>
            <a:r>
              <a:rPr lang="en-US" sz="700">
                <a:ea typeface="+mn-lt"/>
                <a:cs typeface="+mn-lt"/>
              </a:rPr>
              <a:t>) VALUES (?, ?, ?, ?, ?)");</a:t>
            </a:r>
            <a:endParaRPr lang="en-US" sz="700">
              <a:ea typeface="Calibri"/>
              <a:cs typeface="Calibri"/>
            </a:endParaRPr>
          </a:p>
          <a:p>
            <a:r>
              <a:rPr lang="en-US" sz="700">
                <a:ea typeface="+mn-lt"/>
                <a:cs typeface="+mn-lt"/>
              </a:rPr>
              <a:t>        $</a:t>
            </a:r>
            <a:r>
              <a:rPr lang="en-US" sz="700" err="1">
                <a:ea typeface="+mn-lt"/>
                <a:cs typeface="+mn-lt"/>
              </a:rPr>
              <a:t>stmt</a:t>
            </a:r>
            <a:r>
              <a:rPr lang="en-US" sz="700">
                <a:ea typeface="+mn-lt"/>
                <a:cs typeface="+mn-lt"/>
              </a:rPr>
              <a:t>-&gt;</a:t>
            </a:r>
            <a:r>
              <a:rPr lang="en-US" sz="700" err="1">
                <a:ea typeface="+mn-lt"/>
                <a:cs typeface="+mn-lt"/>
              </a:rPr>
              <a:t>bind_param</a:t>
            </a:r>
            <a:r>
              <a:rPr lang="en-US" sz="700">
                <a:ea typeface="+mn-lt"/>
                <a:cs typeface="+mn-lt"/>
              </a:rPr>
              <a:t>("</a:t>
            </a:r>
            <a:r>
              <a:rPr lang="en-US" sz="700" err="1">
                <a:ea typeface="+mn-lt"/>
                <a:cs typeface="+mn-lt"/>
              </a:rPr>
              <a:t>sssss</a:t>
            </a:r>
            <a:r>
              <a:rPr lang="en-US" sz="700">
                <a:ea typeface="+mn-lt"/>
                <a:cs typeface="+mn-lt"/>
              </a:rPr>
              <a:t>", $nom, $email, $message, $</a:t>
            </a:r>
            <a:r>
              <a:rPr lang="en-US" sz="700" err="1">
                <a:ea typeface="+mn-lt"/>
                <a:cs typeface="+mn-lt"/>
              </a:rPr>
              <a:t>pharmacie</a:t>
            </a:r>
            <a:r>
              <a:rPr lang="en-US" sz="700">
                <a:ea typeface="+mn-lt"/>
                <a:cs typeface="+mn-lt"/>
              </a:rPr>
              <a:t>, $</a:t>
            </a:r>
            <a:r>
              <a:rPr lang="en-US" sz="700" err="1">
                <a:ea typeface="+mn-lt"/>
                <a:cs typeface="+mn-lt"/>
              </a:rPr>
              <a:t>date_envoi</a:t>
            </a:r>
            <a:r>
              <a:rPr lang="en-US" sz="700">
                <a:ea typeface="+mn-lt"/>
                <a:cs typeface="+mn-lt"/>
              </a:rPr>
              <a:t>);</a:t>
            </a:r>
            <a:endParaRPr lang="en-US" sz="700">
              <a:ea typeface="Calibri"/>
              <a:cs typeface="Calibri"/>
            </a:endParaRPr>
          </a:p>
          <a:p>
            <a:endParaRPr lang="en-US" sz="700">
              <a:ea typeface="Calibri"/>
              <a:cs typeface="Calibri"/>
            </a:endParaRPr>
          </a:p>
          <a:p>
            <a:r>
              <a:rPr lang="en-US" sz="700">
                <a:ea typeface="+mn-lt"/>
                <a:cs typeface="+mn-lt"/>
              </a:rPr>
              <a:t>        if ($</a:t>
            </a:r>
            <a:r>
              <a:rPr lang="en-US" sz="700" err="1">
                <a:ea typeface="+mn-lt"/>
                <a:cs typeface="+mn-lt"/>
              </a:rPr>
              <a:t>stmt</a:t>
            </a:r>
            <a:r>
              <a:rPr lang="en-US" sz="700">
                <a:ea typeface="+mn-lt"/>
                <a:cs typeface="+mn-lt"/>
              </a:rPr>
              <a:t>-&gt;execute()) {</a:t>
            </a:r>
            <a:endParaRPr lang="en-US" sz="700">
              <a:ea typeface="Calibri"/>
              <a:cs typeface="Calibri"/>
            </a:endParaRPr>
          </a:p>
          <a:p>
            <a:r>
              <a:rPr lang="en-US" sz="700">
                <a:ea typeface="+mn-lt"/>
                <a:cs typeface="+mn-lt"/>
              </a:rPr>
              <a:t>            // Redirection après succès</a:t>
            </a:r>
            <a:endParaRPr lang="en-US" sz="700">
              <a:ea typeface="Calibri"/>
              <a:cs typeface="Calibri"/>
            </a:endParaRPr>
          </a:p>
          <a:p>
            <a:r>
              <a:rPr lang="en-US" sz="700">
                <a:ea typeface="+mn-lt"/>
                <a:cs typeface="+mn-lt"/>
              </a:rPr>
              <a:t>            header("Location: </a:t>
            </a:r>
            <a:r>
              <a:rPr lang="en-US" sz="700" err="1">
                <a:ea typeface="+mn-lt"/>
                <a:cs typeface="+mn-lt"/>
              </a:rPr>
              <a:t>contact.php?contact</a:t>
            </a:r>
            <a:r>
              <a:rPr lang="en-US" sz="700">
                <a:ea typeface="+mn-lt"/>
                <a:cs typeface="+mn-lt"/>
              </a:rPr>
              <a:t>=</a:t>
            </a:r>
            <a:r>
              <a:rPr lang="en-US" sz="700" err="1">
                <a:ea typeface="+mn-lt"/>
                <a:cs typeface="+mn-lt"/>
              </a:rPr>
              <a:t>envoye</a:t>
            </a:r>
            <a:r>
              <a:rPr lang="en-US" sz="700">
                <a:ea typeface="+mn-lt"/>
                <a:cs typeface="+mn-lt"/>
              </a:rPr>
              <a:t>");</a:t>
            </a:r>
            <a:endParaRPr lang="en-US" sz="700"/>
          </a:p>
          <a:p>
            <a:r>
              <a:rPr lang="en-US" sz="700">
                <a:ea typeface="+mn-lt"/>
                <a:cs typeface="+mn-lt"/>
              </a:rPr>
              <a:t>            exit;</a:t>
            </a:r>
            <a:endParaRPr lang="en-US" sz="700"/>
          </a:p>
          <a:p>
            <a:r>
              <a:rPr lang="en-US" sz="700">
                <a:ea typeface="+mn-lt"/>
                <a:cs typeface="+mn-lt"/>
              </a:rPr>
              <a:t>        } else {</a:t>
            </a:r>
            <a:endParaRPr lang="en-US" sz="700">
              <a:ea typeface="Calibri"/>
              <a:cs typeface="Calibri"/>
            </a:endParaRPr>
          </a:p>
          <a:p>
            <a:r>
              <a:rPr lang="en-US" sz="700">
                <a:ea typeface="+mn-lt"/>
                <a:cs typeface="+mn-lt"/>
              </a:rPr>
              <a:t>            echo "</a:t>
            </a:r>
            <a:r>
              <a:rPr lang="en-US" sz="700" err="1">
                <a:ea typeface="+mn-lt"/>
                <a:cs typeface="+mn-lt"/>
              </a:rPr>
              <a:t>Erreur</a:t>
            </a:r>
            <a:r>
              <a:rPr lang="en-US" sz="700">
                <a:ea typeface="+mn-lt"/>
                <a:cs typeface="+mn-lt"/>
              </a:rPr>
              <a:t> : " . $</a:t>
            </a:r>
            <a:r>
              <a:rPr lang="en-US" sz="700" err="1">
                <a:ea typeface="+mn-lt"/>
                <a:cs typeface="+mn-lt"/>
              </a:rPr>
              <a:t>stmt</a:t>
            </a:r>
            <a:r>
              <a:rPr lang="en-US" sz="700">
                <a:ea typeface="+mn-lt"/>
                <a:cs typeface="+mn-lt"/>
              </a:rPr>
              <a:t>-&gt;error;</a:t>
            </a:r>
            <a:endParaRPr lang="en-US" sz="700">
              <a:ea typeface="Calibri"/>
              <a:cs typeface="Calibri"/>
            </a:endParaRPr>
          </a:p>
          <a:p>
            <a:r>
              <a:rPr lang="en-US" sz="700">
                <a:ea typeface="+mn-lt"/>
                <a:cs typeface="+mn-lt"/>
              </a:rPr>
              <a:t>        }</a:t>
            </a:r>
            <a:endParaRPr lang="en-US" sz="700">
              <a:ea typeface="Calibri"/>
              <a:cs typeface="Calibri"/>
            </a:endParaRPr>
          </a:p>
          <a:p>
            <a:endParaRPr lang="en-US" sz="700">
              <a:ea typeface="Calibri"/>
              <a:cs typeface="Calibri"/>
            </a:endParaRPr>
          </a:p>
          <a:p>
            <a:r>
              <a:rPr lang="en-US" sz="700">
                <a:ea typeface="+mn-lt"/>
                <a:cs typeface="+mn-lt"/>
              </a:rPr>
              <a:t>        $</a:t>
            </a:r>
            <a:r>
              <a:rPr lang="en-US" sz="700" err="1">
                <a:ea typeface="+mn-lt"/>
                <a:cs typeface="+mn-lt"/>
              </a:rPr>
              <a:t>stmt</a:t>
            </a:r>
            <a:r>
              <a:rPr lang="en-US" sz="700">
                <a:ea typeface="+mn-lt"/>
                <a:cs typeface="+mn-lt"/>
              </a:rPr>
              <a:t>-&gt;close();</a:t>
            </a:r>
            <a:endParaRPr lang="en-US" sz="700"/>
          </a:p>
          <a:p>
            <a:r>
              <a:rPr lang="en-US" sz="700">
                <a:ea typeface="+mn-lt"/>
                <a:cs typeface="+mn-lt"/>
              </a:rPr>
              <a:t>        $conn-&gt;close();</a:t>
            </a:r>
            <a:endParaRPr lang="en-US" sz="700">
              <a:ea typeface="Calibri"/>
              <a:cs typeface="Calibri"/>
            </a:endParaRPr>
          </a:p>
          <a:p>
            <a:r>
              <a:rPr lang="en-US" sz="700">
                <a:ea typeface="+mn-lt"/>
                <a:cs typeface="+mn-lt"/>
              </a:rPr>
              <a:t>    }</a:t>
            </a:r>
            <a:endParaRPr lang="en-US" sz="700">
              <a:ea typeface="Calibri"/>
              <a:cs typeface="Calibri"/>
            </a:endParaRPr>
          </a:p>
          <a:p>
            <a:r>
              <a:rPr lang="en-US" sz="700">
                <a:ea typeface="+mn-lt"/>
                <a:cs typeface="+mn-lt"/>
              </a:rPr>
              <a:t>}</a:t>
            </a:r>
            <a:endParaRPr lang="en-US" sz="700"/>
          </a:p>
          <a:p>
            <a:endParaRPr lang="en-US" sz="700">
              <a:ea typeface="Calibri"/>
              <a:cs typeface="Calibri"/>
            </a:endParaRPr>
          </a:p>
          <a:p>
            <a:r>
              <a:rPr lang="en-US" sz="700">
                <a:ea typeface="+mn-lt"/>
                <a:cs typeface="+mn-lt"/>
              </a:rPr>
              <a:t>// Appel direct de la </a:t>
            </a:r>
            <a:r>
              <a:rPr lang="en-US" sz="700" err="1">
                <a:ea typeface="+mn-lt"/>
                <a:cs typeface="+mn-lt"/>
              </a:rPr>
              <a:t>fonction</a:t>
            </a:r>
            <a:r>
              <a:rPr lang="en-US" sz="700">
                <a:ea typeface="+mn-lt"/>
                <a:cs typeface="+mn-lt"/>
              </a:rPr>
              <a:t> (</a:t>
            </a:r>
            <a:r>
              <a:rPr lang="en-US" sz="700" err="1">
                <a:ea typeface="+mn-lt"/>
                <a:cs typeface="+mn-lt"/>
              </a:rPr>
              <a:t>équivalent</a:t>
            </a:r>
            <a:r>
              <a:rPr lang="en-US" sz="700">
                <a:ea typeface="+mn-lt"/>
                <a:cs typeface="+mn-lt"/>
              </a:rPr>
              <a:t> à </a:t>
            </a:r>
            <a:r>
              <a:rPr lang="en-US" sz="700" err="1">
                <a:ea typeface="+mn-lt"/>
                <a:cs typeface="+mn-lt"/>
              </a:rPr>
              <a:t>add_action</a:t>
            </a:r>
            <a:r>
              <a:rPr lang="en-US" sz="700">
                <a:ea typeface="+mn-lt"/>
                <a:cs typeface="+mn-lt"/>
              </a:rPr>
              <a:t> dans WP)</a:t>
            </a:r>
            <a:endParaRPr lang="en-US" sz="700">
              <a:ea typeface="Calibri"/>
              <a:cs typeface="Calibri"/>
            </a:endParaRPr>
          </a:p>
          <a:p>
            <a:r>
              <a:rPr lang="en-US" sz="700" err="1">
                <a:ea typeface="+mn-lt"/>
                <a:cs typeface="+mn-lt"/>
              </a:rPr>
              <a:t>traiter_contact_pharmacie</a:t>
            </a:r>
            <a:r>
              <a:rPr lang="en-US" sz="700">
                <a:ea typeface="+mn-lt"/>
                <a:cs typeface="+mn-lt"/>
              </a:rPr>
              <a:t>();</a:t>
            </a:r>
            <a:endParaRPr lang="en-US" sz="700">
              <a:ea typeface="Calibri"/>
              <a:cs typeface="Calibri"/>
            </a:endParaRPr>
          </a:p>
          <a:p>
            <a:r>
              <a:rPr lang="en-US" sz="700">
                <a:ea typeface="+mn-lt"/>
                <a:cs typeface="+mn-lt"/>
              </a:rPr>
              <a:t>?&gt;</a:t>
            </a:r>
            <a:endParaRPr lang="en-US" sz="700"/>
          </a:p>
          <a:p>
            <a:endParaRPr lang="en-US" sz="750">
              <a:ea typeface="Calibri"/>
              <a:cs typeface="Calibri"/>
            </a:endParaRPr>
          </a:p>
          <a:p>
            <a:pPr algn="l"/>
            <a:endParaRPr lang="en-US" sz="800">
              <a:ea typeface="Calibri"/>
              <a:cs typeface="Calibri"/>
            </a:endParaRPr>
          </a:p>
        </p:txBody>
      </p:sp>
      <p:sp>
        <p:nvSpPr>
          <p:cNvPr id="8" name="Rectangle 7">
            <a:extLst>
              <a:ext uri="{FF2B5EF4-FFF2-40B4-BE49-F238E27FC236}">
                <a16:creationId xmlns:a16="http://schemas.microsoft.com/office/drawing/2014/main" id="{B5830065-D756-A773-462B-02203A8B9FC9}"/>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10" name="ZoneTexte 9">
            <a:extLst>
              <a:ext uri="{FF2B5EF4-FFF2-40B4-BE49-F238E27FC236}">
                <a16:creationId xmlns:a16="http://schemas.microsoft.com/office/drawing/2014/main" id="{FA2EAD19-FDF9-BEB5-E763-F34DA3003CA5}"/>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24</a:t>
            </a:r>
          </a:p>
        </p:txBody>
      </p:sp>
    </p:spTree>
    <p:extLst>
      <p:ext uri="{BB962C8B-B14F-4D97-AF65-F5344CB8AC3E}">
        <p14:creationId xmlns:p14="http://schemas.microsoft.com/office/powerpoint/2010/main" val="10262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1295C"/>
          </a:solidFill>
          <a:ln w="12700">
            <a:solidFill>
              <a:srgbClr val="21295C"/>
            </a:solidFill>
            <a:prstDash val="solid"/>
          </a:ln>
        </p:spPr>
      </p:sp>
      <p:sp>
        <p:nvSpPr>
          <p:cNvPr id="3" name="Text 1"/>
          <p:cNvSpPr/>
          <p:nvPr/>
        </p:nvSpPr>
        <p:spPr>
          <a:xfrm>
            <a:off x="365760" y="0"/>
            <a:ext cx="8412480" cy="685800"/>
          </a:xfrm>
          <a:prstGeom prst="rect">
            <a:avLst/>
          </a:prstGeom>
          <a:noFill/>
          <a:ln/>
        </p:spPr>
        <p:txBody>
          <a:bodyPr wrap="square" lIns="91440" tIns="45720" rIns="91440" bIns="45720" rtlCol="0" anchor="ctr"/>
          <a:lstStyle/>
          <a:p>
            <a:pPr marL="0" indent="0">
              <a:buNone/>
            </a:pPr>
            <a:r>
              <a:rPr lang="en-US" sz="2000" b="1">
                <a:solidFill>
                  <a:srgbClr val="FFFFFF"/>
                </a:solidFill>
                <a:latin typeface="Calibri"/>
                <a:ea typeface="Calibri"/>
                <a:cs typeface="Calibri"/>
              </a:rPr>
              <a:t>Tendance — </a:t>
            </a:r>
            <a:r>
              <a:rPr lang="en-US" sz="2000" b="1" err="1">
                <a:solidFill>
                  <a:srgbClr val="FFFFFF"/>
                </a:solidFill>
                <a:latin typeface="Calibri"/>
                <a:ea typeface="Calibri"/>
                <a:cs typeface="Calibri"/>
              </a:rPr>
              <a:t>Intégration</a:t>
            </a:r>
            <a:r>
              <a:rPr lang="en-US" sz="2000" b="1">
                <a:solidFill>
                  <a:srgbClr val="FFFFFF"/>
                </a:solidFill>
                <a:latin typeface="Calibri"/>
                <a:ea typeface="Calibri"/>
                <a:cs typeface="Calibri"/>
              </a:rPr>
              <a:t> de </a:t>
            </a:r>
            <a:r>
              <a:rPr lang="en-US" sz="2000" b="1" err="1">
                <a:solidFill>
                  <a:srgbClr val="FFFFFF"/>
                </a:solidFill>
                <a:latin typeface="Calibri"/>
                <a:ea typeface="Calibri"/>
                <a:cs typeface="Calibri"/>
              </a:rPr>
              <a:t>l'Intelligence</a:t>
            </a:r>
            <a:r>
              <a:rPr lang="en-US" sz="2000" b="1">
                <a:solidFill>
                  <a:srgbClr val="FFFFFF"/>
                </a:solidFill>
                <a:latin typeface="Calibri"/>
                <a:ea typeface="Calibri"/>
                <a:cs typeface="Calibri"/>
              </a:rPr>
              <a:t> </a:t>
            </a:r>
            <a:r>
              <a:rPr lang="en-US" sz="2000" b="1" err="1">
                <a:solidFill>
                  <a:srgbClr val="FFFFFF"/>
                </a:solidFill>
                <a:latin typeface="Calibri"/>
                <a:ea typeface="Calibri"/>
                <a:cs typeface="Calibri"/>
              </a:rPr>
              <a:t>Artificielle</a:t>
            </a:r>
            <a:endParaRPr lang="en-US" sz="2000" err="1">
              <a:latin typeface="Calibri"/>
              <a:ea typeface="Calibri"/>
              <a:cs typeface="Calibri"/>
            </a:endParaRPr>
          </a:p>
        </p:txBody>
      </p:sp>
      <p:sp>
        <p:nvSpPr>
          <p:cNvPr id="4" name="Shape 2"/>
          <p:cNvSpPr/>
          <p:nvPr/>
        </p:nvSpPr>
        <p:spPr>
          <a:xfrm>
            <a:off x="365760" y="804672"/>
            <a:ext cx="4160520" cy="1874520"/>
          </a:xfrm>
          <a:prstGeom prst="rect">
            <a:avLst/>
          </a:prstGeom>
          <a:solidFill>
            <a:srgbClr val="EFF6FF"/>
          </a:solidFill>
          <a:ln w="12700">
            <a:solidFill>
              <a:srgbClr val="1F4E79"/>
            </a:solidFill>
            <a:prstDash val="solid"/>
          </a:ln>
          <a:effectLst>
            <a:outerShdw blurRad="101600" dist="38100" dir="8100000" algn="bl" rotWithShape="0">
              <a:srgbClr val="000000">
                <a:alpha val="12000"/>
              </a:srgbClr>
            </a:outerShdw>
          </a:effectLst>
        </p:spPr>
      </p:sp>
      <p:sp>
        <p:nvSpPr>
          <p:cNvPr id="5" name="Shape 3"/>
          <p:cNvSpPr/>
          <p:nvPr/>
        </p:nvSpPr>
        <p:spPr>
          <a:xfrm>
            <a:off x="365760" y="804672"/>
            <a:ext cx="109728" cy="1874520"/>
          </a:xfrm>
          <a:prstGeom prst="rect">
            <a:avLst/>
          </a:prstGeom>
          <a:solidFill>
            <a:srgbClr val="1F4E79"/>
          </a:solidFill>
          <a:ln w="12700">
            <a:solidFill>
              <a:srgbClr val="1F4E79"/>
            </a:solidFill>
            <a:prstDash val="solid"/>
          </a:ln>
        </p:spPr>
      </p:sp>
      <p:sp>
        <p:nvSpPr>
          <p:cNvPr id="6" name="Text 4"/>
          <p:cNvSpPr/>
          <p:nvPr/>
        </p:nvSpPr>
        <p:spPr>
          <a:xfrm>
            <a:off x="548640" y="859536"/>
            <a:ext cx="3886200" cy="347472"/>
          </a:xfrm>
          <a:prstGeom prst="rect">
            <a:avLst/>
          </a:prstGeom>
          <a:noFill/>
          <a:ln/>
        </p:spPr>
        <p:txBody>
          <a:bodyPr wrap="square" rtlCol="0" anchor="ctr"/>
          <a:lstStyle/>
          <a:p>
            <a:pPr marL="0" indent="0">
              <a:buNone/>
            </a:pPr>
            <a:r>
              <a:rPr lang="en-US" sz="1300" b="1">
                <a:solidFill>
                  <a:srgbClr val="1F4E79"/>
                </a:solidFill>
              </a:rPr>
              <a:t>Génération de contenu</a:t>
            </a:r>
            <a:endParaRPr lang="en-US" sz="1300"/>
          </a:p>
        </p:txBody>
      </p:sp>
      <p:sp>
        <p:nvSpPr>
          <p:cNvPr id="7" name="Text 5"/>
          <p:cNvSpPr/>
          <p:nvPr/>
        </p:nvSpPr>
        <p:spPr>
          <a:xfrm>
            <a:off x="548640" y="1170432"/>
            <a:ext cx="3886200" cy="237744"/>
          </a:xfrm>
          <a:prstGeom prst="rect">
            <a:avLst/>
          </a:prstGeom>
          <a:noFill/>
          <a:ln/>
        </p:spPr>
        <p:txBody>
          <a:bodyPr wrap="square" rtlCol="0" anchor="ctr"/>
          <a:lstStyle/>
          <a:p>
            <a:pPr marL="0" indent="0">
              <a:buNone/>
            </a:pPr>
            <a:r>
              <a:rPr lang="en-US" sz="1000" i="1">
                <a:solidFill>
                  <a:srgbClr val="64748B"/>
                </a:solidFill>
              </a:rPr>
              <a:t>GPT-4 intégré à Gutenberg</a:t>
            </a:r>
            <a:endParaRPr lang="en-US" sz="1000"/>
          </a:p>
        </p:txBody>
      </p:sp>
      <p:sp>
        <p:nvSpPr>
          <p:cNvPr id="8" name="Text 6"/>
          <p:cNvSpPr/>
          <p:nvPr/>
        </p:nvSpPr>
        <p:spPr>
          <a:xfrm>
            <a:off x="548640" y="1426464"/>
            <a:ext cx="3886200" cy="877824"/>
          </a:xfrm>
          <a:prstGeom prst="rect">
            <a:avLst/>
          </a:prstGeom>
          <a:noFill/>
          <a:ln/>
        </p:spPr>
        <p:txBody>
          <a:bodyPr wrap="square" rtlCol="0" anchor="ctr"/>
          <a:lstStyle/>
          <a:p>
            <a:pPr marL="0" indent="0">
              <a:buNone/>
            </a:pPr>
            <a:r>
              <a:rPr lang="en-US" sz="1100">
                <a:solidFill>
                  <a:srgbClr val="1A2A3A"/>
                </a:solidFill>
                <a:latin typeface="Calibri" pitchFamily="34" charset="0"/>
                <a:ea typeface="Calibri" pitchFamily="34" charset="-122"/>
                <a:cs typeface="Calibri" pitchFamily="34" charset="-120"/>
              </a:rPr>
              <a:t>Plugins AI Power, Bertha AI et ContentBot intègrent GPT-4 directement dans l'éditeur WordPress pour générer des articles complets, méta-descriptions, titres et traductions automatiques.</a:t>
            </a:r>
            <a:endParaRPr lang="en-US" sz="1100"/>
          </a:p>
        </p:txBody>
      </p:sp>
      <p:sp>
        <p:nvSpPr>
          <p:cNvPr id="9" name="Text 7"/>
          <p:cNvSpPr/>
          <p:nvPr/>
        </p:nvSpPr>
        <p:spPr>
          <a:xfrm>
            <a:off x="548640" y="2377440"/>
            <a:ext cx="3886200" cy="256032"/>
          </a:xfrm>
          <a:prstGeom prst="rect">
            <a:avLst/>
          </a:prstGeom>
          <a:noFill/>
          <a:ln/>
        </p:spPr>
        <p:txBody>
          <a:bodyPr wrap="square" rtlCol="0" anchor="ctr"/>
          <a:lstStyle/>
          <a:p>
            <a:pPr marL="0" indent="0">
              <a:buNone/>
            </a:pPr>
            <a:r>
              <a:rPr lang="en-US" sz="1000" b="1">
                <a:solidFill>
                  <a:srgbClr val="1F4E79"/>
                </a:solidFill>
              </a:rPr>
              <a:t>AI Power · Bertha AI · ContentBot</a:t>
            </a:r>
            <a:endParaRPr lang="en-US" sz="1000"/>
          </a:p>
        </p:txBody>
      </p:sp>
      <p:sp>
        <p:nvSpPr>
          <p:cNvPr id="10" name="Shape 8"/>
          <p:cNvSpPr/>
          <p:nvPr/>
        </p:nvSpPr>
        <p:spPr>
          <a:xfrm>
            <a:off x="4663440" y="804672"/>
            <a:ext cx="4160520" cy="1874520"/>
          </a:xfrm>
          <a:prstGeom prst="rect">
            <a:avLst/>
          </a:prstGeom>
          <a:solidFill>
            <a:srgbClr val="F0FDF4"/>
          </a:solidFill>
          <a:ln w="12700">
            <a:solidFill>
              <a:srgbClr val="065F46"/>
            </a:solidFill>
            <a:prstDash val="solid"/>
          </a:ln>
          <a:effectLst>
            <a:outerShdw blurRad="101600" dist="38100" dir="8100000" algn="bl" rotWithShape="0">
              <a:srgbClr val="000000">
                <a:alpha val="12000"/>
              </a:srgbClr>
            </a:outerShdw>
          </a:effectLst>
        </p:spPr>
      </p:sp>
      <p:sp>
        <p:nvSpPr>
          <p:cNvPr id="11" name="Shape 9"/>
          <p:cNvSpPr/>
          <p:nvPr/>
        </p:nvSpPr>
        <p:spPr>
          <a:xfrm>
            <a:off x="4663440" y="804672"/>
            <a:ext cx="109728" cy="1874520"/>
          </a:xfrm>
          <a:prstGeom prst="rect">
            <a:avLst/>
          </a:prstGeom>
          <a:solidFill>
            <a:srgbClr val="065F46"/>
          </a:solidFill>
          <a:ln w="12700">
            <a:solidFill>
              <a:srgbClr val="065F46"/>
            </a:solidFill>
            <a:prstDash val="solid"/>
          </a:ln>
        </p:spPr>
      </p:sp>
      <p:sp>
        <p:nvSpPr>
          <p:cNvPr id="12" name="Text 10"/>
          <p:cNvSpPr/>
          <p:nvPr/>
        </p:nvSpPr>
        <p:spPr>
          <a:xfrm>
            <a:off x="4846320" y="859536"/>
            <a:ext cx="3886200" cy="347472"/>
          </a:xfrm>
          <a:prstGeom prst="rect">
            <a:avLst/>
          </a:prstGeom>
          <a:noFill/>
          <a:ln/>
        </p:spPr>
        <p:txBody>
          <a:bodyPr wrap="square" rtlCol="0" anchor="ctr"/>
          <a:lstStyle/>
          <a:p>
            <a:pPr marL="0" indent="0">
              <a:buNone/>
            </a:pPr>
            <a:r>
              <a:rPr lang="en-US" sz="1300" b="1">
                <a:solidFill>
                  <a:srgbClr val="065F46"/>
                </a:solidFill>
              </a:rPr>
              <a:t>SEO automatisé par IA</a:t>
            </a:r>
            <a:endParaRPr lang="en-US" sz="1300"/>
          </a:p>
        </p:txBody>
      </p:sp>
      <p:sp>
        <p:nvSpPr>
          <p:cNvPr id="13" name="Text 11"/>
          <p:cNvSpPr/>
          <p:nvPr/>
        </p:nvSpPr>
        <p:spPr>
          <a:xfrm>
            <a:off x="4846320" y="1170432"/>
            <a:ext cx="3886200" cy="237744"/>
          </a:xfrm>
          <a:prstGeom prst="rect">
            <a:avLst/>
          </a:prstGeom>
          <a:noFill/>
          <a:ln/>
        </p:spPr>
        <p:txBody>
          <a:bodyPr wrap="square" rtlCol="0" anchor="ctr"/>
          <a:lstStyle/>
          <a:p>
            <a:pPr marL="0" indent="0">
              <a:buNone/>
            </a:pPr>
            <a:r>
              <a:rPr lang="en-US" sz="1000" i="1">
                <a:solidFill>
                  <a:srgbClr val="64748B"/>
                </a:solidFill>
              </a:rPr>
              <a:t>Yoast SEO + intelligence artificielle</a:t>
            </a:r>
            <a:endParaRPr lang="en-US" sz="1000"/>
          </a:p>
        </p:txBody>
      </p:sp>
      <p:sp>
        <p:nvSpPr>
          <p:cNvPr id="14" name="Text 12"/>
          <p:cNvSpPr/>
          <p:nvPr/>
        </p:nvSpPr>
        <p:spPr>
          <a:xfrm>
            <a:off x="4846320" y="1426464"/>
            <a:ext cx="3886200" cy="877824"/>
          </a:xfrm>
          <a:prstGeom prst="rect">
            <a:avLst/>
          </a:prstGeom>
          <a:noFill/>
          <a:ln/>
        </p:spPr>
        <p:txBody>
          <a:bodyPr wrap="square" rtlCol="0" anchor="ctr"/>
          <a:lstStyle/>
          <a:p>
            <a:pPr marL="0" indent="0">
              <a:buNone/>
            </a:pPr>
            <a:r>
              <a:rPr lang="en-US" sz="1100">
                <a:solidFill>
                  <a:srgbClr val="1A2A3A"/>
                </a:solidFill>
                <a:latin typeface="Calibri" pitchFamily="34" charset="0"/>
                <a:ea typeface="Calibri" pitchFamily="34" charset="-122"/>
                <a:cs typeface="Calibri" pitchFamily="34" charset="-120"/>
              </a:rPr>
              <a:t>Yoast SEO (5M+ installations) utilise l'IA pour analyser le contenu, suggérer des améliorations SEO, générer automatiquement les méta-descriptions et analyser la lisibilité selon les standards Google.</a:t>
            </a:r>
            <a:endParaRPr lang="en-US" sz="1100"/>
          </a:p>
        </p:txBody>
      </p:sp>
      <p:sp>
        <p:nvSpPr>
          <p:cNvPr id="15" name="Text 13"/>
          <p:cNvSpPr/>
          <p:nvPr/>
        </p:nvSpPr>
        <p:spPr>
          <a:xfrm>
            <a:off x="4846320" y="2377440"/>
            <a:ext cx="3886200" cy="256032"/>
          </a:xfrm>
          <a:prstGeom prst="rect">
            <a:avLst/>
          </a:prstGeom>
          <a:noFill/>
          <a:ln/>
        </p:spPr>
        <p:txBody>
          <a:bodyPr wrap="square" rtlCol="0" anchor="ctr"/>
          <a:lstStyle/>
          <a:p>
            <a:pPr marL="0" indent="0">
              <a:buNone/>
            </a:pPr>
            <a:r>
              <a:rPr lang="en-US" sz="1000" b="1">
                <a:solidFill>
                  <a:srgbClr val="065F46"/>
                </a:solidFill>
              </a:rPr>
              <a:t>Yoast SEO AI · Rank Math AI · SEOPress</a:t>
            </a:r>
            <a:endParaRPr lang="en-US" sz="1000"/>
          </a:p>
        </p:txBody>
      </p:sp>
      <p:sp>
        <p:nvSpPr>
          <p:cNvPr id="16" name="Shape 14"/>
          <p:cNvSpPr/>
          <p:nvPr/>
        </p:nvSpPr>
        <p:spPr>
          <a:xfrm>
            <a:off x="365760" y="2816352"/>
            <a:ext cx="4160520" cy="1874520"/>
          </a:xfrm>
          <a:prstGeom prst="rect">
            <a:avLst/>
          </a:prstGeom>
          <a:solidFill>
            <a:srgbClr val="FFFBEB"/>
          </a:solidFill>
          <a:ln w="12700">
            <a:solidFill>
              <a:srgbClr val="E8A020"/>
            </a:solidFill>
            <a:prstDash val="solid"/>
          </a:ln>
          <a:effectLst>
            <a:outerShdw blurRad="101600" dist="38100" dir="8100000" algn="bl" rotWithShape="0">
              <a:srgbClr val="000000">
                <a:alpha val="12000"/>
              </a:srgbClr>
            </a:outerShdw>
          </a:effectLst>
        </p:spPr>
      </p:sp>
      <p:sp>
        <p:nvSpPr>
          <p:cNvPr id="17" name="Shape 15"/>
          <p:cNvSpPr/>
          <p:nvPr/>
        </p:nvSpPr>
        <p:spPr>
          <a:xfrm>
            <a:off x="365760" y="2816352"/>
            <a:ext cx="109728" cy="1874520"/>
          </a:xfrm>
          <a:prstGeom prst="rect">
            <a:avLst/>
          </a:prstGeom>
          <a:solidFill>
            <a:srgbClr val="E8A020"/>
          </a:solidFill>
          <a:ln w="12700">
            <a:solidFill>
              <a:srgbClr val="E8A020"/>
            </a:solidFill>
            <a:prstDash val="solid"/>
          </a:ln>
        </p:spPr>
      </p:sp>
      <p:sp>
        <p:nvSpPr>
          <p:cNvPr id="18" name="Text 16"/>
          <p:cNvSpPr/>
          <p:nvPr/>
        </p:nvSpPr>
        <p:spPr>
          <a:xfrm>
            <a:off x="548640" y="2871216"/>
            <a:ext cx="3886200" cy="347472"/>
          </a:xfrm>
          <a:prstGeom prst="rect">
            <a:avLst/>
          </a:prstGeom>
          <a:noFill/>
          <a:ln/>
        </p:spPr>
        <p:txBody>
          <a:bodyPr wrap="square" rtlCol="0" anchor="ctr"/>
          <a:lstStyle/>
          <a:p>
            <a:pPr marL="0" indent="0">
              <a:buNone/>
            </a:pPr>
            <a:r>
              <a:rPr lang="en-US" sz="1300" b="1">
                <a:solidFill>
                  <a:srgbClr val="E8A020"/>
                </a:solidFill>
              </a:rPr>
              <a:t>Chatbots intelligents</a:t>
            </a:r>
            <a:endParaRPr lang="en-US" sz="1300"/>
          </a:p>
        </p:txBody>
      </p:sp>
      <p:sp>
        <p:nvSpPr>
          <p:cNvPr id="19" name="Text 17"/>
          <p:cNvSpPr/>
          <p:nvPr/>
        </p:nvSpPr>
        <p:spPr>
          <a:xfrm>
            <a:off x="548640" y="3182112"/>
            <a:ext cx="3886200" cy="237744"/>
          </a:xfrm>
          <a:prstGeom prst="rect">
            <a:avLst/>
          </a:prstGeom>
          <a:noFill/>
          <a:ln/>
        </p:spPr>
        <p:txBody>
          <a:bodyPr wrap="square" rtlCol="0" anchor="ctr"/>
          <a:lstStyle/>
          <a:p>
            <a:pPr marL="0" indent="0">
              <a:buNone/>
            </a:pPr>
            <a:r>
              <a:rPr lang="en-US" sz="1000" i="1">
                <a:solidFill>
                  <a:srgbClr val="64748B"/>
                </a:solidFill>
              </a:rPr>
              <a:t>Assistants IA 24h/24</a:t>
            </a:r>
            <a:endParaRPr lang="en-US" sz="1000"/>
          </a:p>
        </p:txBody>
      </p:sp>
      <p:sp>
        <p:nvSpPr>
          <p:cNvPr id="20" name="Text 18"/>
          <p:cNvSpPr/>
          <p:nvPr/>
        </p:nvSpPr>
        <p:spPr>
          <a:xfrm>
            <a:off x="548640" y="3438144"/>
            <a:ext cx="3886200" cy="877824"/>
          </a:xfrm>
          <a:prstGeom prst="rect">
            <a:avLst/>
          </a:prstGeom>
          <a:noFill/>
          <a:ln/>
        </p:spPr>
        <p:txBody>
          <a:bodyPr wrap="square" rtlCol="0" anchor="ctr"/>
          <a:lstStyle/>
          <a:p>
            <a:pPr marL="0" indent="0">
              <a:buNone/>
            </a:pPr>
            <a:r>
              <a:rPr lang="en-US" sz="1100">
                <a:solidFill>
                  <a:srgbClr val="1A2A3A"/>
                </a:solidFill>
                <a:latin typeface="Calibri" pitchFamily="34" charset="0"/>
                <a:ea typeface="Calibri" pitchFamily="34" charset="-122"/>
                <a:cs typeface="Calibri" pitchFamily="34" charset="-120"/>
              </a:rPr>
              <a:t>Les chatbots IA connectent GPT au contenu du site pour répondre aux visiteurs, qualifier des leads et traiter les demandes de support en apprenant du contenu WordPress existant.</a:t>
            </a:r>
            <a:endParaRPr lang="en-US" sz="1100"/>
          </a:p>
        </p:txBody>
      </p:sp>
      <p:sp>
        <p:nvSpPr>
          <p:cNvPr id="21" name="Text 19"/>
          <p:cNvSpPr/>
          <p:nvPr/>
        </p:nvSpPr>
        <p:spPr>
          <a:xfrm>
            <a:off x="548640" y="4389120"/>
            <a:ext cx="3886200" cy="256032"/>
          </a:xfrm>
          <a:prstGeom prst="rect">
            <a:avLst/>
          </a:prstGeom>
          <a:noFill/>
          <a:ln/>
        </p:spPr>
        <p:txBody>
          <a:bodyPr wrap="square" rtlCol="0" anchor="ctr"/>
          <a:lstStyle/>
          <a:p>
            <a:pPr marL="0" indent="0">
              <a:buNone/>
            </a:pPr>
            <a:r>
              <a:rPr lang="en-US" sz="1000" b="1">
                <a:solidFill>
                  <a:srgbClr val="E8A020"/>
                </a:solidFill>
              </a:rPr>
              <a:t>Tidio IA · WPBot · Chatbase</a:t>
            </a:r>
            <a:endParaRPr lang="en-US" sz="1000"/>
          </a:p>
        </p:txBody>
      </p:sp>
      <p:sp>
        <p:nvSpPr>
          <p:cNvPr id="22" name="Shape 20"/>
          <p:cNvSpPr/>
          <p:nvPr/>
        </p:nvSpPr>
        <p:spPr>
          <a:xfrm>
            <a:off x="4663440" y="2816352"/>
            <a:ext cx="4160520" cy="1874520"/>
          </a:xfrm>
          <a:prstGeom prst="rect">
            <a:avLst/>
          </a:prstGeom>
          <a:solidFill>
            <a:srgbClr val="EDE9FE"/>
          </a:solidFill>
          <a:ln w="12700">
            <a:solidFill>
              <a:srgbClr val="534AB7"/>
            </a:solidFill>
            <a:prstDash val="solid"/>
          </a:ln>
          <a:effectLst>
            <a:outerShdw blurRad="101600" dist="38100" dir="8100000" algn="bl" rotWithShape="0">
              <a:srgbClr val="000000">
                <a:alpha val="12000"/>
              </a:srgbClr>
            </a:outerShdw>
          </a:effectLst>
        </p:spPr>
      </p:sp>
      <p:sp>
        <p:nvSpPr>
          <p:cNvPr id="23" name="Shape 21"/>
          <p:cNvSpPr/>
          <p:nvPr/>
        </p:nvSpPr>
        <p:spPr>
          <a:xfrm>
            <a:off x="4663440" y="2816352"/>
            <a:ext cx="109728" cy="1874520"/>
          </a:xfrm>
          <a:prstGeom prst="rect">
            <a:avLst/>
          </a:prstGeom>
          <a:solidFill>
            <a:srgbClr val="534AB7"/>
          </a:solidFill>
          <a:ln w="12700">
            <a:solidFill>
              <a:srgbClr val="534AB7"/>
            </a:solidFill>
            <a:prstDash val="solid"/>
          </a:ln>
        </p:spPr>
      </p:sp>
      <p:sp>
        <p:nvSpPr>
          <p:cNvPr id="24" name="Text 22"/>
          <p:cNvSpPr/>
          <p:nvPr/>
        </p:nvSpPr>
        <p:spPr>
          <a:xfrm>
            <a:off x="4846320" y="2871216"/>
            <a:ext cx="3886200" cy="347472"/>
          </a:xfrm>
          <a:prstGeom prst="rect">
            <a:avLst/>
          </a:prstGeom>
          <a:noFill/>
          <a:ln/>
        </p:spPr>
        <p:txBody>
          <a:bodyPr wrap="square" rtlCol="0" anchor="ctr"/>
          <a:lstStyle/>
          <a:p>
            <a:pPr marL="0" indent="0">
              <a:buNone/>
            </a:pPr>
            <a:r>
              <a:rPr lang="en-US" sz="1300" b="1">
                <a:solidFill>
                  <a:srgbClr val="534AB7"/>
                </a:solidFill>
              </a:rPr>
              <a:t>Personnalisation IA</a:t>
            </a:r>
            <a:endParaRPr lang="en-US" sz="1300"/>
          </a:p>
        </p:txBody>
      </p:sp>
      <p:sp>
        <p:nvSpPr>
          <p:cNvPr id="25" name="Text 23"/>
          <p:cNvSpPr/>
          <p:nvPr/>
        </p:nvSpPr>
        <p:spPr>
          <a:xfrm>
            <a:off x="4846320" y="3182112"/>
            <a:ext cx="3886200" cy="237744"/>
          </a:xfrm>
          <a:prstGeom prst="rect">
            <a:avLst/>
          </a:prstGeom>
          <a:noFill/>
          <a:ln/>
        </p:spPr>
        <p:txBody>
          <a:bodyPr wrap="square" rtlCol="0" anchor="ctr"/>
          <a:lstStyle/>
          <a:p>
            <a:pPr marL="0" indent="0">
              <a:buNone/>
            </a:pPr>
            <a:r>
              <a:rPr lang="en-US" sz="1000" i="1">
                <a:solidFill>
                  <a:srgbClr val="64748B"/>
                </a:solidFill>
              </a:rPr>
              <a:t>Contenu dynamique par visiteur</a:t>
            </a:r>
            <a:endParaRPr lang="en-US" sz="1000"/>
          </a:p>
        </p:txBody>
      </p:sp>
      <p:sp>
        <p:nvSpPr>
          <p:cNvPr id="26" name="Text 24"/>
          <p:cNvSpPr/>
          <p:nvPr/>
        </p:nvSpPr>
        <p:spPr>
          <a:xfrm>
            <a:off x="4846320" y="3438144"/>
            <a:ext cx="3886200" cy="877824"/>
          </a:xfrm>
          <a:prstGeom prst="rect">
            <a:avLst/>
          </a:prstGeom>
          <a:noFill/>
          <a:ln/>
        </p:spPr>
        <p:txBody>
          <a:bodyPr wrap="square" rtlCol="0" anchor="ctr"/>
          <a:lstStyle/>
          <a:p>
            <a:pPr marL="0" indent="0">
              <a:buNone/>
            </a:pPr>
            <a:r>
              <a:rPr lang="en-US" sz="1100">
                <a:solidFill>
                  <a:srgbClr val="1A2A3A"/>
                </a:solidFill>
                <a:latin typeface="Calibri" pitchFamily="34" charset="0"/>
                <a:ea typeface="Calibri" pitchFamily="34" charset="-122"/>
                <a:cs typeface="Calibri" pitchFamily="34" charset="-120"/>
              </a:rPr>
              <a:t>L'IA analyse le comportement de chaque visiteur et adapte dynamiquement le contenu affiché — recommandations d'articles, produits suggérés, CTAs personnalisés. Principe Netflix appliqué à WordPress.</a:t>
            </a:r>
            <a:endParaRPr lang="en-US" sz="1100"/>
          </a:p>
        </p:txBody>
      </p:sp>
      <p:sp>
        <p:nvSpPr>
          <p:cNvPr id="27" name="Text 25"/>
          <p:cNvSpPr/>
          <p:nvPr/>
        </p:nvSpPr>
        <p:spPr>
          <a:xfrm>
            <a:off x="4846320" y="4389120"/>
            <a:ext cx="3886200" cy="256032"/>
          </a:xfrm>
          <a:prstGeom prst="rect">
            <a:avLst/>
          </a:prstGeom>
          <a:noFill/>
          <a:ln/>
        </p:spPr>
        <p:txBody>
          <a:bodyPr wrap="square" rtlCol="0" anchor="ctr"/>
          <a:lstStyle/>
          <a:p>
            <a:pPr marL="0" indent="0">
              <a:buNone/>
            </a:pPr>
            <a:r>
              <a:rPr lang="en-US" sz="1000" b="1">
                <a:solidFill>
                  <a:srgbClr val="534AB7"/>
                </a:solidFill>
              </a:rPr>
              <a:t>If-So · Recombee · MonsterInsights</a:t>
            </a:r>
            <a:endParaRPr lang="en-US" sz="1000"/>
          </a:p>
        </p:txBody>
      </p:sp>
      <p:sp>
        <p:nvSpPr>
          <p:cNvPr id="28" name="Shape 26"/>
          <p:cNvSpPr/>
          <p:nvPr/>
        </p:nvSpPr>
        <p:spPr>
          <a:xfrm>
            <a:off x="365760" y="4709160"/>
            <a:ext cx="8412480" cy="320040"/>
          </a:xfrm>
          <a:prstGeom prst="rect">
            <a:avLst/>
          </a:prstGeom>
          <a:solidFill>
            <a:srgbClr val="EDE9FE"/>
          </a:solidFill>
          <a:ln w="12700">
            <a:solidFill>
              <a:srgbClr val="534AB7"/>
            </a:solidFill>
            <a:prstDash val="solid"/>
          </a:ln>
        </p:spPr>
      </p:sp>
      <p:sp>
        <p:nvSpPr>
          <p:cNvPr id="29" name="Text 27"/>
          <p:cNvSpPr/>
          <p:nvPr/>
        </p:nvSpPr>
        <p:spPr>
          <a:xfrm>
            <a:off x="457200" y="4709160"/>
            <a:ext cx="8229600" cy="320040"/>
          </a:xfrm>
          <a:prstGeom prst="rect">
            <a:avLst/>
          </a:prstGeom>
          <a:noFill/>
          <a:ln/>
        </p:spPr>
        <p:txBody>
          <a:bodyPr wrap="square" rtlCol="0" anchor="ctr"/>
          <a:lstStyle/>
          <a:p>
            <a:pPr marL="0" indent="0">
              <a:buNone/>
            </a:pPr>
            <a:r>
              <a:rPr lang="en-US" sz="1100" b="1">
                <a:solidFill>
                  <a:srgbClr val="534AB7"/>
                </a:solidFill>
              </a:rPr>
              <a:t>Point clé : l'IA s'intègre dans WordPress via le même système de plugins — identique à n'importe quelle autre extension.</a:t>
            </a:r>
            <a:endParaRPr lang="en-US" sz="1100"/>
          </a:p>
        </p:txBody>
      </p:sp>
      <p:sp>
        <p:nvSpPr>
          <p:cNvPr id="31" name="Rectangle 30">
            <a:extLst>
              <a:ext uri="{FF2B5EF4-FFF2-40B4-BE49-F238E27FC236}">
                <a16:creationId xmlns:a16="http://schemas.microsoft.com/office/drawing/2014/main" id="{6C1F1702-6F75-148E-4385-281914A296F6}"/>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33" name="ZoneTexte 32">
            <a:extLst>
              <a:ext uri="{FF2B5EF4-FFF2-40B4-BE49-F238E27FC236}">
                <a16:creationId xmlns:a16="http://schemas.microsoft.com/office/drawing/2014/main" id="{4469ACE3-5D8C-81DE-92CA-C0C75157F2BB}"/>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1F4E79"/>
        </a:solidFill>
        <a:effectLst/>
      </p:bgPr>
    </p:bg>
    <p:spTree>
      <p:nvGrpSpPr>
        <p:cNvPr id="1" name=""/>
        <p:cNvGrpSpPr/>
        <p:nvPr/>
      </p:nvGrpSpPr>
      <p:grpSpPr>
        <a:xfrm>
          <a:off x="0" y="0"/>
          <a:ext cx="0" cy="0"/>
          <a:chOff x="0" y="0"/>
          <a:chExt cx="0" cy="0"/>
        </a:xfrm>
      </p:grpSpPr>
      <p:sp>
        <p:nvSpPr>
          <p:cNvPr id="28" name="Shape 0">
            <a:extLst>
              <a:ext uri="{FF2B5EF4-FFF2-40B4-BE49-F238E27FC236}">
                <a16:creationId xmlns:a16="http://schemas.microsoft.com/office/drawing/2014/main" id="{02322BDC-676C-A90E-C2C1-33EE83DAC0B0}"/>
              </a:ext>
            </a:extLst>
          </p:cNvPr>
          <p:cNvSpPr/>
          <p:nvPr/>
        </p:nvSpPr>
        <p:spPr>
          <a:xfrm>
            <a:off x="0" y="762732"/>
            <a:ext cx="9138505" cy="2032122"/>
          </a:xfrm>
          <a:prstGeom prst="rect">
            <a:avLst/>
          </a:prstGeom>
          <a:solidFill>
            <a:schemeClr val="bg2"/>
          </a:solidFill>
          <a:ln w="12700">
            <a:solidFill>
              <a:srgbClr val="1F4E79"/>
            </a:solidFill>
            <a:prstDash val="solid"/>
          </a:ln>
        </p:spPr>
      </p:sp>
      <p:sp>
        <p:nvSpPr>
          <p:cNvPr id="3" name="Shape 1"/>
          <p:cNvSpPr/>
          <p:nvPr/>
        </p:nvSpPr>
        <p:spPr>
          <a:xfrm>
            <a:off x="7315200" y="-457200"/>
            <a:ext cx="2743200" cy="2743200"/>
          </a:xfrm>
          <a:prstGeom prst="ellipse">
            <a:avLst/>
          </a:prstGeom>
          <a:solidFill>
            <a:srgbClr val="21A0D2">
              <a:alpha val="20000"/>
            </a:srgbClr>
          </a:solidFill>
          <a:ln w="12700">
            <a:solidFill>
              <a:srgbClr val="21A0D2">
                <a:alpha val="15000"/>
              </a:srgbClr>
            </a:solidFill>
            <a:prstDash val="solid"/>
          </a:ln>
        </p:spPr>
      </p:sp>
      <p:sp>
        <p:nvSpPr>
          <p:cNvPr id="25" name="Shape 0">
            <a:extLst>
              <a:ext uri="{FF2B5EF4-FFF2-40B4-BE49-F238E27FC236}">
                <a16:creationId xmlns:a16="http://schemas.microsoft.com/office/drawing/2014/main" id="{5FA68DFF-3175-E29C-4B19-F6925B6262BD}"/>
              </a:ext>
            </a:extLst>
          </p:cNvPr>
          <p:cNvSpPr/>
          <p:nvPr/>
        </p:nvSpPr>
        <p:spPr>
          <a:xfrm>
            <a:off x="0" y="5495"/>
            <a:ext cx="9138505" cy="531935"/>
          </a:xfrm>
          <a:prstGeom prst="rect">
            <a:avLst/>
          </a:prstGeom>
          <a:solidFill>
            <a:schemeClr val="tx1"/>
          </a:solidFill>
          <a:ln w="12700">
            <a:solidFill>
              <a:srgbClr val="1F4E79"/>
            </a:solidFill>
            <a:prstDash val="solid"/>
          </a:ln>
        </p:spPr>
      </p:sp>
      <p:sp>
        <p:nvSpPr>
          <p:cNvPr id="26" name="TextBox 25">
            <a:extLst>
              <a:ext uri="{FF2B5EF4-FFF2-40B4-BE49-F238E27FC236}">
                <a16:creationId xmlns:a16="http://schemas.microsoft.com/office/drawing/2014/main" id="{CDF0FE1A-0B09-A9F0-BF7B-748E820EEA9A}"/>
              </a:ext>
            </a:extLst>
          </p:cNvPr>
          <p:cNvSpPr txBox="1"/>
          <p:nvPr/>
        </p:nvSpPr>
        <p:spPr>
          <a:xfrm>
            <a:off x="86783" y="125353"/>
            <a:ext cx="324954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1">
                <a:solidFill>
                  <a:schemeClr val="bg1"/>
                </a:solidFill>
                <a:ea typeface="Calibri"/>
                <a:cs typeface="Calibri"/>
              </a:rPr>
              <a:t>Conclusion</a:t>
            </a:r>
            <a:endParaRPr lang="en-US" sz="2200" b="1">
              <a:solidFill>
                <a:schemeClr val="bg1"/>
              </a:solidFill>
            </a:endParaRPr>
          </a:p>
        </p:txBody>
      </p:sp>
      <p:sp>
        <p:nvSpPr>
          <p:cNvPr id="27" name="TextBox 26">
            <a:extLst>
              <a:ext uri="{FF2B5EF4-FFF2-40B4-BE49-F238E27FC236}">
                <a16:creationId xmlns:a16="http://schemas.microsoft.com/office/drawing/2014/main" id="{731A9A46-F70A-663B-AC17-7FAEFB513E39}"/>
              </a:ext>
            </a:extLst>
          </p:cNvPr>
          <p:cNvSpPr txBox="1"/>
          <p:nvPr/>
        </p:nvSpPr>
        <p:spPr>
          <a:xfrm>
            <a:off x="247855" y="759968"/>
            <a:ext cx="864937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Les </a:t>
            </a:r>
            <a:r>
              <a:rPr lang="en-US" b="1">
                <a:ea typeface="+mn-lt"/>
                <a:cs typeface="+mn-lt"/>
              </a:rPr>
              <a:t>CMS</a:t>
            </a:r>
            <a:r>
              <a:rPr lang="en-US">
                <a:ea typeface="+mn-lt"/>
                <a:cs typeface="+mn-lt"/>
              </a:rPr>
              <a:t> </a:t>
            </a:r>
            <a:r>
              <a:rPr lang="en-US" err="1">
                <a:ea typeface="+mn-lt"/>
                <a:cs typeface="+mn-lt"/>
              </a:rPr>
              <a:t>sont</a:t>
            </a:r>
            <a:r>
              <a:rPr lang="en-US">
                <a:ea typeface="+mn-lt"/>
                <a:cs typeface="+mn-lt"/>
              </a:rPr>
              <a:t> </a:t>
            </a:r>
            <a:r>
              <a:rPr lang="en-US" err="1">
                <a:ea typeface="+mn-lt"/>
                <a:cs typeface="+mn-lt"/>
              </a:rPr>
              <a:t>devenus</a:t>
            </a:r>
            <a:r>
              <a:rPr lang="en-US">
                <a:ea typeface="+mn-lt"/>
                <a:cs typeface="+mn-lt"/>
              </a:rPr>
              <a:t> </a:t>
            </a:r>
            <a:r>
              <a:rPr lang="en-US" err="1">
                <a:ea typeface="+mn-lt"/>
                <a:cs typeface="+mn-lt"/>
              </a:rPr>
              <a:t>essentiels</a:t>
            </a:r>
            <a:r>
              <a:rPr lang="en-US">
                <a:ea typeface="+mn-lt"/>
                <a:cs typeface="+mn-lt"/>
              </a:rPr>
              <a:t> pour </a:t>
            </a:r>
            <a:r>
              <a:rPr lang="en-US" err="1">
                <a:ea typeface="+mn-lt"/>
                <a:cs typeface="+mn-lt"/>
              </a:rPr>
              <a:t>créer</a:t>
            </a:r>
            <a:r>
              <a:rPr lang="en-US">
                <a:ea typeface="+mn-lt"/>
                <a:cs typeface="+mn-lt"/>
              </a:rPr>
              <a:t> et </a:t>
            </a:r>
            <a:r>
              <a:rPr lang="en-US" err="1">
                <a:ea typeface="+mn-lt"/>
                <a:cs typeface="+mn-lt"/>
              </a:rPr>
              <a:t>gérer</a:t>
            </a:r>
            <a:r>
              <a:rPr lang="en-US">
                <a:ea typeface="+mn-lt"/>
                <a:cs typeface="+mn-lt"/>
              </a:rPr>
              <a:t> des sites web </a:t>
            </a:r>
            <a:r>
              <a:rPr lang="en-US" err="1">
                <a:ea typeface="+mn-lt"/>
                <a:cs typeface="+mn-lt"/>
              </a:rPr>
              <a:t>efficacement</a:t>
            </a:r>
            <a:r>
              <a:rPr lang="en-US">
                <a:ea typeface="+mn-lt"/>
                <a:cs typeface="+mn-lt"/>
              </a:rPr>
              <a:t>.</a:t>
            </a:r>
            <a:endParaRPr lang="en-US"/>
          </a:p>
          <a:p>
            <a:pPr marL="285750" indent="-285750">
              <a:buFont typeface="Arial"/>
              <a:buChar char="•"/>
            </a:pPr>
            <a:r>
              <a:rPr lang="en-US" err="1">
                <a:ea typeface="+mn-lt"/>
                <a:cs typeface="+mn-lt"/>
              </a:rPr>
              <a:t>Ils</a:t>
            </a:r>
            <a:r>
              <a:rPr lang="en-US">
                <a:ea typeface="+mn-lt"/>
                <a:cs typeface="+mn-lt"/>
              </a:rPr>
              <a:t> </a:t>
            </a:r>
            <a:r>
              <a:rPr lang="en-US" err="1">
                <a:ea typeface="+mn-lt"/>
                <a:cs typeface="+mn-lt"/>
              </a:rPr>
              <a:t>offrent</a:t>
            </a:r>
            <a:r>
              <a:rPr lang="en-US">
                <a:ea typeface="+mn-lt"/>
                <a:cs typeface="+mn-lt"/>
              </a:rPr>
              <a:t> </a:t>
            </a:r>
            <a:r>
              <a:rPr lang="en-US" b="1" err="1">
                <a:ea typeface="+mn-lt"/>
                <a:cs typeface="+mn-lt"/>
              </a:rPr>
              <a:t>simplicité</a:t>
            </a:r>
            <a:r>
              <a:rPr lang="en-US" b="1">
                <a:ea typeface="+mn-lt"/>
                <a:cs typeface="+mn-lt"/>
              </a:rPr>
              <a:t>, </a:t>
            </a:r>
            <a:r>
              <a:rPr lang="en-US" b="1" err="1">
                <a:ea typeface="+mn-lt"/>
                <a:cs typeface="+mn-lt"/>
              </a:rPr>
              <a:t>flexibilité</a:t>
            </a:r>
            <a:r>
              <a:rPr lang="en-US" b="1">
                <a:ea typeface="+mn-lt"/>
                <a:cs typeface="+mn-lt"/>
              </a:rPr>
              <a:t> et gain de temps</a:t>
            </a:r>
            <a:r>
              <a:rPr lang="en-US">
                <a:ea typeface="+mn-lt"/>
                <a:cs typeface="+mn-lt"/>
              </a:rPr>
              <a:t> par rapport au </a:t>
            </a:r>
            <a:r>
              <a:rPr lang="en-US" err="1">
                <a:ea typeface="+mn-lt"/>
                <a:cs typeface="+mn-lt"/>
              </a:rPr>
              <a:t>développement</a:t>
            </a:r>
            <a:r>
              <a:rPr lang="en-US">
                <a:ea typeface="+mn-lt"/>
                <a:cs typeface="+mn-lt"/>
              </a:rPr>
              <a:t> “from scratch”.</a:t>
            </a:r>
            <a:endParaRPr lang="en-US"/>
          </a:p>
          <a:p>
            <a:pPr marL="285750" indent="-285750">
              <a:buFont typeface="Arial"/>
              <a:buChar char="•"/>
            </a:pPr>
            <a:r>
              <a:rPr lang="en-US">
                <a:ea typeface="+mn-lt"/>
                <a:cs typeface="+mn-lt"/>
              </a:rPr>
              <a:t>Les solutions </a:t>
            </a:r>
            <a:r>
              <a:rPr lang="en-US" err="1">
                <a:ea typeface="+mn-lt"/>
                <a:cs typeface="+mn-lt"/>
              </a:rPr>
              <a:t>populaires</a:t>
            </a:r>
            <a:r>
              <a:rPr lang="en-US">
                <a:ea typeface="+mn-lt"/>
                <a:cs typeface="+mn-lt"/>
              </a:rPr>
              <a:t> (WordPress, Drupal, Joomla) </a:t>
            </a:r>
            <a:r>
              <a:rPr lang="en-US" err="1">
                <a:ea typeface="+mn-lt"/>
                <a:cs typeface="+mn-lt"/>
              </a:rPr>
              <a:t>répondent</a:t>
            </a:r>
            <a:r>
              <a:rPr lang="en-US">
                <a:ea typeface="+mn-lt"/>
                <a:cs typeface="+mn-lt"/>
              </a:rPr>
              <a:t> à des </a:t>
            </a:r>
            <a:r>
              <a:rPr lang="en-US" err="1">
                <a:ea typeface="+mn-lt"/>
                <a:cs typeface="+mn-lt"/>
              </a:rPr>
              <a:t>besoins</a:t>
            </a:r>
            <a:r>
              <a:rPr lang="en-US">
                <a:ea typeface="+mn-lt"/>
                <a:cs typeface="+mn-lt"/>
              </a:rPr>
              <a:t> </a:t>
            </a:r>
            <a:r>
              <a:rPr lang="en-US" err="1">
                <a:ea typeface="+mn-lt"/>
                <a:cs typeface="+mn-lt"/>
              </a:rPr>
              <a:t>variés</a:t>
            </a:r>
            <a:r>
              <a:rPr lang="en-US">
                <a:ea typeface="+mn-lt"/>
                <a:cs typeface="+mn-lt"/>
              </a:rPr>
              <a:t>.</a:t>
            </a:r>
            <a:endParaRPr lang="en-US"/>
          </a:p>
          <a:p>
            <a:pPr marL="285750" indent="-285750">
              <a:buFont typeface="Arial"/>
              <a:buChar char="•"/>
            </a:pPr>
            <a:r>
              <a:rPr lang="en-US">
                <a:ea typeface="+mn-lt"/>
                <a:cs typeface="+mn-lt"/>
              </a:rPr>
              <a:t>Les </a:t>
            </a:r>
            <a:r>
              <a:rPr lang="en-US" b="1">
                <a:ea typeface="+mn-lt"/>
                <a:cs typeface="+mn-lt"/>
              </a:rPr>
              <a:t>CMS headless</a:t>
            </a:r>
            <a:r>
              <a:rPr lang="en-US">
                <a:ea typeface="+mn-lt"/>
                <a:cs typeface="+mn-lt"/>
              </a:rPr>
              <a:t> </a:t>
            </a:r>
            <a:r>
              <a:rPr lang="en-US" err="1">
                <a:ea typeface="+mn-lt"/>
                <a:cs typeface="+mn-lt"/>
              </a:rPr>
              <a:t>ouvrent</a:t>
            </a:r>
            <a:r>
              <a:rPr lang="en-US">
                <a:ea typeface="+mn-lt"/>
                <a:cs typeface="+mn-lt"/>
              </a:rPr>
              <a:t> la </a:t>
            </a:r>
            <a:r>
              <a:rPr lang="en-US" err="1">
                <a:ea typeface="+mn-lt"/>
                <a:cs typeface="+mn-lt"/>
              </a:rPr>
              <a:t>voie</a:t>
            </a:r>
            <a:r>
              <a:rPr lang="en-US">
                <a:ea typeface="+mn-lt"/>
                <a:cs typeface="+mn-lt"/>
              </a:rPr>
              <a:t> à des architectures </a:t>
            </a:r>
            <a:r>
              <a:rPr lang="en-US" err="1">
                <a:ea typeface="+mn-lt"/>
                <a:cs typeface="+mn-lt"/>
              </a:rPr>
              <a:t>modernes</a:t>
            </a:r>
            <a:r>
              <a:rPr lang="en-US">
                <a:ea typeface="+mn-lt"/>
                <a:cs typeface="+mn-lt"/>
              </a:rPr>
              <a:t> et </a:t>
            </a:r>
            <a:r>
              <a:rPr lang="en-US" err="1">
                <a:ea typeface="+mn-lt"/>
                <a:cs typeface="+mn-lt"/>
              </a:rPr>
              <a:t>modulaires</a:t>
            </a:r>
            <a:r>
              <a:rPr lang="en-US">
                <a:ea typeface="+mn-lt"/>
                <a:cs typeface="+mn-lt"/>
              </a:rPr>
              <a:t>.</a:t>
            </a:r>
            <a:endParaRPr lang="en-US"/>
          </a:p>
          <a:p>
            <a:pPr marL="285750" indent="-285750">
              <a:buFont typeface="Arial"/>
              <a:buChar char="•"/>
            </a:pPr>
            <a:r>
              <a:rPr lang="en-US">
                <a:ea typeface="+mn-lt"/>
                <a:cs typeface="+mn-lt"/>
              </a:rPr>
              <a:t>Les </a:t>
            </a:r>
            <a:r>
              <a:rPr lang="en-US" b="1">
                <a:ea typeface="+mn-lt"/>
                <a:cs typeface="+mn-lt"/>
              </a:rPr>
              <a:t>tendances futures</a:t>
            </a:r>
            <a:r>
              <a:rPr lang="en-US">
                <a:ea typeface="+mn-lt"/>
                <a:cs typeface="+mn-lt"/>
              </a:rPr>
              <a:t> </a:t>
            </a:r>
            <a:r>
              <a:rPr lang="en-US" err="1">
                <a:ea typeface="+mn-lt"/>
                <a:cs typeface="+mn-lt"/>
              </a:rPr>
              <a:t>intègrent</a:t>
            </a:r>
            <a:r>
              <a:rPr lang="en-US">
                <a:ea typeface="+mn-lt"/>
                <a:cs typeface="+mn-lt"/>
              </a:rPr>
              <a:t> </a:t>
            </a:r>
            <a:r>
              <a:rPr lang="en-US" err="1">
                <a:ea typeface="+mn-lt"/>
                <a:cs typeface="+mn-lt"/>
              </a:rPr>
              <a:t>l’IA</a:t>
            </a:r>
            <a:r>
              <a:rPr lang="en-US">
                <a:ea typeface="+mn-lt"/>
                <a:cs typeface="+mn-lt"/>
              </a:rPr>
              <a:t> (SEO </a:t>
            </a:r>
            <a:r>
              <a:rPr lang="en-US" err="1">
                <a:ea typeface="+mn-lt"/>
                <a:cs typeface="+mn-lt"/>
              </a:rPr>
              <a:t>automatisé</a:t>
            </a:r>
            <a:r>
              <a:rPr lang="en-US">
                <a:ea typeface="+mn-lt"/>
                <a:cs typeface="+mn-lt"/>
              </a:rPr>
              <a:t>, chatbots, </a:t>
            </a:r>
            <a:r>
              <a:rPr lang="en-US" err="1">
                <a:ea typeface="+mn-lt"/>
                <a:cs typeface="+mn-lt"/>
              </a:rPr>
              <a:t>personnalisation</a:t>
            </a:r>
            <a:r>
              <a:rPr lang="en-US">
                <a:ea typeface="+mn-lt"/>
                <a:cs typeface="+mn-lt"/>
              </a:rPr>
              <a:t>).</a:t>
            </a:r>
            <a:endParaRPr lang="en-US"/>
          </a:p>
          <a:p>
            <a:pPr algn="l"/>
            <a:endParaRPr lang="en-US">
              <a:ea typeface="Calibri"/>
              <a:cs typeface="Calibri"/>
            </a:endParaRPr>
          </a:p>
        </p:txBody>
      </p:sp>
      <p:sp>
        <p:nvSpPr>
          <p:cNvPr id="29" name="Shape 0">
            <a:extLst>
              <a:ext uri="{FF2B5EF4-FFF2-40B4-BE49-F238E27FC236}">
                <a16:creationId xmlns:a16="http://schemas.microsoft.com/office/drawing/2014/main" id="{3DF6E496-893F-4C72-5133-B96106888712}"/>
              </a:ext>
            </a:extLst>
          </p:cNvPr>
          <p:cNvSpPr/>
          <p:nvPr/>
        </p:nvSpPr>
        <p:spPr>
          <a:xfrm>
            <a:off x="1" y="3305906"/>
            <a:ext cx="9138505" cy="924842"/>
          </a:xfrm>
          <a:prstGeom prst="rect">
            <a:avLst/>
          </a:prstGeom>
          <a:solidFill>
            <a:schemeClr val="accent1">
              <a:lumMod val="60000"/>
              <a:lumOff val="40000"/>
            </a:schemeClr>
          </a:solidFill>
          <a:ln w="12700">
            <a:solidFill>
              <a:srgbClr val="1F4E79"/>
            </a:solidFill>
            <a:prstDash val="solid"/>
          </a:ln>
        </p:spPr>
      </p:sp>
      <p:sp>
        <p:nvSpPr>
          <p:cNvPr id="31" name="TextBox 30">
            <a:extLst>
              <a:ext uri="{FF2B5EF4-FFF2-40B4-BE49-F238E27FC236}">
                <a16:creationId xmlns:a16="http://schemas.microsoft.com/office/drawing/2014/main" id="{2EAFFB46-7A3C-CC3A-7CE6-26FAFA750DBB}"/>
              </a:ext>
            </a:extLst>
          </p:cNvPr>
          <p:cNvSpPr txBox="1"/>
          <p:nvPr/>
        </p:nvSpPr>
        <p:spPr>
          <a:xfrm>
            <a:off x="355011" y="3455620"/>
            <a:ext cx="84344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Les CMS ne </a:t>
            </a:r>
            <a:r>
              <a:rPr lang="en-US" b="1" err="1">
                <a:ea typeface="+mn-lt"/>
                <a:cs typeface="+mn-lt"/>
              </a:rPr>
              <a:t>sont</a:t>
            </a:r>
            <a:r>
              <a:rPr lang="en-US" b="1">
                <a:ea typeface="+mn-lt"/>
                <a:cs typeface="+mn-lt"/>
              </a:rPr>
              <a:t> plus </a:t>
            </a:r>
            <a:r>
              <a:rPr lang="en-US" b="1" err="1">
                <a:ea typeface="+mn-lt"/>
                <a:cs typeface="+mn-lt"/>
              </a:rPr>
              <a:t>seulement</a:t>
            </a:r>
            <a:r>
              <a:rPr lang="en-US" b="1">
                <a:ea typeface="+mn-lt"/>
                <a:cs typeface="+mn-lt"/>
              </a:rPr>
              <a:t> des </a:t>
            </a:r>
            <a:r>
              <a:rPr lang="en-US" b="1" err="1">
                <a:ea typeface="+mn-lt"/>
                <a:cs typeface="+mn-lt"/>
              </a:rPr>
              <a:t>outils</a:t>
            </a:r>
            <a:r>
              <a:rPr lang="en-US" b="1">
                <a:ea typeface="+mn-lt"/>
                <a:cs typeface="+mn-lt"/>
              </a:rPr>
              <a:t> techniques, </a:t>
            </a:r>
            <a:r>
              <a:rPr lang="en-US" b="1" err="1">
                <a:ea typeface="+mn-lt"/>
                <a:cs typeface="+mn-lt"/>
              </a:rPr>
              <a:t>mais</a:t>
            </a:r>
            <a:r>
              <a:rPr lang="en-US" b="1">
                <a:ea typeface="+mn-lt"/>
                <a:cs typeface="+mn-lt"/>
              </a:rPr>
              <a:t> des leviers </a:t>
            </a:r>
            <a:r>
              <a:rPr lang="en-US" b="1" err="1">
                <a:ea typeface="+mn-lt"/>
                <a:cs typeface="+mn-lt"/>
              </a:rPr>
              <a:t>stratégiques</a:t>
            </a:r>
            <a:r>
              <a:rPr lang="en-US" b="1">
                <a:ea typeface="+mn-lt"/>
                <a:cs typeface="+mn-lt"/>
              </a:rPr>
              <a:t> </a:t>
            </a:r>
            <a:r>
              <a:rPr lang="en-US" b="1" err="1">
                <a:ea typeface="+mn-lt"/>
                <a:cs typeface="+mn-lt"/>
              </a:rPr>
              <a:t>d’innovation</a:t>
            </a:r>
            <a:r>
              <a:rPr lang="en-US" b="1">
                <a:ea typeface="+mn-lt"/>
                <a:cs typeface="+mn-lt"/>
              </a:rPr>
              <a:t> numérique.</a:t>
            </a:r>
            <a:endParaRPr lang="en-US"/>
          </a:p>
          <a:p>
            <a:pPr algn="l"/>
            <a:endParaRPr lang="en-US">
              <a:ea typeface="Calibri"/>
              <a:cs typeface="Calibri"/>
            </a:endParaRPr>
          </a:p>
        </p:txBody>
      </p:sp>
      <p:sp>
        <p:nvSpPr>
          <p:cNvPr id="4" name="Rectangle 3">
            <a:extLst>
              <a:ext uri="{FF2B5EF4-FFF2-40B4-BE49-F238E27FC236}">
                <a16:creationId xmlns:a16="http://schemas.microsoft.com/office/drawing/2014/main" id="{434D9AB4-BAB5-89E2-8680-89B6CDFF628A}"/>
              </a:ext>
            </a:extLst>
          </p:cNvPr>
          <p:cNvSpPr/>
          <p:nvPr/>
        </p:nvSpPr>
        <p:spPr>
          <a:xfrm>
            <a:off x="8646841" y="151395"/>
            <a:ext cx="422689" cy="403316"/>
          </a:xfrm>
          <a:prstGeom prst="rect">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id-ID" sz="1013"/>
          </a:p>
        </p:txBody>
      </p:sp>
      <p:sp>
        <p:nvSpPr>
          <p:cNvPr id="6" name="ZoneTexte 5">
            <a:extLst>
              <a:ext uri="{FF2B5EF4-FFF2-40B4-BE49-F238E27FC236}">
                <a16:creationId xmlns:a16="http://schemas.microsoft.com/office/drawing/2014/main" id="{EB014796-839D-771A-FB11-66568E315EED}"/>
              </a:ext>
            </a:extLst>
          </p:cNvPr>
          <p:cNvSpPr txBox="1"/>
          <p:nvPr/>
        </p:nvSpPr>
        <p:spPr>
          <a:xfrm>
            <a:off x="8669826" y="231321"/>
            <a:ext cx="4077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b="1">
                <a:solidFill>
                  <a:schemeClr val="bg1"/>
                </a:solidFill>
                <a:ea typeface="Calibri"/>
                <a:cs typeface="Calibri"/>
              </a:rPr>
              <a:t>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(16:9)</PresentationFormat>
  <Slides>26</Slides>
  <Notes>5</Notes>
  <HiddenSlides>0</HiddenSlide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WordPress CMS — Présentation</dc:title>
  <dc:subject>PptxGenJS Presentation</dc:subject>
  <dc:creator>ENSA Al Hoceima</dc:creator>
  <cp:revision>221</cp:revision>
  <dcterms:created xsi:type="dcterms:W3CDTF">2026-04-13T02:24:54Z</dcterms:created>
  <dcterms:modified xsi:type="dcterms:W3CDTF">2026-05-02T21:32:18Z</dcterms:modified>
</cp:coreProperties>
</file>